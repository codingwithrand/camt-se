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210 클레이토이" charset="1" panose="02020603020101020101"/>
      <p:regular r:id="rId38"/>
    </p:embeddedFont>
    <p:embeddedFont>
      <p:font typeface="Quicksand Bold" charset="1" panose="00000000000000000000"/>
      <p:regular r:id="rId39"/>
    </p:embeddedFont>
    <p:embeddedFont>
      <p:font typeface="Quicksand Medium" charset="1" panose="00000000000000000000"/>
      <p:regular r:id="rId40"/>
    </p:embeddedFont>
    <p:embeddedFont>
      <p:font typeface="Quicksand" charset="1" panose="000000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30.png" Type="http://schemas.openxmlformats.org/officeDocument/2006/relationships/image"/><Relationship Id="rId15" Target="../embeddings/oleObject1.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31.png" Type="http://schemas.openxmlformats.org/officeDocument/2006/relationships/image"/><Relationship Id="rId15" Target="../embeddings/oleObject2.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32.png" Type="http://schemas.openxmlformats.org/officeDocument/2006/relationships/image"/><Relationship Id="rId15" Target="../embeddings/oleObject3.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33.png" Type="http://schemas.openxmlformats.org/officeDocument/2006/relationships/image"/><Relationship Id="rId15" Target="../embeddings/oleObject4.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3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7.pn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41.pn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39.png" Type="http://schemas.openxmlformats.org/officeDocument/2006/relationships/image"/><Relationship Id="rId12" Target="../media/image40.svg" Type="http://schemas.openxmlformats.org/officeDocument/2006/relationships/image"/><Relationship Id="rId13" Target="../media/image4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50.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11.png" Type="http://schemas.openxmlformats.org/officeDocument/2006/relationships/image"/><Relationship Id="rId17" Target="../media/image12.svg" Type="http://schemas.openxmlformats.org/officeDocument/2006/relationships/image"/><Relationship Id="rId18" Target="../media/image53.png" Type="http://schemas.openxmlformats.org/officeDocument/2006/relationships/image"/><Relationship Id="rId19" Target="../media/image54.png" Type="http://schemas.openxmlformats.org/officeDocument/2006/relationships/image"/><Relationship Id="rId2" Target="../media/image18.png" Type="http://schemas.openxmlformats.org/officeDocument/2006/relationships/image"/><Relationship Id="rId20" Target="../media/image55.svg" Type="http://schemas.openxmlformats.org/officeDocument/2006/relationships/image"/><Relationship Id="rId21" Target="../media/image56.png" Type="http://schemas.openxmlformats.org/officeDocument/2006/relationships/image"/><Relationship Id="rId22" Target="../media/image57.svg" Type="http://schemas.openxmlformats.org/officeDocument/2006/relationships/image"/><Relationship Id="rId23" Target="../media/image58.png" Type="http://schemas.openxmlformats.org/officeDocument/2006/relationships/image"/><Relationship Id="rId24" Target="../media/image59.png" Type="http://schemas.openxmlformats.org/officeDocument/2006/relationships/image"/><Relationship Id="rId25" Target="../media/image60.png" Type="http://schemas.openxmlformats.org/officeDocument/2006/relationships/image"/><Relationship Id="rId26" Target="../media/image61.png" Type="http://schemas.openxmlformats.org/officeDocument/2006/relationships/image"/><Relationship Id="rId27" Target="../media/image62.svg" Type="http://schemas.openxmlformats.org/officeDocument/2006/relationships/image"/><Relationship Id="rId28" Target="../media/image63.png" Type="http://schemas.openxmlformats.org/officeDocument/2006/relationships/image"/><Relationship Id="rId29" Target="../media/image64.svg" Type="http://schemas.openxmlformats.org/officeDocument/2006/relationships/image"/><Relationship Id="rId3" Target="../media/image19.sv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65.png" Type="http://schemas.openxmlformats.org/officeDocument/2006/relationships/image"/><Relationship Id="rId15" Target="../media/image66.svg" Type="http://schemas.openxmlformats.org/officeDocument/2006/relationships/image"/><Relationship Id="rId16" Target="../media/image7.png" Type="http://schemas.openxmlformats.org/officeDocument/2006/relationships/image"/><Relationship Id="rId17" Target="../media/image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https://whongnaimor.vercel.app"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67.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6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6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70.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71.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1357003" y="2283626"/>
            <a:ext cx="15573993" cy="1847088"/>
          </a:xfrm>
          <a:prstGeom prst="rect">
            <a:avLst/>
          </a:prstGeom>
        </p:spPr>
        <p:txBody>
          <a:bodyPr anchor="t" rtlCol="false" tIns="0" lIns="0" bIns="0" rIns="0">
            <a:spAutoFit/>
          </a:bodyPr>
          <a:lstStyle/>
          <a:p>
            <a:pPr algn="ctr">
              <a:lnSpc>
                <a:spcPts val="13535"/>
              </a:lnSpc>
            </a:pPr>
            <a:r>
              <a:rPr lang="en-US" sz="14400" spc="-719">
                <a:solidFill>
                  <a:srgbClr val="FFFFFF"/>
                </a:solidFill>
                <a:latin typeface="210 클레이토이"/>
                <a:ea typeface="210 클레이토이"/>
                <a:cs typeface="210 클레이토이"/>
                <a:sym typeface="210 클레이토이"/>
              </a:rPr>
              <a:t>WHONGNAIMOR</a:t>
            </a:r>
          </a:p>
        </p:txBody>
      </p:sp>
      <p:sp>
        <p:nvSpPr>
          <p:cNvPr name="Freeform 12" id="12"/>
          <p:cNvSpPr/>
          <p:nvPr/>
        </p:nvSpPr>
        <p:spPr>
          <a:xfrm flipH="false" flipV="false" rot="0">
            <a:off x="4702205" y="7232442"/>
            <a:ext cx="8775832" cy="957363"/>
          </a:xfrm>
          <a:custGeom>
            <a:avLst/>
            <a:gdLst/>
            <a:ahLst/>
            <a:cxnLst/>
            <a:rect r="r" b="b" t="t" l="l"/>
            <a:pathLst>
              <a:path h="957363" w="8775832">
                <a:moveTo>
                  <a:pt x="0" y="0"/>
                </a:moveTo>
                <a:lnTo>
                  <a:pt x="8775831" y="0"/>
                </a:lnTo>
                <a:lnTo>
                  <a:pt x="8775831" y="957364"/>
                </a:lnTo>
                <a:lnTo>
                  <a:pt x="0" y="9573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7" id="17"/>
          <p:cNvGrpSpPr/>
          <p:nvPr/>
        </p:nvGrpSpPr>
        <p:grpSpPr>
          <a:xfrm rot="0">
            <a:off x="5592936" y="7369576"/>
            <a:ext cx="6990572" cy="717421"/>
            <a:chOff x="0" y="0"/>
            <a:chExt cx="1841138" cy="188950"/>
          </a:xfrm>
        </p:grpSpPr>
        <p:sp>
          <p:nvSpPr>
            <p:cNvPr name="Freeform 18" id="18"/>
            <p:cNvSpPr/>
            <p:nvPr/>
          </p:nvSpPr>
          <p:spPr>
            <a:xfrm flipH="false" flipV="false" rot="0">
              <a:off x="0" y="0"/>
              <a:ext cx="1841138" cy="188950"/>
            </a:xfrm>
            <a:custGeom>
              <a:avLst/>
              <a:gdLst/>
              <a:ahLst/>
              <a:cxnLst/>
              <a:rect r="r" b="b" t="t" l="l"/>
              <a:pathLst>
                <a:path h="188950" w="1841138">
                  <a:moveTo>
                    <a:pt x="56481" y="0"/>
                  </a:moveTo>
                  <a:lnTo>
                    <a:pt x="1784657" y="0"/>
                  </a:lnTo>
                  <a:cubicBezTo>
                    <a:pt x="1799637" y="0"/>
                    <a:pt x="1814003" y="5951"/>
                    <a:pt x="1824595" y="16543"/>
                  </a:cubicBezTo>
                  <a:cubicBezTo>
                    <a:pt x="1835188" y="27135"/>
                    <a:pt x="1841138" y="41502"/>
                    <a:pt x="1841138" y="56481"/>
                  </a:cubicBezTo>
                  <a:lnTo>
                    <a:pt x="1841138" y="132469"/>
                  </a:lnTo>
                  <a:cubicBezTo>
                    <a:pt x="1841138" y="163663"/>
                    <a:pt x="1815851" y="188950"/>
                    <a:pt x="1784657" y="188950"/>
                  </a:cubicBezTo>
                  <a:lnTo>
                    <a:pt x="56481" y="188950"/>
                  </a:lnTo>
                  <a:cubicBezTo>
                    <a:pt x="41502" y="188950"/>
                    <a:pt x="27135" y="183000"/>
                    <a:pt x="16543" y="172407"/>
                  </a:cubicBezTo>
                  <a:cubicBezTo>
                    <a:pt x="5951" y="161815"/>
                    <a:pt x="0" y="147449"/>
                    <a:pt x="0" y="132469"/>
                  </a:cubicBezTo>
                  <a:lnTo>
                    <a:pt x="0" y="56481"/>
                  </a:lnTo>
                  <a:cubicBezTo>
                    <a:pt x="0" y="41502"/>
                    <a:pt x="5951" y="27135"/>
                    <a:pt x="16543" y="16543"/>
                  </a:cubicBezTo>
                  <a:cubicBezTo>
                    <a:pt x="27135" y="5951"/>
                    <a:pt x="41502" y="0"/>
                    <a:pt x="56481" y="0"/>
                  </a:cubicBezTo>
                  <a:close/>
                </a:path>
              </a:pathLst>
            </a:custGeom>
            <a:solidFill>
              <a:srgbClr val="9F83CF"/>
            </a:solidFill>
          </p:spPr>
        </p:sp>
        <p:sp>
          <p:nvSpPr>
            <p:cNvPr name="TextBox 19" id="19"/>
            <p:cNvSpPr txBox="true"/>
            <p:nvPr/>
          </p:nvSpPr>
          <p:spPr>
            <a:xfrm>
              <a:off x="0" y="-38100"/>
              <a:ext cx="1841138" cy="227050"/>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1" id="21"/>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false" flipV="false" rot="0">
            <a:off x="5915490" y="3917599"/>
            <a:ext cx="6457020" cy="3276938"/>
          </a:xfrm>
          <a:custGeom>
            <a:avLst/>
            <a:gdLst/>
            <a:ahLst/>
            <a:cxnLst/>
            <a:rect r="r" b="b" t="t" l="l"/>
            <a:pathLst>
              <a:path h="3276938" w="6457020">
                <a:moveTo>
                  <a:pt x="0" y="0"/>
                </a:moveTo>
                <a:lnTo>
                  <a:pt x="6457020" y="0"/>
                </a:lnTo>
                <a:lnTo>
                  <a:pt x="6457020" y="3276938"/>
                </a:lnTo>
                <a:lnTo>
                  <a:pt x="0" y="3276938"/>
                </a:lnTo>
                <a:lnTo>
                  <a:pt x="0" y="0"/>
                </a:lnTo>
                <a:close/>
              </a:path>
            </a:pathLst>
          </a:custGeom>
          <a:blipFill>
            <a:blip r:embed="rId18"/>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1357003" y="4391406"/>
            <a:ext cx="15573993" cy="1847088"/>
          </a:xfrm>
          <a:prstGeom prst="rect">
            <a:avLst/>
          </a:prstGeom>
        </p:spPr>
        <p:txBody>
          <a:bodyPr anchor="t" rtlCol="false" tIns="0" lIns="0" bIns="0" rIns="0">
            <a:spAutoFit/>
          </a:bodyPr>
          <a:lstStyle/>
          <a:p>
            <a:pPr algn="ctr">
              <a:lnSpc>
                <a:spcPts val="13535"/>
              </a:lnSpc>
            </a:pPr>
            <a:r>
              <a:rPr lang="en-US" sz="14400" spc="-719">
                <a:solidFill>
                  <a:srgbClr val="FFFFFF"/>
                </a:solidFill>
                <a:latin typeface="210 클레이토이"/>
                <a:ea typeface="210 클레이토이"/>
                <a:cs typeface="210 클레이토이"/>
                <a:sym typeface="210 클레이토이"/>
              </a:rPr>
              <a:t>INTRODUCTION</a:t>
            </a:r>
          </a:p>
        </p:txBody>
      </p:sp>
      <p:sp>
        <p:nvSpPr>
          <p:cNvPr name="Freeform 12" id="12"/>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3896124" y="435785"/>
            <a:ext cx="10495752" cy="2473324"/>
          </a:xfrm>
          <a:prstGeom prst="rect">
            <a:avLst/>
          </a:prstGeom>
        </p:spPr>
        <p:txBody>
          <a:bodyPr anchor="t" rtlCol="false" tIns="0" lIns="0" bIns="0" rIns="0">
            <a:spAutoFit/>
          </a:bodyPr>
          <a:lstStyle/>
          <a:p>
            <a:pPr algn="ctr">
              <a:lnSpc>
                <a:spcPts val="9399"/>
              </a:lnSpc>
            </a:pPr>
            <a:r>
              <a:rPr lang="en-US" sz="9999" spc="-499">
                <a:solidFill>
                  <a:srgbClr val="FFFFFF"/>
                </a:solidFill>
                <a:latin typeface="210 클레이토이"/>
                <a:ea typeface="210 클레이토이"/>
                <a:cs typeface="210 클레이토이"/>
                <a:sym typeface="210 클레이토이"/>
              </a:rPr>
              <a:t>BUSINESS BACKGROUND</a:t>
            </a:r>
          </a:p>
        </p:txBody>
      </p:sp>
      <p:sp>
        <p:nvSpPr>
          <p:cNvPr name="Freeform 12" id="12"/>
          <p:cNvSpPr/>
          <p:nvPr/>
        </p:nvSpPr>
        <p:spPr>
          <a:xfrm flipH="false" flipV="false" rot="0">
            <a:off x="15656683" y="-3461388"/>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631297">
            <a:off x="15810702" y="794357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977479" y="-641700"/>
            <a:ext cx="4149033" cy="3779392"/>
          </a:xfrm>
          <a:custGeom>
            <a:avLst/>
            <a:gdLst/>
            <a:ahLst/>
            <a:cxnLst/>
            <a:rect r="r" b="b" t="t" l="l"/>
            <a:pathLst>
              <a:path h="3779392" w="4149033">
                <a:moveTo>
                  <a:pt x="0" y="0"/>
                </a:moveTo>
                <a:lnTo>
                  <a:pt x="4149033" y="0"/>
                </a:lnTo>
                <a:lnTo>
                  <a:pt x="4149033" y="3779392"/>
                </a:lnTo>
                <a:lnTo>
                  <a:pt x="0" y="37793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8" id="18"/>
          <p:cNvGrpSpPr/>
          <p:nvPr/>
        </p:nvGrpSpPr>
        <p:grpSpPr>
          <a:xfrm rot="0">
            <a:off x="1605145" y="2813182"/>
            <a:ext cx="15077710" cy="8396838"/>
            <a:chOff x="0" y="0"/>
            <a:chExt cx="3529450" cy="1965565"/>
          </a:xfrm>
        </p:grpSpPr>
        <p:sp>
          <p:nvSpPr>
            <p:cNvPr name="Freeform 19" id="19"/>
            <p:cNvSpPr/>
            <p:nvPr/>
          </p:nvSpPr>
          <p:spPr>
            <a:xfrm flipH="false" flipV="false" rot="0">
              <a:off x="0" y="0"/>
              <a:ext cx="3529450" cy="1965565"/>
            </a:xfrm>
            <a:custGeom>
              <a:avLst/>
              <a:gdLst/>
              <a:ahLst/>
              <a:cxnLst/>
              <a:rect r="r" b="b" t="t" l="l"/>
              <a:pathLst>
                <a:path h="1965565" w="3529450">
                  <a:moveTo>
                    <a:pt x="16431" y="0"/>
                  </a:moveTo>
                  <a:lnTo>
                    <a:pt x="3513020" y="0"/>
                  </a:lnTo>
                  <a:cubicBezTo>
                    <a:pt x="3522094" y="0"/>
                    <a:pt x="3529450" y="7356"/>
                    <a:pt x="3529450" y="16431"/>
                  </a:cubicBezTo>
                  <a:lnTo>
                    <a:pt x="3529450" y="1949135"/>
                  </a:lnTo>
                  <a:cubicBezTo>
                    <a:pt x="3529450" y="1958209"/>
                    <a:pt x="3522094" y="1965565"/>
                    <a:pt x="3513020" y="1965565"/>
                  </a:cubicBezTo>
                  <a:lnTo>
                    <a:pt x="16431" y="1965565"/>
                  </a:lnTo>
                  <a:cubicBezTo>
                    <a:pt x="7356" y="1965565"/>
                    <a:pt x="0" y="1958209"/>
                    <a:pt x="0" y="1949135"/>
                  </a:cubicBezTo>
                  <a:lnTo>
                    <a:pt x="0" y="16431"/>
                  </a:lnTo>
                  <a:cubicBezTo>
                    <a:pt x="0" y="7356"/>
                    <a:pt x="7356" y="0"/>
                    <a:pt x="16431" y="0"/>
                  </a:cubicBezTo>
                  <a:close/>
                </a:path>
              </a:pathLst>
            </a:custGeom>
            <a:solidFill>
              <a:srgbClr val="9EB6B6"/>
            </a:solidFill>
          </p:spPr>
        </p:sp>
        <p:sp>
          <p:nvSpPr>
            <p:cNvPr name="TextBox 20" id="20"/>
            <p:cNvSpPr txBox="true"/>
            <p:nvPr/>
          </p:nvSpPr>
          <p:spPr>
            <a:xfrm>
              <a:off x="0" y="-38100"/>
              <a:ext cx="3529450" cy="2003665"/>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2" id="22"/>
          <p:cNvGrpSpPr/>
          <p:nvPr/>
        </p:nvGrpSpPr>
        <p:grpSpPr>
          <a:xfrm rot="0">
            <a:off x="1826492" y="3054284"/>
            <a:ext cx="14610891" cy="9902538"/>
            <a:chOff x="0" y="0"/>
            <a:chExt cx="3420176" cy="2318026"/>
          </a:xfrm>
        </p:grpSpPr>
        <p:sp>
          <p:nvSpPr>
            <p:cNvPr name="Freeform 23" id="23"/>
            <p:cNvSpPr/>
            <p:nvPr/>
          </p:nvSpPr>
          <p:spPr>
            <a:xfrm flipH="false" flipV="false" rot="0">
              <a:off x="0" y="0"/>
              <a:ext cx="3420176" cy="2318026"/>
            </a:xfrm>
            <a:custGeom>
              <a:avLst/>
              <a:gdLst/>
              <a:ahLst/>
              <a:cxnLst/>
              <a:rect r="r" b="b" t="t" l="l"/>
              <a:pathLst>
                <a:path h="2318026" w="3420176">
                  <a:moveTo>
                    <a:pt x="16956" y="0"/>
                  </a:moveTo>
                  <a:lnTo>
                    <a:pt x="3403220" y="0"/>
                  </a:lnTo>
                  <a:cubicBezTo>
                    <a:pt x="3412584" y="0"/>
                    <a:pt x="3420176" y="7591"/>
                    <a:pt x="3420176" y="16956"/>
                  </a:cubicBezTo>
                  <a:lnTo>
                    <a:pt x="3420176" y="2301070"/>
                  </a:lnTo>
                  <a:cubicBezTo>
                    <a:pt x="3420176" y="2305567"/>
                    <a:pt x="3418389" y="2309880"/>
                    <a:pt x="3415209" y="2313059"/>
                  </a:cubicBezTo>
                  <a:cubicBezTo>
                    <a:pt x="3412030" y="2316239"/>
                    <a:pt x="3407717" y="2318026"/>
                    <a:pt x="3403220" y="2318026"/>
                  </a:cubicBezTo>
                  <a:lnTo>
                    <a:pt x="16956" y="2318026"/>
                  </a:lnTo>
                  <a:cubicBezTo>
                    <a:pt x="7591" y="2318026"/>
                    <a:pt x="0" y="2310434"/>
                    <a:pt x="0" y="2301070"/>
                  </a:cubicBezTo>
                  <a:lnTo>
                    <a:pt x="0" y="16956"/>
                  </a:lnTo>
                  <a:cubicBezTo>
                    <a:pt x="0" y="7591"/>
                    <a:pt x="7591" y="0"/>
                    <a:pt x="16956" y="0"/>
                  </a:cubicBezTo>
                  <a:close/>
                </a:path>
              </a:pathLst>
            </a:custGeom>
            <a:solidFill>
              <a:srgbClr val="FFFFFF"/>
            </a:solidFill>
            <a:ln w="47625" cap="rnd">
              <a:solidFill>
                <a:srgbClr val="998178"/>
              </a:solidFill>
              <a:prstDash val="solid"/>
              <a:round/>
            </a:ln>
          </p:spPr>
        </p:sp>
        <p:sp>
          <p:nvSpPr>
            <p:cNvPr name="TextBox 24" id="24"/>
            <p:cNvSpPr txBox="true"/>
            <p:nvPr/>
          </p:nvSpPr>
          <p:spPr>
            <a:xfrm>
              <a:off x="0" y="-38100"/>
              <a:ext cx="3420176" cy="2356126"/>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233772" y="3782054"/>
            <a:ext cx="11820455" cy="5497576"/>
          </a:xfrm>
          <a:prstGeom prst="rect">
            <a:avLst/>
          </a:prstGeom>
        </p:spPr>
        <p:txBody>
          <a:bodyPr anchor="t" rtlCol="false" tIns="0" lIns="0" bIns="0" rIns="0">
            <a:spAutoFit/>
          </a:bodyPr>
          <a:lstStyle/>
          <a:p>
            <a:pPr algn="l" marL="0" indent="0" lvl="0">
              <a:lnSpc>
                <a:spcPts val="4352"/>
              </a:lnSpc>
            </a:pPr>
            <a:r>
              <a:rPr lang="en-US" b="true" sz="3200" spc="28">
                <a:solidFill>
                  <a:srgbClr val="000001"/>
                </a:solidFill>
                <a:latin typeface="Quicksand Bold"/>
                <a:ea typeface="Quicksand Bold"/>
                <a:cs typeface="Quicksand Bold"/>
                <a:sym typeface="Quicksand Bold"/>
              </a:rPr>
              <a:t>Wh</a:t>
            </a:r>
            <a:r>
              <a:rPr lang="en-US" b="true" sz="3200" spc="28" strike="noStrike" u="none">
                <a:solidFill>
                  <a:srgbClr val="000001"/>
                </a:solidFill>
                <a:latin typeface="Quicksand Bold"/>
                <a:ea typeface="Quicksand Bold"/>
                <a:cs typeface="Quicksand Bold"/>
                <a:sym typeface="Quicksand Bold"/>
              </a:rPr>
              <a:t>ongNaiM</a:t>
            </a:r>
            <a:r>
              <a:rPr lang="en-US" b="true" sz="3200" spc="28" strike="noStrike" u="none">
                <a:solidFill>
                  <a:srgbClr val="000001"/>
                </a:solidFill>
                <a:latin typeface="Quicksand Bold"/>
                <a:ea typeface="Quicksand Bold"/>
                <a:cs typeface="Quicksand Bold"/>
                <a:sym typeface="Quicksand Bold"/>
              </a:rPr>
              <a:t>or</a:t>
            </a:r>
            <a:r>
              <a:rPr lang="en-US" b="true" sz="3200" spc="28" strike="noStrike" u="none">
                <a:solidFill>
                  <a:srgbClr val="000001"/>
                </a:solidFill>
                <a:latin typeface="Quicksand Bold"/>
                <a:ea typeface="Quicksand Bold"/>
                <a:cs typeface="Quicksand Bold"/>
                <a:sym typeface="Quicksand Bold"/>
              </a:rPr>
              <a:t> is a s</a:t>
            </a:r>
            <a:r>
              <a:rPr lang="en-US" b="true" sz="3200" spc="28" strike="noStrike" u="none">
                <a:solidFill>
                  <a:srgbClr val="000001"/>
                </a:solidFill>
                <a:latin typeface="Quicksand Bold"/>
                <a:ea typeface="Quicksand Bold"/>
                <a:cs typeface="Quicksand Bold"/>
                <a:sym typeface="Quicksand Bold"/>
              </a:rPr>
              <a:t>ocia</a:t>
            </a:r>
            <a:r>
              <a:rPr lang="en-US" b="true" sz="3200" spc="28" strike="noStrike" u="none">
                <a:solidFill>
                  <a:srgbClr val="000001"/>
                </a:solidFill>
                <a:latin typeface="Quicksand Bold"/>
                <a:ea typeface="Quicksand Bold"/>
                <a:cs typeface="Quicksand Bold"/>
                <a:sym typeface="Quicksand Bold"/>
              </a:rPr>
              <a:t>l</a:t>
            </a:r>
            <a:r>
              <a:rPr lang="en-US" b="true" sz="3200" spc="28" strike="noStrike" u="none">
                <a:solidFill>
                  <a:srgbClr val="000001"/>
                </a:solidFill>
                <a:latin typeface="Quicksand Bold"/>
                <a:ea typeface="Quicksand Bold"/>
                <a:cs typeface="Quicksand Bold"/>
                <a:sym typeface="Quicksand Bold"/>
              </a:rPr>
              <a:t> m</a:t>
            </a:r>
            <a:r>
              <a:rPr lang="en-US" b="true" sz="3200" spc="28" strike="noStrike" u="none">
                <a:solidFill>
                  <a:srgbClr val="000001"/>
                </a:solidFill>
                <a:latin typeface="Quicksand Bold"/>
                <a:ea typeface="Quicksand Bold"/>
                <a:cs typeface="Quicksand Bold"/>
                <a:sym typeface="Quicksand Bold"/>
              </a:rPr>
              <a:t>edia platfo</a:t>
            </a:r>
            <a:r>
              <a:rPr lang="en-US" b="true" sz="3200" spc="28" strike="noStrike" u="none">
                <a:solidFill>
                  <a:srgbClr val="000001"/>
                </a:solidFill>
                <a:latin typeface="Quicksand Bold"/>
                <a:ea typeface="Quicksand Bold"/>
                <a:cs typeface="Quicksand Bold"/>
                <a:sym typeface="Quicksand Bold"/>
              </a:rPr>
              <a:t>rm</a:t>
            </a:r>
            <a:r>
              <a:rPr lang="en-US" b="true" sz="3200" spc="28" strike="noStrike" u="none">
                <a:solidFill>
                  <a:srgbClr val="000001"/>
                </a:solidFill>
                <a:latin typeface="Quicksand Bold"/>
                <a:ea typeface="Quicksand Bold"/>
                <a:cs typeface="Quicksand Bold"/>
                <a:sym typeface="Quicksand Bold"/>
              </a:rPr>
              <a:t> for</a:t>
            </a:r>
            <a:r>
              <a:rPr lang="en-US" b="true" sz="3200" spc="28" strike="noStrike" u="none">
                <a:solidFill>
                  <a:srgbClr val="000001"/>
                </a:solidFill>
                <a:latin typeface="Quicksand Bold"/>
                <a:ea typeface="Quicksand Bold"/>
                <a:cs typeface="Quicksand Bold"/>
                <a:sym typeface="Quicksand Bold"/>
              </a:rPr>
              <a:t> C</a:t>
            </a:r>
            <a:r>
              <a:rPr lang="en-US" b="true" sz="3200" spc="28" strike="noStrike" u="none">
                <a:solidFill>
                  <a:srgbClr val="000001"/>
                </a:solidFill>
                <a:latin typeface="Quicksand Bold"/>
                <a:ea typeface="Quicksand Bold"/>
                <a:cs typeface="Quicksand Bold"/>
                <a:sym typeface="Quicksand Bold"/>
              </a:rPr>
              <a:t>hian</a:t>
            </a:r>
            <a:r>
              <a:rPr lang="en-US" b="true" sz="3200" spc="28" strike="noStrike" u="none">
                <a:solidFill>
                  <a:srgbClr val="000001"/>
                </a:solidFill>
                <a:latin typeface="Quicksand Bold"/>
                <a:ea typeface="Quicksand Bold"/>
                <a:cs typeface="Quicksand Bold"/>
                <a:sym typeface="Quicksand Bold"/>
              </a:rPr>
              <a:t>g</a:t>
            </a:r>
            <a:r>
              <a:rPr lang="en-US" b="true" sz="3200" spc="28" strike="noStrike" u="none">
                <a:solidFill>
                  <a:srgbClr val="000001"/>
                </a:solidFill>
                <a:latin typeface="Quicksand Bold"/>
                <a:ea typeface="Quicksand Bold"/>
                <a:cs typeface="Quicksand Bold"/>
                <a:sym typeface="Quicksand Bold"/>
              </a:rPr>
              <a:t> Mai Un</a:t>
            </a:r>
            <a:r>
              <a:rPr lang="en-US" b="true" sz="3200" spc="28" strike="noStrike" u="none">
                <a:solidFill>
                  <a:srgbClr val="000001"/>
                </a:solidFill>
                <a:latin typeface="Quicksand Bold"/>
                <a:ea typeface="Quicksand Bold"/>
                <a:cs typeface="Quicksand Bold"/>
                <a:sym typeface="Quicksand Bold"/>
              </a:rPr>
              <a:t>iv</a:t>
            </a:r>
            <a:r>
              <a:rPr lang="en-US" b="true" sz="3200" spc="28" strike="noStrike" u="none">
                <a:solidFill>
                  <a:srgbClr val="000001"/>
                </a:solidFill>
                <a:latin typeface="Quicksand Bold"/>
                <a:ea typeface="Quicksand Bold"/>
                <a:cs typeface="Quicksand Bold"/>
                <a:sym typeface="Quicksand Bold"/>
              </a:rPr>
              <a:t>ersit</a:t>
            </a:r>
            <a:r>
              <a:rPr lang="en-US" b="true" sz="3200" spc="28" strike="noStrike" u="none">
                <a:solidFill>
                  <a:srgbClr val="000001"/>
                </a:solidFill>
                <a:latin typeface="Quicksand Bold"/>
                <a:ea typeface="Quicksand Bold"/>
                <a:cs typeface="Quicksand Bold"/>
                <a:sym typeface="Quicksand Bold"/>
              </a:rPr>
              <a:t>y</a:t>
            </a:r>
            <a:r>
              <a:rPr lang="en-US" b="true" sz="3200" spc="28" strike="noStrike" u="none">
                <a:solidFill>
                  <a:srgbClr val="000001"/>
                </a:solidFill>
                <a:latin typeface="Quicksand Bold"/>
                <a:ea typeface="Quicksand Bold"/>
                <a:cs typeface="Quicksand Bold"/>
                <a:sym typeface="Quicksand Bold"/>
              </a:rPr>
              <a:t> students and pe</a:t>
            </a:r>
            <a:r>
              <a:rPr lang="en-US" b="true" sz="3200" spc="28" strike="noStrike" u="none">
                <a:solidFill>
                  <a:srgbClr val="000001"/>
                </a:solidFill>
                <a:latin typeface="Quicksand Bold"/>
                <a:ea typeface="Quicksand Bold"/>
                <a:cs typeface="Quicksand Bold"/>
                <a:sym typeface="Quicksand Bold"/>
              </a:rPr>
              <a:t>r</a:t>
            </a:r>
            <a:r>
              <a:rPr lang="en-US" b="true" sz="3200" spc="28" strike="noStrike" u="none">
                <a:solidFill>
                  <a:srgbClr val="000001"/>
                </a:solidFill>
                <a:latin typeface="Quicksand Bold"/>
                <a:ea typeface="Quicksand Bold"/>
                <a:cs typeface="Quicksand Bold"/>
                <a:sym typeface="Quicksand Bold"/>
              </a:rPr>
              <a:t>sonnel to share exper</a:t>
            </a:r>
            <a:r>
              <a:rPr lang="en-US" b="true" sz="3200" spc="28" strike="noStrike" u="none">
                <a:solidFill>
                  <a:srgbClr val="000001"/>
                </a:solidFill>
                <a:latin typeface="Quicksand Bold"/>
                <a:ea typeface="Quicksand Bold"/>
                <a:cs typeface="Quicksand Bold"/>
                <a:sym typeface="Quicksand Bold"/>
              </a:rPr>
              <a:t>i</a:t>
            </a:r>
            <a:r>
              <a:rPr lang="en-US" b="true" sz="3200" spc="28" strike="noStrike" u="none">
                <a:solidFill>
                  <a:srgbClr val="000001"/>
                </a:solidFill>
                <a:latin typeface="Quicksand Bold"/>
                <a:ea typeface="Quicksand Bold"/>
                <a:cs typeface="Quicksand Bold"/>
                <a:sym typeface="Quicksand Bold"/>
              </a:rPr>
              <a:t>ences, a</a:t>
            </a:r>
            <a:r>
              <a:rPr lang="en-US" b="true" sz="3200" spc="28" strike="noStrike" u="none">
                <a:solidFill>
                  <a:srgbClr val="000001"/>
                </a:solidFill>
                <a:latin typeface="Quicksand Bold"/>
                <a:ea typeface="Quicksand Bold"/>
                <a:cs typeface="Quicksand Bold"/>
                <a:sym typeface="Quicksand Bold"/>
              </a:rPr>
              <a:t>sk ques</a:t>
            </a:r>
            <a:r>
              <a:rPr lang="en-US" b="true" sz="3200" spc="28" strike="noStrike" u="none">
                <a:solidFill>
                  <a:srgbClr val="000001"/>
                </a:solidFill>
                <a:latin typeface="Quicksand Bold"/>
                <a:ea typeface="Quicksand Bold"/>
                <a:cs typeface="Quicksand Bold"/>
                <a:sym typeface="Quicksand Bold"/>
              </a:rPr>
              <a:t>tions, and exchan</a:t>
            </a:r>
            <a:r>
              <a:rPr lang="en-US" b="true" sz="3200" spc="28" strike="noStrike" u="none">
                <a:solidFill>
                  <a:srgbClr val="000001"/>
                </a:solidFill>
                <a:latin typeface="Quicksand Bold"/>
                <a:ea typeface="Quicksand Bold"/>
                <a:cs typeface="Quicksand Bold"/>
                <a:sym typeface="Quicksand Bold"/>
              </a:rPr>
              <a:t>ge</a:t>
            </a:r>
            <a:r>
              <a:rPr lang="en-US" b="true" sz="3200" spc="28" strike="noStrike" u="none">
                <a:solidFill>
                  <a:srgbClr val="000001"/>
                </a:solidFill>
                <a:latin typeface="Quicksand Bold"/>
                <a:ea typeface="Quicksand Bold"/>
                <a:cs typeface="Quicksand Bold"/>
                <a:sym typeface="Quicksand Bold"/>
              </a:rPr>
              <a:t> infor</a:t>
            </a:r>
            <a:r>
              <a:rPr lang="en-US" b="true" sz="3200" spc="28" strike="noStrike" u="none">
                <a:solidFill>
                  <a:srgbClr val="000001"/>
                </a:solidFill>
                <a:latin typeface="Quicksand Bold"/>
                <a:ea typeface="Quicksand Bold"/>
                <a:cs typeface="Quicksand Bold"/>
                <a:sym typeface="Quicksand Bold"/>
              </a:rPr>
              <a:t>mat</a:t>
            </a:r>
            <a:r>
              <a:rPr lang="en-US" b="true" sz="3200" spc="28" strike="noStrike" u="none">
                <a:solidFill>
                  <a:srgbClr val="000001"/>
                </a:solidFill>
                <a:latin typeface="Quicksand Bold"/>
                <a:ea typeface="Quicksand Bold"/>
                <a:cs typeface="Quicksand Bold"/>
                <a:sym typeface="Quicksand Bold"/>
              </a:rPr>
              <a:t>ion</a:t>
            </a:r>
            <a:r>
              <a:rPr lang="en-US" b="true" sz="3200" spc="28" strike="noStrike" u="none">
                <a:solidFill>
                  <a:srgbClr val="000001"/>
                </a:solidFill>
                <a:latin typeface="Quicksand Bold"/>
                <a:ea typeface="Quicksand Bold"/>
                <a:cs typeface="Quicksand Bold"/>
                <a:sym typeface="Quicksand Bold"/>
              </a:rPr>
              <a:t> within</a:t>
            </a:r>
            <a:r>
              <a:rPr lang="en-US" b="true" sz="3200" spc="28" strike="noStrike" u="none">
                <a:solidFill>
                  <a:srgbClr val="000001"/>
                </a:solidFill>
                <a:latin typeface="Quicksand Bold"/>
                <a:ea typeface="Quicksand Bold"/>
                <a:cs typeface="Quicksand Bold"/>
                <a:sym typeface="Quicksand Bold"/>
              </a:rPr>
              <a:t> a dedicat</a:t>
            </a:r>
            <a:r>
              <a:rPr lang="en-US" b="true" sz="3200" spc="28" strike="noStrike" u="none">
                <a:solidFill>
                  <a:srgbClr val="000001"/>
                </a:solidFill>
                <a:latin typeface="Quicksand Bold"/>
                <a:ea typeface="Quicksand Bold"/>
                <a:cs typeface="Quicksand Bold"/>
                <a:sym typeface="Quicksand Bold"/>
              </a:rPr>
              <a:t>ed communi</a:t>
            </a:r>
            <a:r>
              <a:rPr lang="en-US" b="true" sz="3200" spc="28" strike="noStrike" u="none">
                <a:solidFill>
                  <a:srgbClr val="000001"/>
                </a:solidFill>
                <a:latin typeface="Quicksand Bold"/>
                <a:ea typeface="Quicksand Bold"/>
                <a:cs typeface="Quicksand Bold"/>
                <a:sym typeface="Quicksand Bold"/>
              </a:rPr>
              <a:t>ty.</a:t>
            </a:r>
          </a:p>
          <a:p>
            <a:pPr algn="l" marL="0" indent="0" lvl="0">
              <a:lnSpc>
                <a:spcPts val="4352"/>
              </a:lnSpc>
            </a:pPr>
          </a:p>
          <a:p>
            <a:pPr algn="l" marL="0" indent="0" lvl="0">
              <a:lnSpc>
                <a:spcPts val="4352"/>
              </a:lnSpc>
            </a:pPr>
            <a:r>
              <a:rPr lang="en-US" b="true" sz="3200" spc="28" strike="noStrike" u="none">
                <a:solidFill>
                  <a:srgbClr val="000001"/>
                </a:solidFill>
                <a:latin typeface="Quicksand Bold"/>
                <a:ea typeface="Quicksand Bold"/>
                <a:cs typeface="Quicksand Bold"/>
                <a:sym typeface="Quicksand Bold"/>
              </a:rPr>
              <a:t>Inspired by the Facebook gro</a:t>
            </a:r>
            <a:r>
              <a:rPr lang="en-US" b="true" sz="3200" spc="28" strike="noStrike" u="none">
                <a:solidFill>
                  <a:srgbClr val="000001"/>
                </a:solidFill>
                <a:latin typeface="Quicksand Bold"/>
                <a:ea typeface="Quicksand Bold"/>
                <a:cs typeface="Quicksand Bold"/>
                <a:sym typeface="Quicksand Bold"/>
              </a:rPr>
              <a:t>up</a:t>
            </a:r>
            <a:r>
              <a:rPr lang="en-US" b="true" sz="3200" spc="28" strike="noStrike" u="none">
                <a:solidFill>
                  <a:srgbClr val="000001"/>
                </a:solidFill>
                <a:latin typeface="Quicksand Bold"/>
                <a:ea typeface="Quicksand Bold"/>
                <a:cs typeface="Quicksand Bold"/>
                <a:sym typeface="Quicksand Bold"/>
              </a:rPr>
              <a:t> “ลูกช้าง มช.”, it aim</a:t>
            </a:r>
            <a:r>
              <a:rPr lang="en-US" b="true" sz="3200" spc="28" strike="noStrike" u="none">
                <a:solidFill>
                  <a:srgbClr val="000001"/>
                </a:solidFill>
                <a:latin typeface="Quicksand Bold"/>
                <a:ea typeface="Quicksand Bold"/>
                <a:cs typeface="Quicksand Bold"/>
                <a:sym typeface="Quicksand Bold"/>
              </a:rPr>
              <a:t>s</a:t>
            </a:r>
            <a:r>
              <a:rPr lang="en-US" b="true" sz="3200" spc="28" strike="noStrike" u="none">
                <a:solidFill>
                  <a:srgbClr val="000001"/>
                </a:solidFill>
                <a:latin typeface="Quicksand Bold"/>
                <a:ea typeface="Quicksand Bold"/>
                <a:cs typeface="Quicksand Bold"/>
                <a:sym typeface="Quicksand Bold"/>
              </a:rPr>
              <a:t> to addres</a:t>
            </a:r>
            <a:r>
              <a:rPr lang="en-US" b="true" sz="3200" spc="28" strike="noStrike" u="none">
                <a:solidFill>
                  <a:srgbClr val="000001"/>
                </a:solidFill>
                <a:latin typeface="Quicksand Bold"/>
                <a:ea typeface="Quicksand Bold"/>
                <a:cs typeface="Quicksand Bold"/>
                <a:sym typeface="Quicksand Bold"/>
              </a:rPr>
              <a:t>s pr</a:t>
            </a:r>
            <a:r>
              <a:rPr lang="en-US" b="true" sz="3200" spc="28" strike="noStrike" u="none">
                <a:solidFill>
                  <a:srgbClr val="000001"/>
                </a:solidFill>
                <a:latin typeface="Quicksand Bold"/>
                <a:ea typeface="Quicksand Bold"/>
                <a:cs typeface="Quicksand Bold"/>
                <a:sym typeface="Quicksand Bold"/>
              </a:rPr>
              <a:t>ivacy </a:t>
            </a:r>
            <a:r>
              <a:rPr lang="en-US" b="true" sz="3200" spc="28" strike="noStrike" u="none">
                <a:solidFill>
                  <a:srgbClr val="000001"/>
                </a:solidFill>
                <a:latin typeface="Quicksand Bold"/>
                <a:ea typeface="Quicksand Bold"/>
                <a:cs typeface="Quicksand Bold"/>
                <a:sym typeface="Quicksand Bold"/>
              </a:rPr>
              <a:t>risks,</a:t>
            </a:r>
            <a:r>
              <a:rPr lang="en-US" b="true" sz="3200" spc="28" strike="noStrike" u="none">
                <a:solidFill>
                  <a:srgbClr val="000001"/>
                </a:solidFill>
                <a:latin typeface="Quicksand Bold"/>
                <a:ea typeface="Quicksand Bold"/>
                <a:cs typeface="Quicksand Bold"/>
                <a:sym typeface="Quicksand Bold"/>
              </a:rPr>
              <a:t> l</a:t>
            </a:r>
            <a:r>
              <a:rPr lang="en-US" b="true" sz="3200" spc="28" strike="noStrike" u="none">
                <a:solidFill>
                  <a:srgbClr val="000001"/>
                </a:solidFill>
                <a:latin typeface="Quicksand Bold"/>
                <a:ea typeface="Quicksand Bold"/>
                <a:cs typeface="Quicksand Bold"/>
                <a:sym typeface="Quicksand Bold"/>
              </a:rPr>
              <a:t>imi</a:t>
            </a:r>
            <a:r>
              <a:rPr lang="en-US" b="true" sz="3200" spc="28" strike="noStrike" u="none">
                <a:solidFill>
                  <a:srgbClr val="000001"/>
                </a:solidFill>
                <a:latin typeface="Quicksand Bold"/>
                <a:ea typeface="Quicksand Bold"/>
                <a:cs typeface="Quicksand Bold"/>
                <a:sym typeface="Quicksand Bold"/>
              </a:rPr>
              <a:t>t</a:t>
            </a:r>
            <a:r>
              <a:rPr lang="en-US" b="true" sz="3200" spc="28" strike="noStrike" u="none">
                <a:solidFill>
                  <a:srgbClr val="000001"/>
                </a:solidFill>
                <a:latin typeface="Quicksand Bold"/>
                <a:ea typeface="Quicksand Bold"/>
                <a:cs typeface="Quicksand Bold"/>
                <a:sym typeface="Quicksand Bold"/>
              </a:rPr>
              <a:t>e</a:t>
            </a:r>
            <a:r>
              <a:rPr lang="en-US" b="true" sz="3200" spc="28" strike="noStrike" u="none">
                <a:solidFill>
                  <a:srgbClr val="000001"/>
                </a:solidFill>
                <a:latin typeface="Quicksand Bold"/>
                <a:ea typeface="Quicksand Bold"/>
                <a:cs typeface="Quicksand Bold"/>
                <a:sym typeface="Quicksand Bold"/>
              </a:rPr>
              <a:t>d</a:t>
            </a:r>
            <a:r>
              <a:rPr lang="en-US" b="true" sz="3200" spc="28" strike="noStrike" u="none">
                <a:solidFill>
                  <a:srgbClr val="000001"/>
                </a:solidFill>
                <a:latin typeface="Quicksand Bold"/>
                <a:ea typeface="Quicksand Bold"/>
                <a:cs typeface="Quicksand Bold"/>
                <a:sym typeface="Quicksand Bold"/>
              </a:rPr>
              <a:t> acc</a:t>
            </a:r>
            <a:r>
              <a:rPr lang="en-US" b="true" sz="3200" spc="28" strike="noStrike" u="none">
                <a:solidFill>
                  <a:srgbClr val="000001"/>
                </a:solidFill>
                <a:latin typeface="Quicksand Bold"/>
                <a:ea typeface="Quicksand Bold"/>
                <a:cs typeface="Quicksand Bold"/>
                <a:sym typeface="Quicksand Bold"/>
              </a:rPr>
              <a:t>es</a:t>
            </a:r>
            <a:r>
              <a:rPr lang="en-US" b="true" sz="3200" spc="28" strike="noStrike" u="none">
                <a:solidFill>
                  <a:srgbClr val="000001"/>
                </a:solidFill>
                <a:latin typeface="Quicksand Bold"/>
                <a:ea typeface="Quicksand Bold"/>
                <a:cs typeface="Quicksand Bold"/>
                <a:sym typeface="Quicksand Bold"/>
              </a:rPr>
              <a:t>s</a:t>
            </a:r>
            <a:r>
              <a:rPr lang="en-US" b="true" sz="3200" spc="28" strike="noStrike" u="none">
                <a:solidFill>
                  <a:srgbClr val="000001"/>
                </a:solidFill>
                <a:latin typeface="Quicksand Bold"/>
                <a:ea typeface="Quicksand Bold"/>
                <a:cs typeface="Quicksand Bold"/>
                <a:sym typeface="Quicksand Bold"/>
              </a:rPr>
              <a:t> cont</a:t>
            </a:r>
            <a:r>
              <a:rPr lang="en-US" b="true" sz="3200" spc="28" strike="noStrike" u="none">
                <a:solidFill>
                  <a:srgbClr val="000001"/>
                </a:solidFill>
                <a:latin typeface="Quicksand Bold"/>
                <a:ea typeface="Quicksand Bold"/>
                <a:cs typeface="Quicksand Bold"/>
                <a:sym typeface="Quicksand Bold"/>
              </a:rPr>
              <a:t>rol,</a:t>
            </a:r>
            <a:r>
              <a:rPr lang="en-US" b="true" sz="3200" spc="28" strike="noStrike" u="none">
                <a:solidFill>
                  <a:srgbClr val="000001"/>
                </a:solidFill>
                <a:latin typeface="Quicksand Bold"/>
                <a:ea typeface="Quicksand Bold"/>
                <a:cs typeface="Quicksand Bold"/>
                <a:sym typeface="Quicksand Bold"/>
              </a:rPr>
              <a:t> and trust</a:t>
            </a:r>
            <a:r>
              <a:rPr lang="en-US" b="true" sz="3200" spc="28" strike="noStrike" u="none">
                <a:solidFill>
                  <a:srgbClr val="000001"/>
                </a:solidFill>
                <a:latin typeface="Quicksand Bold"/>
                <a:ea typeface="Quicksand Bold"/>
                <a:cs typeface="Quicksand Bold"/>
                <a:sym typeface="Quicksand Bold"/>
              </a:rPr>
              <a:t> conc</a:t>
            </a:r>
            <a:r>
              <a:rPr lang="en-US" b="true" sz="3200" spc="28" strike="noStrike" u="none">
                <a:solidFill>
                  <a:srgbClr val="000001"/>
                </a:solidFill>
                <a:latin typeface="Quicksand Bold"/>
                <a:ea typeface="Quicksand Bold"/>
                <a:cs typeface="Quicksand Bold"/>
                <a:sym typeface="Quicksand Bold"/>
              </a:rPr>
              <a:t>erns </a:t>
            </a:r>
            <a:r>
              <a:rPr lang="en-US" b="true" sz="3200" spc="28" strike="noStrike" u="none">
                <a:solidFill>
                  <a:srgbClr val="000001"/>
                </a:solidFill>
                <a:latin typeface="Quicksand Bold"/>
                <a:ea typeface="Quicksand Bold"/>
                <a:cs typeface="Quicksand Bold"/>
                <a:sym typeface="Quicksand Bold"/>
              </a:rPr>
              <a:t>wh</a:t>
            </a:r>
            <a:r>
              <a:rPr lang="en-US" b="true" sz="3200" spc="28" strike="noStrike" u="none">
                <a:solidFill>
                  <a:srgbClr val="000001"/>
                </a:solidFill>
                <a:latin typeface="Quicksand Bold"/>
                <a:ea typeface="Quicksand Bold"/>
                <a:cs typeface="Quicksand Bold"/>
                <a:sym typeface="Quicksand Bold"/>
              </a:rPr>
              <a:t>i</a:t>
            </a:r>
            <a:r>
              <a:rPr lang="en-US" b="true" sz="3200" spc="28" strike="noStrike" u="none">
                <a:solidFill>
                  <a:srgbClr val="000001"/>
                </a:solidFill>
                <a:latin typeface="Quicksand Bold"/>
                <a:ea typeface="Quicksand Bold"/>
                <a:cs typeface="Quicksand Bold"/>
                <a:sym typeface="Quicksand Bold"/>
              </a:rPr>
              <a:t>l</a:t>
            </a:r>
            <a:r>
              <a:rPr lang="en-US" b="true" sz="3200" spc="28" strike="noStrike" u="none">
                <a:solidFill>
                  <a:srgbClr val="000001"/>
                </a:solidFill>
                <a:latin typeface="Quicksand Bold"/>
                <a:ea typeface="Quicksand Bold"/>
                <a:cs typeface="Quicksand Bold"/>
                <a:sym typeface="Quicksand Bold"/>
              </a:rPr>
              <a:t>e making i</a:t>
            </a:r>
            <a:r>
              <a:rPr lang="en-US" b="true" sz="3200" spc="28" strike="noStrike" u="none">
                <a:solidFill>
                  <a:srgbClr val="000001"/>
                </a:solidFill>
                <a:latin typeface="Quicksand Bold"/>
                <a:ea typeface="Quicksand Bold"/>
                <a:cs typeface="Quicksand Bold"/>
                <a:sym typeface="Quicksand Bold"/>
              </a:rPr>
              <a:t>mp</a:t>
            </a:r>
            <a:r>
              <a:rPr lang="en-US" b="true" sz="3200" spc="28" strike="noStrike" u="none">
                <a:solidFill>
                  <a:srgbClr val="000001"/>
                </a:solidFill>
                <a:latin typeface="Quicksand Bold"/>
                <a:ea typeface="Quicksand Bold"/>
                <a:cs typeface="Quicksand Bold"/>
                <a:sym typeface="Quicksand Bold"/>
              </a:rPr>
              <a:t>orta</a:t>
            </a:r>
            <a:r>
              <a:rPr lang="en-US" b="true" sz="3200" spc="28" strike="noStrike" u="none">
                <a:solidFill>
                  <a:srgbClr val="000001"/>
                </a:solidFill>
                <a:latin typeface="Quicksand Bold"/>
                <a:ea typeface="Quicksand Bold"/>
                <a:cs typeface="Quicksand Bold"/>
                <a:sym typeface="Quicksand Bold"/>
              </a:rPr>
              <a:t>n</a:t>
            </a:r>
            <a:r>
              <a:rPr lang="en-US" b="true" sz="3200" spc="28" strike="noStrike" u="none">
                <a:solidFill>
                  <a:srgbClr val="000001"/>
                </a:solidFill>
                <a:latin typeface="Quicksand Bold"/>
                <a:ea typeface="Quicksand Bold"/>
                <a:cs typeface="Quicksand Bold"/>
                <a:sym typeface="Quicksand Bold"/>
              </a:rPr>
              <a:t>t announ</a:t>
            </a:r>
            <a:r>
              <a:rPr lang="en-US" b="true" sz="3200" spc="28" strike="noStrike" u="none">
                <a:solidFill>
                  <a:srgbClr val="000001"/>
                </a:solidFill>
                <a:latin typeface="Quicksand Bold"/>
                <a:ea typeface="Quicksand Bold"/>
                <a:cs typeface="Quicksand Bold"/>
                <a:sym typeface="Quicksand Bold"/>
              </a:rPr>
              <a:t>ce</a:t>
            </a:r>
            <a:r>
              <a:rPr lang="en-US" b="true" sz="3200" spc="28" strike="noStrike" u="none">
                <a:solidFill>
                  <a:srgbClr val="000001"/>
                </a:solidFill>
                <a:latin typeface="Quicksand Bold"/>
                <a:ea typeface="Quicksand Bold"/>
                <a:cs typeface="Quicksand Bold"/>
                <a:sym typeface="Quicksand Bold"/>
              </a:rPr>
              <a:t>ments</a:t>
            </a:r>
            <a:r>
              <a:rPr lang="en-US" b="true" sz="3200" spc="28" strike="noStrike" u="none">
                <a:solidFill>
                  <a:srgbClr val="000001"/>
                </a:solidFill>
                <a:latin typeface="Quicksand Bold"/>
                <a:ea typeface="Quicksand Bold"/>
                <a:cs typeface="Quicksand Bold"/>
                <a:sym typeface="Quicksand Bold"/>
              </a:rPr>
              <a:t>,</a:t>
            </a:r>
            <a:r>
              <a:rPr lang="en-US" b="true" sz="3200" spc="28" strike="noStrike" u="none">
                <a:solidFill>
                  <a:srgbClr val="000001"/>
                </a:solidFill>
                <a:latin typeface="Quicksand Bold"/>
                <a:ea typeface="Quicksand Bold"/>
                <a:cs typeface="Quicksand Bold"/>
                <a:sym typeface="Quicksand Bold"/>
              </a:rPr>
              <a:t> warni</a:t>
            </a:r>
            <a:r>
              <a:rPr lang="en-US" b="true" sz="3200" spc="28" strike="noStrike" u="none">
                <a:solidFill>
                  <a:srgbClr val="000001"/>
                </a:solidFill>
                <a:latin typeface="Quicksand Bold"/>
                <a:ea typeface="Quicksand Bold"/>
                <a:cs typeface="Quicksand Bold"/>
                <a:sym typeface="Quicksand Bold"/>
              </a:rPr>
              <a:t>ng</a:t>
            </a:r>
            <a:r>
              <a:rPr lang="en-US" b="true" sz="3200" spc="28" strike="noStrike" u="none">
                <a:solidFill>
                  <a:srgbClr val="000001"/>
                </a:solidFill>
                <a:latin typeface="Quicksand Bold"/>
                <a:ea typeface="Quicksand Bold"/>
                <a:cs typeface="Quicksand Bold"/>
                <a:sym typeface="Quicksand Bold"/>
              </a:rPr>
              <a:t>s, and emerge</a:t>
            </a:r>
            <a:r>
              <a:rPr lang="en-US" b="true" sz="3200" spc="28" strike="noStrike" u="none">
                <a:solidFill>
                  <a:srgbClr val="000001"/>
                </a:solidFill>
                <a:latin typeface="Quicksand Bold"/>
                <a:ea typeface="Quicksand Bold"/>
                <a:cs typeface="Quicksand Bold"/>
                <a:sym typeface="Quicksand Bold"/>
              </a:rPr>
              <a:t>ncy</a:t>
            </a:r>
            <a:r>
              <a:rPr lang="en-US" b="true" sz="3200" spc="28" strike="noStrike" u="none">
                <a:solidFill>
                  <a:srgbClr val="000001"/>
                </a:solidFill>
                <a:latin typeface="Quicksand Bold"/>
                <a:ea typeface="Quicksand Bold"/>
                <a:cs typeface="Quicksand Bold"/>
                <a:sym typeface="Quicksand Bold"/>
              </a:rPr>
              <a:t> po</a:t>
            </a:r>
            <a:r>
              <a:rPr lang="en-US" b="true" sz="3200" spc="28" strike="noStrike" u="none">
                <a:solidFill>
                  <a:srgbClr val="000001"/>
                </a:solidFill>
                <a:latin typeface="Quicksand Bold"/>
                <a:ea typeface="Quicksand Bold"/>
                <a:cs typeface="Quicksand Bold"/>
                <a:sym typeface="Quicksand Bold"/>
              </a:rPr>
              <a:t>st</a:t>
            </a:r>
            <a:r>
              <a:rPr lang="en-US" b="true" sz="3200" spc="28" strike="noStrike" u="none">
                <a:solidFill>
                  <a:srgbClr val="000001"/>
                </a:solidFill>
                <a:latin typeface="Quicksand Bold"/>
                <a:ea typeface="Quicksand Bold"/>
                <a:cs typeface="Quicksand Bold"/>
                <a:sym typeface="Quicksand Bold"/>
              </a:rPr>
              <a:t>s easier to fin</a:t>
            </a:r>
            <a:r>
              <a:rPr lang="en-US" b="true" sz="3200" spc="28" strike="noStrike" u="none">
                <a:solidFill>
                  <a:srgbClr val="000001"/>
                </a:solidFill>
                <a:latin typeface="Quicksand Bold"/>
                <a:ea typeface="Quicksand Bold"/>
                <a:cs typeface="Quicksand Bold"/>
                <a:sym typeface="Quicksand Bold"/>
              </a:rPr>
              <a:t>d</a:t>
            </a:r>
            <a:r>
              <a:rPr lang="en-US" b="true" sz="3200" spc="28" strike="noStrike" u="none">
                <a:solidFill>
                  <a:srgbClr val="000001"/>
                </a:solidFill>
                <a:latin typeface="Quicksand Bold"/>
                <a:ea typeface="Quicksand Bold"/>
                <a:cs typeface="Quicksand Bold"/>
                <a:sym typeface="Quicksand Bold"/>
              </a:rPr>
              <a:t>.</a:t>
            </a:r>
          </a:p>
          <a:p>
            <a:pPr algn="l" marL="0" indent="0" lvl="0">
              <a:lnSpc>
                <a:spcPts val="435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3884062" y="1063772"/>
            <a:ext cx="10495752" cy="1282699"/>
          </a:xfrm>
          <a:prstGeom prst="rect">
            <a:avLst/>
          </a:prstGeom>
        </p:spPr>
        <p:txBody>
          <a:bodyPr anchor="t" rtlCol="false" tIns="0" lIns="0" bIns="0" rIns="0">
            <a:spAutoFit/>
          </a:bodyPr>
          <a:lstStyle/>
          <a:p>
            <a:pPr algn="ctr">
              <a:lnSpc>
                <a:spcPts val="9399"/>
              </a:lnSpc>
            </a:pPr>
            <a:r>
              <a:rPr lang="en-US" sz="9999" spc="-499">
                <a:solidFill>
                  <a:srgbClr val="FFFFFF"/>
                </a:solidFill>
                <a:latin typeface="210 클레이토이"/>
                <a:ea typeface="210 클레이토이"/>
                <a:cs typeface="210 클레이토이"/>
                <a:sym typeface="210 클레이토이"/>
              </a:rPr>
              <a:t>BUSINESS PROBLEM</a:t>
            </a:r>
          </a:p>
        </p:txBody>
      </p:sp>
      <p:sp>
        <p:nvSpPr>
          <p:cNvPr name="Freeform 12" id="12"/>
          <p:cNvSpPr/>
          <p:nvPr/>
        </p:nvSpPr>
        <p:spPr>
          <a:xfrm flipH="false" flipV="false" rot="0">
            <a:off x="15656683" y="-3461388"/>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631297">
            <a:off x="15810702" y="794357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977479" y="-641700"/>
            <a:ext cx="4149033" cy="3779392"/>
          </a:xfrm>
          <a:custGeom>
            <a:avLst/>
            <a:gdLst/>
            <a:ahLst/>
            <a:cxnLst/>
            <a:rect r="r" b="b" t="t" l="l"/>
            <a:pathLst>
              <a:path h="3779392" w="4149033">
                <a:moveTo>
                  <a:pt x="0" y="0"/>
                </a:moveTo>
                <a:lnTo>
                  <a:pt x="4149033" y="0"/>
                </a:lnTo>
                <a:lnTo>
                  <a:pt x="4149033" y="3779392"/>
                </a:lnTo>
                <a:lnTo>
                  <a:pt x="0" y="37793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8" id="18"/>
          <p:cNvGrpSpPr/>
          <p:nvPr/>
        </p:nvGrpSpPr>
        <p:grpSpPr>
          <a:xfrm rot="0">
            <a:off x="1605145" y="2813182"/>
            <a:ext cx="15077710" cy="8396838"/>
            <a:chOff x="0" y="0"/>
            <a:chExt cx="3529450" cy="1965565"/>
          </a:xfrm>
        </p:grpSpPr>
        <p:sp>
          <p:nvSpPr>
            <p:cNvPr name="Freeform 19" id="19"/>
            <p:cNvSpPr/>
            <p:nvPr/>
          </p:nvSpPr>
          <p:spPr>
            <a:xfrm flipH="false" flipV="false" rot="0">
              <a:off x="0" y="0"/>
              <a:ext cx="3529450" cy="1965565"/>
            </a:xfrm>
            <a:custGeom>
              <a:avLst/>
              <a:gdLst/>
              <a:ahLst/>
              <a:cxnLst/>
              <a:rect r="r" b="b" t="t" l="l"/>
              <a:pathLst>
                <a:path h="1965565" w="3529450">
                  <a:moveTo>
                    <a:pt x="16431" y="0"/>
                  </a:moveTo>
                  <a:lnTo>
                    <a:pt x="3513020" y="0"/>
                  </a:lnTo>
                  <a:cubicBezTo>
                    <a:pt x="3522094" y="0"/>
                    <a:pt x="3529450" y="7356"/>
                    <a:pt x="3529450" y="16431"/>
                  </a:cubicBezTo>
                  <a:lnTo>
                    <a:pt x="3529450" y="1949135"/>
                  </a:lnTo>
                  <a:cubicBezTo>
                    <a:pt x="3529450" y="1958209"/>
                    <a:pt x="3522094" y="1965565"/>
                    <a:pt x="3513020" y="1965565"/>
                  </a:cubicBezTo>
                  <a:lnTo>
                    <a:pt x="16431" y="1965565"/>
                  </a:lnTo>
                  <a:cubicBezTo>
                    <a:pt x="7356" y="1965565"/>
                    <a:pt x="0" y="1958209"/>
                    <a:pt x="0" y="1949135"/>
                  </a:cubicBezTo>
                  <a:lnTo>
                    <a:pt x="0" y="16431"/>
                  </a:lnTo>
                  <a:cubicBezTo>
                    <a:pt x="0" y="7356"/>
                    <a:pt x="7356" y="0"/>
                    <a:pt x="16431" y="0"/>
                  </a:cubicBezTo>
                  <a:close/>
                </a:path>
              </a:pathLst>
            </a:custGeom>
            <a:solidFill>
              <a:srgbClr val="9EB6B6"/>
            </a:solidFill>
          </p:spPr>
        </p:sp>
        <p:sp>
          <p:nvSpPr>
            <p:cNvPr name="TextBox 20" id="20"/>
            <p:cNvSpPr txBox="true"/>
            <p:nvPr/>
          </p:nvSpPr>
          <p:spPr>
            <a:xfrm>
              <a:off x="0" y="-38100"/>
              <a:ext cx="3529450" cy="2003665"/>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2" id="22"/>
          <p:cNvGrpSpPr/>
          <p:nvPr/>
        </p:nvGrpSpPr>
        <p:grpSpPr>
          <a:xfrm rot="0">
            <a:off x="1826492" y="3054284"/>
            <a:ext cx="14610891" cy="9902538"/>
            <a:chOff x="0" y="0"/>
            <a:chExt cx="3420176" cy="2318026"/>
          </a:xfrm>
        </p:grpSpPr>
        <p:sp>
          <p:nvSpPr>
            <p:cNvPr name="Freeform 23" id="23"/>
            <p:cNvSpPr/>
            <p:nvPr/>
          </p:nvSpPr>
          <p:spPr>
            <a:xfrm flipH="false" flipV="false" rot="0">
              <a:off x="0" y="0"/>
              <a:ext cx="3420176" cy="2318026"/>
            </a:xfrm>
            <a:custGeom>
              <a:avLst/>
              <a:gdLst/>
              <a:ahLst/>
              <a:cxnLst/>
              <a:rect r="r" b="b" t="t" l="l"/>
              <a:pathLst>
                <a:path h="2318026" w="3420176">
                  <a:moveTo>
                    <a:pt x="16956" y="0"/>
                  </a:moveTo>
                  <a:lnTo>
                    <a:pt x="3403220" y="0"/>
                  </a:lnTo>
                  <a:cubicBezTo>
                    <a:pt x="3412584" y="0"/>
                    <a:pt x="3420176" y="7591"/>
                    <a:pt x="3420176" y="16956"/>
                  </a:cubicBezTo>
                  <a:lnTo>
                    <a:pt x="3420176" y="2301070"/>
                  </a:lnTo>
                  <a:cubicBezTo>
                    <a:pt x="3420176" y="2305567"/>
                    <a:pt x="3418389" y="2309880"/>
                    <a:pt x="3415209" y="2313059"/>
                  </a:cubicBezTo>
                  <a:cubicBezTo>
                    <a:pt x="3412030" y="2316239"/>
                    <a:pt x="3407717" y="2318026"/>
                    <a:pt x="3403220" y="2318026"/>
                  </a:cubicBezTo>
                  <a:lnTo>
                    <a:pt x="16956" y="2318026"/>
                  </a:lnTo>
                  <a:cubicBezTo>
                    <a:pt x="7591" y="2318026"/>
                    <a:pt x="0" y="2310434"/>
                    <a:pt x="0" y="2301070"/>
                  </a:cubicBezTo>
                  <a:lnTo>
                    <a:pt x="0" y="16956"/>
                  </a:lnTo>
                  <a:cubicBezTo>
                    <a:pt x="0" y="7591"/>
                    <a:pt x="7591" y="0"/>
                    <a:pt x="16956" y="0"/>
                  </a:cubicBezTo>
                  <a:close/>
                </a:path>
              </a:pathLst>
            </a:custGeom>
            <a:solidFill>
              <a:srgbClr val="FFFFFF"/>
            </a:solidFill>
            <a:ln w="47625" cap="rnd">
              <a:solidFill>
                <a:srgbClr val="998178"/>
              </a:solidFill>
              <a:prstDash val="solid"/>
              <a:round/>
            </a:ln>
          </p:spPr>
        </p:sp>
        <p:sp>
          <p:nvSpPr>
            <p:cNvPr name="TextBox 24" id="24"/>
            <p:cNvSpPr txBox="true"/>
            <p:nvPr/>
          </p:nvSpPr>
          <p:spPr>
            <a:xfrm>
              <a:off x="0" y="-38100"/>
              <a:ext cx="3420176" cy="2356126"/>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221710" y="3691313"/>
            <a:ext cx="11820455" cy="6602476"/>
          </a:xfrm>
          <a:prstGeom prst="rect">
            <a:avLst/>
          </a:prstGeom>
        </p:spPr>
        <p:txBody>
          <a:bodyPr anchor="t" rtlCol="false" tIns="0" lIns="0" bIns="0" rIns="0">
            <a:spAutoFit/>
          </a:bodyPr>
          <a:lstStyle/>
          <a:p>
            <a:pPr algn="l" marL="0" indent="0" lvl="0">
              <a:lnSpc>
                <a:spcPts val="4352"/>
              </a:lnSpc>
            </a:pPr>
            <a:r>
              <a:rPr lang="en-US" b="true" sz="3200" spc="28">
                <a:solidFill>
                  <a:srgbClr val="000001"/>
                </a:solidFill>
                <a:latin typeface="Quicksand Bold"/>
                <a:ea typeface="Quicksand Bold"/>
                <a:cs typeface="Quicksand Bold"/>
                <a:sym typeface="Quicksand Bold"/>
              </a:rPr>
              <a:t>CMU community inf</a:t>
            </a:r>
            <a:r>
              <a:rPr lang="en-US" b="true" sz="3200" spc="28" strike="noStrike" u="none">
                <a:solidFill>
                  <a:srgbClr val="000001"/>
                </a:solidFill>
                <a:latin typeface="Quicksand Bold"/>
                <a:ea typeface="Quicksand Bold"/>
                <a:cs typeface="Quicksand Bold"/>
                <a:sym typeface="Quicksand Bold"/>
              </a:rPr>
              <a:t>ormatio</a:t>
            </a:r>
            <a:r>
              <a:rPr lang="en-US" b="true" sz="3200" spc="28" strike="noStrike" u="none">
                <a:solidFill>
                  <a:srgbClr val="000001"/>
                </a:solidFill>
                <a:latin typeface="Quicksand Bold"/>
                <a:ea typeface="Quicksand Bold"/>
                <a:cs typeface="Quicksand Bold"/>
                <a:sym typeface="Quicksand Bold"/>
              </a:rPr>
              <a:t>n</a:t>
            </a:r>
            <a:r>
              <a:rPr lang="en-US" b="true" sz="3200" spc="28" strike="noStrike" u="none">
                <a:solidFill>
                  <a:srgbClr val="000001"/>
                </a:solidFill>
                <a:latin typeface="Quicksand Bold"/>
                <a:ea typeface="Quicksand Bold"/>
                <a:cs typeface="Quicksand Bold"/>
                <a:sym typeface="Quicksand Bold"/>
              </a:rPr>
              <a:t> is scattered across social media platform</a:t>
            </a:r>
            <a:r>
              <a:rPr lang="en-US" b="true" sz="3200" spc="28" strike="noStrike" u="none">
                <a:solidFill>
                  <a:srgbClr val="000001"/>
                </a:solidFill>
                <a:latin typeface="Quicksand Bold"/>
                <a:ea typeface="Quicksand Bold"/>
                <a:cs typeface="Quicksand Bold"/>
                <a:sym typeface="Quicksand Bold"/>
              </a:rPr>
              <a:t>s,</a:t>
            </a:r>
            <a:r>
              <a:rPr lang="en-US" b="true" sz="3200" spc="28" strike="noStrike" u="none">
                <a:solidFill>
                  <a:srgbClr val="000001"/>
                </a:solidFill>
                <a:latin typeface="Quicksand Bold"/>
                <a:ea typeface="Quicksand Bold"/>
                <a:cs typeface="Quicksand Bold"/>
                <a:sym typeface="Quicksand Bold"/>
              </a:rPr>
              <a:t> making useful content di</a:t>
            </a:r>
            <a:r>
              <a:rPr lang="en-US" b="true" sz="3200" spc="28" strike="noStrike" u="none">
                <a:solidFill>
                  <a:srgbClr val="000001"/>
                </a:solidFill>
                <a:latin typeface="Quicksand Bold"/>
                <a:ea typeface="Quicksand Bold"/>
                <a:cs typeface="Quicksand Bold"/>
                <a:sym typeface="Quicksand Bold"/>
              </a:rPr>
              <a:t>ff</a:t>
            </a:r>
            <a:r>
              <a:rPr lang="en-US" b="true" sz="3200" spc="28" strike="noStrike" u="none">
                <a:solidFill>
                  <a:srgbClr val="000001"/>
                </a:solidFill>
                <a:latin typeface="Quicksand Bold"/>
                <a:ea typeface="Quicksand Bold"/>
                <a:cs typeface="Quicksand Bold"/>
                <a:sym typeface="Quicksand Bold"/>
              </a:rPr>
              <a:t>icult to find, organize, and ver</a:t>
            </a:r>
            <a:r>
              <a:rPr lang="en-US" b="true" sz="3200" spc="28" strike="noStrike" u="none">
                <a:solidFill>
                  <a:srgbClr val="000001"/>
                </a:solidFill>
                <a:latin typeface="Quicksand Bold"/>
                <a:ea typeface="Quicksand Bold"/>
                <a:cs typeface="Quicksand Bold"/>
                <a:sym typeface="Quicksand Bold"/>
              </a:rPr>
              <a:t>ify. Imp</a:t>
            </a:r>
            <a:r>
              <a:rPr lang="en-US" b="true" sz="3200" spc="28" strike="noStrike" u="none">
                <a:solidFill>
                  <a:srgbClr val="000001"/>
                </a:solidFill>
                <a:latin typeface="Quicksand Bold"/>
                <a:ea typeface="Quicksand Bold"/>
                <a:cs typeface="Quicksand Bold"/>
                <a:sym typeface="Quicksand Bold"/>
              </a:rPr>
              <a:t>ortant announcements, warnings, and recommendations </a:t>
            </a:r>
            <a:r>
              <a:rPr lang="en-US" b="true" sz="3200" spc="28" strike="noStrike" u="none">
                <a:solidFill>
                  <a:srgbClr val="000001"/>
                </a:solidFill>
                <a:latin typeface="Quicksand Bold"/>
                <a:ea typeface="Quicksand Bold"/>
                <a:cs typeface="Quicksand Bold"/>
                <a:sym typeface="Quicksand Bold"/>
              </a:rPr>
              <a:t>ca</a:t>
            </a:r>
            <a:r>
              <a:rPr lang="en-US" b="true" sz="3200" spc="28" strike="noStrike" u="none">
                <a:solidFill>
                  <a:srgbClr val="000001"/>
                </a:solidFill>
                <a:latin typeface="Quicksand Bold"/>
                <a:ea typeface="Quicksand Bold"/>
                <a:cs typeface="Quicksand Bold"/>
                <a:sym typeface="Quicksand Bold"/>
              </a:rPr>
              <a:t>n be buried un</a:t>
            </a:r>
            <a:r>
              <a:rPr lang="en-US" b="true" sz="3200" spc="28" strike="noStrike" u="none">
                <a:solidFill>
                  <a:srgbClr val="000001"/>
                </a:solidFill>
                <a:latin typeface="Quicksand Bold"/>
                <a:ea typeface="Quicksand Bold"/>
                <a:cs typeface="Quicksand Bold"/>
                <a:sym typeface="Quicksand Bold"/>
              </a:rPr>
              <a:t>der new pos</a:t>
            </a:r>
            <a:r>
              <a:rPr lang="en-US" b="true" sz="3200" spc="28" strike="noStrike" u="none">
                <a:solidFill>
                  <a:srgbClr val="000001"/>
                </a:solidFill>
                <a:latin typeface="Quicksand Bold"/>
                <a:ea typeface="Quicksand Bold"/>
                <a:cs typeface="Quicksand Bold"/>
                <a:sym typeface="Quicksand Bold"/>
              </a:rPr>
              <a:t>ts.</a:t>
            </a:r>
          </a:p>
          <a:p>
            <a:pPr algn="l" marL="0" indent="0" lvl="0">
              <a:lnSpc>
                <a:spcPts val="4352"/>
              </a:lnSpc>
            </a:pPr>
          </a:p>
          <a:p>
            <a:pPr algn="l" marL="0" indent="0" lvl="0">
              <a:lnSpc>
                <a:spcPts val="4352"/>
              </a:lnSpc>
            </a:pPr>
            <a:r>
              <a:rPr lang="en-US" b="true" sz="3200" spc="28" strike="noStrike" u="none">
                <a:solidFill>
                  <a:srgbClr val="000001"/>
                </a:solidFill>
                <a:latin typeface="Quicksand Bold"/>
                <a:ea typeface="Quicksand Bold"/>
                <a:cs typeface="Quicksand Bold"/>
                <a:sym typeface="Quicksand Bold"/>
              </a:rPr>
              <a:t>Without a stru</a:t>
            </a:r>
            <a:r>
              <a:rPr lang="en-US" b="true" sz="3200" spc="28" strike="noStrike" u="none">
                <a:solidFill>
                  <a:srgbClr val="000001"/>
                </a:solidFill>
                <a:latin typeface="Quicksand Bold"/>
                <a:ea typeface="Quicksand Bold"/>
                <a:cs typeface="Quicksand Bold"/>
                <a:sym typeface="Quicksand Bold"/>
              </a:rPr>
              <a:t>ctured</a:t>
            </a:r>
            <a:r>
              <a:rPr lang="en-US" b="true" sz="3200" spc="28" strike="noStrike" u="none">
                <a:solidFill>
                  <a:srgbClr val="000001"/>
                </a:solidFill>
                <a:latin typeface="Quicksand Bold"/>
                <a:ea typeface="Quicksand Bold"/>
                <a:cs typeface="Quicksand Bold"/>
                <a:sym typeface="Quicksand Bold"/>
              </a:rPr>
              <a:t> database, administrators s</a:t>
            </a:r>
            <a:r>
              <a:rPr lang="en-US" b="true" sz="3200" spc="28" strike="noStrike" u="none">
                <a:solidFill>
                  <a:srgbClr val="000001"/>
                </a:solidFill>
                <a:latin typeface="Quicksand Bold"/>
                <a:ea typeface="Quicksand Bold"/>
                <a:cs typeface="Quicksand Bold"/>
                <a:sym typeface="Quicksand Bold"/>
              </a:rPr>
              <a:t>truggle</a:t>
            </a:r>
            <a:r>
              <a:rPr lang="en-US" b="true" sz="3200" spc="28" strike="noStrike" u="none">
                <a:solidFill>
                  <a:srgbClr val="000001"/>
                </a:solidFill>
                <a:latin typeface="Quicksand Bold"/>
                <a:ea typeface="Quicksand Bold"/>
                <a:cs typeface="Quicksand Bold"/>
                <a:sym typeface="Quicksand Bold"/>
              </a:rPr>
              <a:t> </a:t>
            </a:r>
            <a:r>
              <a:rPr lang="en-US" b="true" sz="3200" spc="28" strike="noStrike" u="none">
                <a:solidFill>
                  <a:srgbClr val="000001"/>
                </a:solidFill>
                <a:latin typeface="Quicksand Bold"/>
                <a:ea typeface="Quicksand Bold"/>
                <a:cs typeface="Quicksand Bold"/>
                <a:sym typeface="Quicksand Bold"/>
              </a:rPr>
              <a:t>to t</a:t>
            </a:r>
            <a:r>
              <a:rPr lang="en-US" b="true" sz="3200" spc="28" strike="noStrike" u="none">
                <a:solidFill>
                  <a:srgbClr val="000001"/>
                </a:solidFill>
                <a:latin typeface="Quicksand Bold"/>
                <a:ea typeface="Quicksand Bold"/>
                <a:cs typeface="Quicksand Bold"/>
                <a:sym typeface="Quicksand Bold"/>
              </a:rPr>
              <a:t>rack r</a:t>
            </a:r>
            <a:r>
              <a:rPr lang="en-US" b="true" sz="3200" spc="28" strike="noStrike" u="none">
                <a:solidFill>
                  <a:srgbClr val="000001"/>
                </a:solidFill>
                <a:latin typeface="Quicksand Bold"/>
                <a:ea typeface="Quicksand Bold"/>
                <a:cs typeface="Quicksand Bold"/>
                <a:sym typeface="Quicksand Bold"/>
              </a:rPr>
              <a:t>eport</a:t>
            </a:r>
            <a:r>
              <a:rPr lang="en-US" b="true" sz="3200" spc="28" strike="noStrike" u="none">
                <a:solidFill>
                  <a:srgbClr val="000001"/>
                </a:solidFill>
                <a:latin typeface="Quicksand Bold"/>
                <a:ea typeface="Quicksand Bold"/>
                <a:cs typeface="Quicksand Bold"/>
                <a:sym typeface="Quicksand Bold"/>
              </a:rPr>
              <a:t>s, m</a:t>
            </a:r>
            <a:r>
              <a:rPr lang="en-US" b="true" sz="3200" spc="28" strike="noStrike" u="none">
                <a:solidFill>
                  <a:srgbClr val="000001"/>
                </a:solidFill>
                <a:latin typeface="Quicksand Bold"/>
                <a:ea typeface="Quicksand Bold"/>
                <a:cs typeface="Quicksand Bold"/>
                <a:sym typeface="Quicksand Bold"/>
              </a:rPr>
              <a:t>odera</a:t>
            </a:r>
            <a:r>
              <a:rPr lang="en-US" b="true" sz="3200" spc="28" strike="noStrike" u="none">
                <a:solidFill>
                  <a:srgbClr val="000001"/>
                </a:solidFill>
                <a:latin typeface="Quicksand Bold"/>
                <a:ea typeface="Quicksand Bold"/>
                <a:cs typeface="Quicksand Bold"/>
                <a:sym typeface="Quicksand Bold"/>
              </a:rPr>
              <a:t>te </a:t>
            </a:r>
            <a:r>
              <a:rPr lang="en-US" b="true" sz="3200" spc="28" strike="noStrike" u="none">
                <a:solidFill>
                  <a:srgbClr val="000001"/>
                </a:solidFill>
                <a:latin typeface="Quicksand Bold"/>
                <a:ea typeface="Quicksand Bold"/>
                <a:cs typeface="Quicksand Bold"/>
                <a:sym typeface="Quicksand Bold"/>
              </a:rPr>
              <a:t>in</a:t>
            </a:r>
            <a:r>
              <a:rPr lang="en-US" b="true" sz="3200" spc="28" strike="noStrike" u="none">
                <a:solidFill>
                  <a:srgbClr val="000001"/>
                </a:solidFill>
                <a:latin typeface="Quicksand Bold"/>
                <a:ea typeface="Quicksand Bold"/>
                <a:cs typeface="Quicksand Bold"/>
                <a:sym typeface="Quicksand Bold"/>
              </a:rPr>
              <a:t>a</a:t>
            </a:r>
            <a:r>
              <a:rPr lang="en-US" b="true" sz="3200" spc="28" strike="noStrike" u="none">
                <a:solidFill>
                  <a:srgbClr val="000001"/>
                </a:solidFill>
                <a:latin typeface="Quicksand Bold"/>
                <a:ea typeface="Quicksand Bold"/>
                <a:cs typeface="Quicksand Bold"/>
                <a:sym typeface="Quicksand Bold"/>
              </a:rPr>
              <a:t>ppropriat</a:t>
            </a:r>
            <a:r>
              <a:rPr lang="en-US" b="true" sz="3200" spc="28" strike="noStrike" u="none">
                <a:solidFill>
                  <a:srgbClr val="000001"/>
                </a:solidFill>
                <a:latin typeface="Quicksand Bold"/>
                <a:ea typeface="Quicksand Bold"/>
                <a:cs typeface="Quicksand Bold"/>
                <a:sym typeface="Quicksand Bold"/>
              </a:rPr>
              <a:t>e content, and prioritize important posts. WhongNaiMor n</a:t>
            </a:r>
            <a:r>
              <a:rPr lang="en-US" b="true" sz="3200" spc="28" strike="noStrike" u="none">
                <a:solidFill>
                  <a:srgbClr val="000001"/>
                </a:solidFill>
                <a:latin typeface="Quicksand Bold"/>
                <a:ea typeface="Quicksand Bold"/>
                <a:cs typeface="Quicksand Bold"/>
                <a:sym typeface="Quicksand Bold"/>
              </a:rPr>
              <a:t>eed</a:t>
            </a:r>
            <a:r>
              <a:rPr lang="en-US" b="true" sz="3200" spc="28" strike="noStrike" u="none">
                <a:solidFill>
                  <a:srgbClr val="000001"/>
                </a:solidFill>
                <a:latin typeface="Quicksand Bold"/>
                <a:ea typeface="Quicksand Bold"/>
                <a:cs typeface="Quicksand Bold"/>
                <a:sym typeface="Quicksand Bold"/>
              </a:rPr>
              <a:t>s a centralized dat</a:t>
            </a:r>
            <a:r>
              <a:rPr lang="en-US" b="true" sz="3200" spc="28" strike="noStrike" u="none">
                <a:solidFill>
                  <a:srgbClr val="000001"/>
                </a:solidFill>
                <a:latin typeface="Quicksand Bold"/>
                <a:ea typeface="Quicksand Bold"/>
                <a:cs typeface="Quicksand Bold"/>
                <a:sym typeface="Quicksand Bold"/>
              </a:rPr>
              <a:t>ab</a:t>
            </a:r>
            <a:r>
              <a:rPr lang="en-US" b="true" sz="3200" spc="28" strike="noStrike" u="none">
                <a:solidFill>
                  <a:srgbClr val="000001"/>
                </a:solidFill>
                <a:latin typeface="Quicksand Bold"/>
                <a:ea typeface="Quicksand Bold"/>
                <a:cs typeface="Quicksand Bold"/>
                <a:sym typeface="Quicksand Bold"/>
              </a:rPr>
              <a:t>ase to improve information access and</a:t>
            </a:r>
            <a:r>
              <a:rPr lang="en-US" b="true" sz="3200" spc="28" strike="noStrike" u="none">
                <a:solidFill>
                  <a:srgbClr val="000001"/>
                </a:solidFill>
                <a:latin typeface="Quicksand Bold"/>
                <a:ea typeface="Quicksand Bold"/>
                <a:cs typeface="Quicksand Bold"/>
                <a:sym typeface="Quicksand Bold"/>
              </a:rPr>
              <a:t> community management</a:t>
            </a:r>
            <a:r>
              <a:rPr lang="en-US" b="true" sz="3200" spc="28" strike="noStrike" u="none">
                <a:solidFill>
                  <a:srgbClr val="000001"/>
                </a:solidFill>
                <a:latin typeface="Quicksand Bold"/>
                <a:ea typeface="Quicksand Bold"/>
                <a:cs typeface="Quicksand Bold"/>
                <a:sym typeface="Quicksand Bold"/>
              </a:rPr>
              <a:t>.</a:t>
            </a:r>
          </a:p>
          <a:p>
            <a:pPr algn="l" marL="0" indent="0" lvl="0">
              <a:lnSpc>
                <a:spcPts val="4352"/>
              </a:lnSpc>
            </a:pPr>
          </a:p>
          <a:p>
            <a:pPr algn="l" marL="0" indent="0" lvl="0">
              <a:lnSpc>
                <a:spcPts val="435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3884062" y="1063772"/>
            <a:ext cx="10495752" cy="1282699"/>
          </a:xfrm>
          <a:prstGeom prst="rect">
            <a:avLst/>
          </a:prstGeom>
        </p:spPr>
        <p:txBody>
          <a:bodyPr anchor="t" rtlCol="false" tIns="0" lIns="0" bIns="0" rIns="0">
            <a:spAutoFit/>
          </a:bodyPr>
          <a:lstStyle/>
          <a:p>
            <a:pPr algn="ctr">
              <a:lnSpc>
                <a:spcPts val="9399"/>
              </a:lnSpc>
            </a:pPr>
            <a:r>
              <a:rPr lang="en-US" sz="9999" spc="-499">
                <a:solidFill>
                  <a:srgbClr val="FFFFFF"/>
                </a:solidFill>
                <a:latin typeface="210 클레이토이"/>
                <a:ea typeface="210 클레이토이"/>
                <a:cs typeface="210 클레이토이"/>
                <a:sym typeface="210 클레이토이"/>
              </a:rPr>
              <a:t>MOTIVATION</a:t>
            </a:r>
          </a:p>
        </p:txBody>
      </p:sp>
      <p:sp>
        <p:nvSpPr>
          <p:cNvPr name="Freeform 12" id="12"/>
          <p:cNvSpPr/>
          <p:nvPr/>
        </p:nvSpPr>
        <p:spPr>
          <a:xfrm flipH="false" flipV="false" rot="0">
            <a:off x="15656683" y="-3461388"/>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631297">
            <a:off x="15810702" y="794357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977479" y="-641700"/>
            <a:ext cx="4149033" cy="3779392"/>
          </a:xfrm>
          <a:custGeom>
            <a:avLst/>
            <a:gdLst/>
            <a:ahLst/>
            <a:cxnLst/>
            <a:rect r="r" b="b" t="t" l="l"/>
            <a:pathLst>
              <a:path h="3779392" w="4149033">
                <a:moveTo>
                  <a:pt x="0" y="0"/>
                </a:moveTo>
                <a:lnTo>
                  <a:pt x="4149033" y="0"/>
                </a:lnTo>
                <a:lnTo>
                  <a:pt x="4149033" y="3779392"/>
                </a:lnTo>
                <a:lnTo>
                  <a:pt x="0" y="37793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8" id="18"/>
          <p:cNvGrpSpPr/>
          <p:nvPr/>
        </p:nvGrpSpPr>
        <p:grpSpPr>
          <a:xfrm rot="0">
            <a:off x="1605145" y="2813182"/>
            <a:ext cx="15077710" cy="8396838"/>
            <a:chOff x="0" y="0"/>
            <a:chExt cx="3529450" cy="1965565"/>
          </a:xfrm>
        </p:grpSpPr>
        <p:sp>
          <p:nvSpPr>
            <p:cNvPr name="Freeform 19" id="19"/>
            <p:cNvSpPr/>
            <p:nvPr/>
          </p:nvSpPr>
          <p:spPr>
            <a:xfrm flipH="false" flipV="false" rot="0">
              <a:off x="0" y="0"/>
              <a:ext cx="3529450" cy="1965565"/>
            </a:xfrm>
            <a:custGeom>
              <a:avLst/>
              <a:gdLst/>
              <a:ahLst/>
              <a:cxnLst/>
              <a:rect r="r" b="b" t="t" l="l"/>
              <a:pathLst>
                <a:path h="1965565" w="3529450">
                  <a:moveTo>
                    <a:pt x="16431" y="0"/>
                  </a:moveTo>
                  <a:lnTo>
                    <a:pt x="3513020" y="0"/>
                  </a:lnTo>
                  <a:cubicBezTo>
                    <a:pt x="3522094" y="0"/>
                    <a:pt x="3529450" y="7356"/>
                    <a:pt x="3529450" y="16431"/>
                  </a:cubicBezTo>
                  <a:lnTo>
                    <a:pt x="3529450" y="1949135"/>
                  </a:lnTo>
                  <a:cubicBezTo>
                    <a:pt x="3529450" y="1958209"/>
                    <a:pt x="3522094" y="1965565"/>
                    <a:pt x="3513020" y="1965565"/>
                  </a:cubicBezTo>
                  <a:lnTo>
                    <a:pt x="16431" y="1965565"/>
                  </a:lnTo>
                  <a:cubicBezTo>
                    <a:pt x="7356" y="1965565"/>
                    <a:pt x="0" y="1958209"/>
                    <a:pt x="0" y="1949135"/>
                  </a:cubicBezTo>
                  <a:lnTo>
                    <a:pt x="0" y="16431"/>
                  </a:lnTo>
                  <a:cubicBezTo>
                    <a:pt x="0" y="7356"/>
                    <a:pt x="7356" y="0"/>
                    <a:pt x="16431" y="0"/>
                  </a:cubicBezTo>
                  <a:close/>
                </a:path>
              </a:pathLst>
            </a:custGeom>
            <a:solidFill>
              <a:srgbClr val="9EB6B6"/>
            </a:solidFill>
          </p:spPr>
        </p:sp>
        <p:sp>
          <p:nvSpPr>
            <p:cNvPr name="TextBox 20" id="20"/>
            <p:cNvSpPr txBox="true"/>
            <p:nvPr/>
          </p:nvSpPr>
          <p:spPr>
            <a:xfrm>
              <a:off x="0" y="-38100"/>
              <a:ext cx="3529450" cy="2003665"/>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2" id="22"/>
          <p:cNvGrpSpPr/>
          <p:nvPr/>
        </p:nvGrpSpPr>
        <p:grpSpPr>
          <a:xfrm rot="0">
            <a:off x="1826492" y="3054284"/>
            <a:ext cx="14610891" cy="9902538"/>
            <a:chOff x="0" y="0"/>
            <a:chExt cx="3420176" cy="2318026"/>
          </a:xfrm>
        </p:grpSpPr>
        <p:sp>
          <p:nvSpPr>
            <p:cNvPr name="Freeform 23" id="23"/>
            <p:cNvSpPr/>
            <p:nvPr/>
          </p:nvSpPr>
          <p:spPr>
            <a:xfrm flipH="false" flipV="false" rot="0">
              <a:off x="0" y="0"/>
              <a:ext cx="3420176" cy="2318026"/>
            </a:xfrm>
            <a:custGeom>
              <a:avLst/>
              <a:gdLst/>
              <a:ahLst/>
              <a:cxnLst/>
              <a:rect r="r" b="b" t="t" l="l"/>
              <a:pathLst>
                <a:path h="2318026" w="3420176">
                  <a:moveTo>
                    <a:pt x="16956" y="0"/>
                  </a:moveTo>
                  <a:lnTo>
                    <a:pt x="3403220" y="0"/>
                  </a:lnTo>
                  <a:cubicBezTo>
                    <a:pt x="3412584" y="0"/>
                    <a:pt x="3420176" y="7591"/>
                    <a:pt x="3420176" y="16956"/>
                  </a:cubicBezTo>
                  <a:lnTo>
                    <a:pt x="3420176" y="2301070"/>
                  </a:lnTo>
                  <a:cubicBezTo>
                    <a:pt x="3420176" y="2305567"/>
                    <a:pt x="3418389" y="2309880"/>
                    <a:pt x="3415209" y="2313059"/>
                  </a:cubicBezTo>
                  <a:cubicBezTo>
                    <a:pt x="3412030" y="2316239"/>
                    <a:pt x="3407717" y="2318026"/>
                    <a:pt x="3403220" y="2318026"/>
                  </a:cubicBezTo>
                  <a:lnTo>
                    <a:pt x="16956" y="2318026"/>
                  </a:lnTo>
                  <a:cubicBezTo>
                    <a:pt x="7591" y="2318026"/>
                    <a:pt x="0" y="2310434"/>
                    <a:pt x="0" y="2301070"/>
                  </a:cubicBezTo>
                  <a:lnTo>
                    <a:pt x="0" y="16956"/>
                  </a:lnTo>
                  <a:cubicBezTo>
                    <a:pt x="0" y="7591"/>
                    <a:pt x="7591" y="0"/>
                    <a:pt x="16956" y="0"/>
                  </a:cubicBezTo>
                  <a:close/>
                </a:path>
              </a:pathLst>
            </a:custGeom>
            <a:solidFill>
              <a:srgbClr val="FFFFFF"/>
            </a:solidFill>
            <a:ln w="47625" cap="rnd">
              <a:solidFill>
                <a:srgbClr val="998178"/>
              </a:solidFill>
              <a:prstDash val="solid"/>
              <a:round/>
            </a:ln>
          </p:spPr>
        </p:sp>
        <p:sp>
          <p:nvSpPr>
            <p:cNvPr name="TextBox 24" id="24"/>
            <p:cNvSpPr txBox="true"/>
            <p:nvPr/>
          </p:nvSpPr>
          <p:spPr>
            <a:xfrm>
              <a:off x="0" y="-38100"/>
              <a:ext cx="3420176" cy="2356126"/>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3233772" y="3765107"/>
            <a:ext cx="11820455" cy="7154926"/>
          </a:xfrm>
          <a:prstGeom prst="rect">
            <a:avLst/>
          </a:prstGeom>
        </p:spPr>
        <p:txBody>
          <a:bodyPr anchor="t" rtlCol="false" tIns="0" lIns="0" bIns="0" rIns="0">
            <a:spAutoFit/>
          </a:bodyPr>
          <a:lstStyle/>
          <a:p>
            <a:pPr algn="l" marL="0" indent="0" lvl="0">
              <a:lnSpc>
                <a:spcPts val="4352"/>
              </a:lnSpc>
            </a:pPr>
            <a:r>
              <a:rPr lang="en-US" b="true" sz="3200" spc="28">
                <a:solidFill>
                  <a:srgbClr val="000001"/>
                </a:solidFill>
                <a:latin typeface="Quicksand Bold"/>
                <a:ea typeface="Quicksand Bold"/>
                <a:cs typeface="Quicksand Bold"/>
                <a:sym typeface="Quicksand Bold"/>
              </a:rPr>
              <a:t>A cent</a:t>
            </a:r>
            <a:r>
              <a:rPr lang="en-US" b="true" sz="3200" spc="28" strike="noStrike" u="none">
                <a:solidFill>
                  <a:srgbClr val="000001"/>
                </a:solidFill>
                <a:latin typeface="Quicksand Bold"/>
                <a:ea typeface="Quicksand Bold"/>
                <a:cs typeface="Quicksand Bold"/>
                <a:sym typeface="Quicksand Bold"/>
              </a:rPr>
              <a:t>ralized database will organize users, posts, comments, reactions, and reports, making information easier to search and manage. It will help administrators moderate content and prioritize important posts while helping students find relevant information.</a:t>
            </a:r>
          </a:p>
          <a:p>
            <a:pPr algn="l" marL="0" indent="0" lvl="0">
              <a:lnSpc>
                <a:spcPts val="4352"/>
              </a:lnSpc>
            </a:pPr>
          </a:p>
          <a:p>
            <a:pPr algn="l" marL="0" indent="0" lvl="0">
              <a:lnSpc>
                <a:spcPts val="4352"/>
              </a:lnSpc>
            </a:pPr>
            <a:r>
              <a:rPr lang="en-US" b="true" sz="3200" spc="28" strike="noStrike" u="none">
                <a:solidFill>
                  <a:srgbClr val="000001"/>
                </a:solidFill>
                <a:latin typeface="Quicksand Bold"/>
                <a:ea typeface="Quicksand Bold"/>
                <a:cs typeface="Quicksand Bold"/>
                <a:sym typeface="Quicksand Bold"/>
              </a:rPr>
              <a:t>The database will also support future improvements through usage data, making WhongNaiMor more useful for the CMU community.</a:t>
            </a:r>
          </a:p>
          <a:p>
            <a:pPr algn="l" marL="0" indent="0" lvl="0">
              <a:lnSpc>
                <a:spcPts val="4352"/>
              </a:lnSpc>
            </a:pPr>
          </a:p>
          <a:p>
            <a:pPr algn="l" marL="0" indent="0" lvl="0">
              <a:lnSpc>
                <a:spcPts val="4352"/>
              </a:lnSpc>
            </a:pPr>
          </a:p>
          <a:p>
            <a:pPr algn="l" marL="0" indent="0" lvl="0">
              <a:lnSpc>
                <a:spcPts val="4352"/>
              </a:lnSpc>
            </a:pPr>
          </a:p>
          <a:p>
            <a:pPr algn="l" marL="0" indent="0" lvl="0">
              <a:lnSpc>
                <a:spcPts val="435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899921" y="3209906"/>
            <a:ext cx="16713409" cy="4026042"/>
          </a:xfrm>
          <a:prstGeom prst="rect">
            <a:avLst/>
          </a:prstGeom>
        </p:spPr>
        <p:txBody>
          <a:bodyPr anchor="t" rtlCol="false" tIns="0" lIns="0" bIns="0" rIns="0">
            <a:spAutoFit/>
          </a:bodyPr>
          <a:lstStyle/>
          <a:p>
            <a:pPr algn="ctr">
              <a:lnSpc>
                <a:spcPts val="11844"/>
              </a:lnSpc>
            </a:pPr>
            <a:r>
              <a:rPr lang="en-US" sz="12600" spc="-630">
                <a:solidFill>
                  <a:srgbClr val="FFFFFF"/>
                </a:solidFill>
                <a:latin typeface="210 클레이토이"/>
                <a:ea typeface="210 클레이토이"/>
                <a:cs typeface="210 클레이토이"/>
                <a:sym typeface="210 클레이토이"/>
              </a:rPr>
              <a:t>BUSINESS RULES</a:t>
            </a:r>
          </a:p>
          <a:p>
            <a:pPr algn="ctr">
              <a:lnSpc>
                <a:spcPts val="7332"/>
              </a:lnSpc>
            </a:pPr>
            <a:r>
              <a:rPr lang="en-US" sz="7800" spc="-390">
                <a:solidFill>
                  <a:srgbClr val="FFFFFF"/>
                </a:solidFill>
                <a:latin typeface="210 클레이토이"/>
                <a:ea typeface="210 클레이토이"/>
                <a:cs typeface="210 클레이토이"/>
                <a:sym typeface="210 클레이토이"/>
              </a:rPr>
              <a:t>AND</a:t>
            </a:r>
          </a:p>
          <a:p>
            <a:pPr algn="ctr">
              <a:lnSpc>
                <a:spcPts val="11844"/>
              </a:lnSpc>
            </a:pPr>
            <a:r>
              <a:rPr lang="en-US" sz="12600" spc="-630">
                <a:solidFill>
                  <a:srgbClr val="FFFFFF"/>
                </a:solidFill>
                <a:latin typeface="210 클레이토이"/>
                <a:ea typeface="210 클레이토이"/>
                <a:cs typeface="210 클레이토이"/>
                <a:sym typeface="210 클레이토이"/>
              </a:rPr>
              <a:t>DATABASE MODELING</a:t>
            </a:r>
          </a:p>
        </p:txBody>
      </p:sp>
      <p:sp>
        <p:nvSpPr>
          <p:cNvPr name="Freeform 12" id="12"/>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1294588" y="822788"/>
            <a:ext cx="8036360" cy="2108111"/>
          </a:xfrm>
          <a:prstGeom prst="rect">
            <a:avLst/>
          </a:prstGeom>
        </p:spPr>
        <p:txBody>
          <a:bodyPr anchor="t" rtlCol="false" tIns="0" lIns="0" bIns="0" rIns="0">
            <a:spAutoFit/>
          </a:bodyPr>
          <a:lstStyle/>
          <a:p>
            <a:pPr algn="ctr">
              <a:lnSpc>
                <a:spcPts val="8034"/>
              </a:lnSpc>
            </a:pPr>
            <a:r>
              <a:rPr lang="en-US" sz="8547" spc="-427">
                <a:solidFill>
                  <a:srgbClr val="FFFFFF"/>
                </a:solidFill>
                <a:latin typeface="210 클레이토이"/>
                <a:ea typeface="210 클레이토이"/>
                <a:cs typeface="210 클레이토이"/>
                <a:sym typeface="210 클레이토이"/>
              </a:rPr>
              <a:t>USERS, SCOPES AND OBJECTIVES</a:t>
            </a:r>
          </a:p>
        </p:txBody>
      </p:sp>
      <p:sp>
        <p:nvSpPr>
          <p:cNvPr name="Freeform 18" id="18"/>
          <p:cNvSpPr/>
          <p:nvPr/>
        </p:nvSpPr>
        <p:spPr>
          <a:xfrm flipH="false" flipV="false" rot="0">
            <a:off x="1825707" y="2799085"/>
            <a:ext cx="6695646" cy="730434"/>
          </a:xfrm>
          <a:custGeom>
            <a:avLst/>
            <a:gdLst/>
            <a:ahLst/>
            <a:cxnLst/>
            <a:rect r="r" b="b" t="t" l="l"/>
            <a:pathLst>
              <a:path h="730434" w="6695646">
                <a:moveTo>
                  <a:pt x="0" y="0"/>
                </a:moveTo>
                <a:lnTo>
                  <a:pt x="6695646" y="0"/>
                </a:lnTo>
                <a:lnTo>
                  <a:pt x="6695646" y="730435"/>
                </a:lnTo>
                <a:lnTo>
                  <a:pt x="0" y="73043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1016112" y="3980079"/>
            <a:ext cx="8314835" cy="7081424"/>
            <a:chOff x="0" y="0"/>
            <a:chExt cx="2189915" cy="1865066"/>
          </a:xfrm>
        </p:grpSpPr>
        <p:sp>
          <p:nvSpPr>
            <p:cNvPr name="Freeform 22" id="22"/>
            <p:cNvSpPr/>
            <p:nvPr/>
          </p:nvSpPr>
          <p:spPr>
            <a:xfrm flipH="false" flipV="false" rot="0">
              <a:off x="0" y="0"/>
              <a:ext cx="2189915" cy="1865066"/>
            </a:xfrm>
            <a:custGeom>
              <a:avLst/>
              <a:gdLst/>
              <a:ahLst/>
              <a:cxnLst/>
              <a:rect r="r" b="b" t="t" l="l"/>
              <a:pathLst>
                <a:path h="1865066" w="2189915">
                  <a:moveTo>
                    <a:pt x="29795" y="0"/>
                  </a:moveTo>
                  <a:lnTo>
                    <a:pt x="2160120" y="0"/>
                  </a:lnTo>
                  <a:cubicBezTo>
                    <a:pt x="2168022" y="0"/>
                    <a:pt x="2175601" y="3139"/>
                    <a:pt x="2181189" y="8727"/>
                  </a:cubicBezTo>
                  <a:cubicBezTo>
                    <a:pt x="2186776" y="14314"/>
                    <a:pt x="2189915" y="21893"/>
                    <a:pt x="2189915" y="29795"/>
                  </a:cubicBezTo>
                  <a:lnTo>
                    <a:pt x="2189915" y="1835271"/>
                  </a:lnTo>
                  <a:cubicBezTo>
                    <a:pt x="2189915" y="1843173"/>
                    <a:pt x="2186776" y="1850752"/>
                    <a:pt x="2181189" y="1856340"/>
                  </a:cubicBezTo>
                  <a:cubicBezTo>
                    <a:pt x="2175601" y="1861927"/>
                    <a:pt x="2168022" y="1865066"/>
                    <a:pt x="2160120" y="1865066"/>
                  </a:cubicBezTo>
                  <a:lnTo>
                    <a:pt x="29795" y="1865066"/>
                  </a:lnTo>
                  <a:cubicBezTo>
                    <a:pt x="21893" y="1865066"/>
                    <a:pt x="14314" y="1861927"/>
                    <a:pt x="8727" y="1856340"/>
                  </a:cubicBezTo>
                  <a:cubicBezTo>
                    <a:pt x="3139" y="1850752"/>
                    <a:pt x="0" y="1843173"/>
                    <a:pt x="0" y="1835271"/>
                  </a:cubicBezTo>
                  <a:lnTo>
                    <a:pt x="0" y="29795"/>
                  </a:lnTo>
                  <a:cubicBezTo>
                    <a:pt x="0" y="21893"/>
                    <a:pt x="3139" y="14314"/>
                    <a:pt x="8727" y="8727"/>
                  </a:cubicBezTo>
                  <a:cubicBezTo>
                    <a:pt x="14314" y="3139"/>
                    <a:pt x="21893" y="0"/>
                    <a:pt x="29795"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189915" cy="1903166"/>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65145" y="-1689219"/>
            <a:ext cx="8143755" cy="10666260"/>
            <a:chOff x="0" y="0"/>
            <a:chExt cx="2144857" cy="2809221"/>
          </a:xfrm>
        </p:grpSpPr>
        <p:sp>
          <p:nvSpPr>
            <p:cNvPr name="Freeform 25" id="25"/>
            <p:cNvSpPr/>
            <p:nvPr/>
          </p:nvSpPr>
          <p:spPr>
            <a:xfrm flipH="false" flipV="false" rot="0">
              <a:off x="0" y="0"/>
              <a:ext cx="2144857" cy="2809221"/>
            </a:xfrm>
            <a:custGeom>
              <a:avLst/>
              <a:gdLst/>
              <a:ahLst/>
              <a:cxnLst/>
              <a:rect r="r" b="b" t="t" l="l"/>
              <a:pathLst>
                <a:path h="2809221" w="2144857">
                  <a:moveTo>
                    <a:pt x="30421" y="0"/>
                  </a:moveTo>
                  <a:lnTo>
                    <a:pt x="2114436" y="0"/>
                  </a:lnTo>
                  <a:cubicBezTo>
                    <a:pt x="2122504" y="0"/>
                    <a:pt x="2130242" y="3205"/>
                    <a:pt x="2135947" y="8910"/>
                  </a:cubicBezTo>
                  <a:cubicBezTo>
                    <a:pt x="2141652" y="14615"/>
                    <a:pt x="2144857" y="22353"/>
                    <a:pt x="2144857" y="30421"/>
                  </a:cubicBezTo>
                  <a:lnTo>
                    <a:pt x="2144857" y="2778800"/>
                  </a:lnTo>
                  <a:cubicBezTo>
                    <a:pt x="2144857" y="2786868"/>
                    <a:pt x="2141652" y="2794606"/>
                    <a:pt x="2135947" y="2800311"/>
                  </a:cubicBezTo>
                  <a:cubicBezTo>
                    <a:pt x="2130242" y="2806016"/>
                    <a:pt x="2122504" y="2809221"/>
                    <a:pt x="2114436" y="2809221"/>
                  </a:cubicBezTo>
                  <a:lnTo>
                    <a:pt x="30421" y="2809221"/>
                  </a:lnTo>
                  <a:cubicBezTo>
                    <a:pt x="22353" y="2809221"/>
                    <a:pt x="14615" y="2806016"/>
                    <a:pt x="8910" y="2800311"/>
                  </a:cubicBezTo>
                  <a:cubicBezTo>
                    <a:pt x="3205" y="2794606"/>
                    <a:pt x="0" y="2786868"/>
                    <a:pt x="0" y="2778800"/>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2144857" cy="2847321"/>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9851566" y="211820"/>
            <a:ext cx="7645131" cy="4627663"/>
            <a:chOff x="0" y="0"/>
            <a:chExt cx="10193508" cy="6170218"/>
          </a:xfrm>
        </p:grpSpPr>
        <p:grpSp>
          <p:nvGrpSpPr>
            <p:cNvPr name="Group 28" id="28"/>
            <p:cNvGrpSpPr/>
            <p:nvPr/>
          </p:nvGrpSpPr>
          <p:grpSpPr>
            <a:xfrm rot="0">
              <a:off x="0" y="513273"/>
              <a:ext cx="10193508" cy="5656944"/>
              <a:chOff x="0" y="0"/>
              <a:chExt cx="2013533" cy="1117421"/>
            </a:xfrm>
          </p:grpSpPr>
          <p:sp>
            <p:nvSpPr>
              <p:cNvPr name="Freeform 29" id="29"/>
              <p:cNvSpPr/>
              <p:nvPr/>
            </p:nvSpPr>
            <p:spPr>
              <a:xfrm flipH="false" flipV="false" rot="0">
                <a:off x="0" y="0"/>
                <a:ext cx="2013533" cy="1117421"/>
              </a:xfrm>
              <a:custGeom>
                <a:avLst/>
                <a:gdLst/>
                <a:ahLst/>
                <a:cxnLst/>
                <a:rect r="r" b="b" t="t" l="l"/>
                <a:pathLst>
                  <a:path h="1117421" w="2013533">
                    <a:moveTo>
                      <a:pt x="26329" y="0"/>
                    </a:moveTo>
                    <a:lnTo>
                      <a:pt x="1987203" y="0"/>
                    </a:lnTo>
                    <a:cubicBezTo>
                      <a:pt x="1994186" y="0"/>
                      <a:pt x="2000883" y="2774"/>
                      <a:pt x="2005821" y="7712"/>
                    </a:cubicBezTo>
                    <a:cubicBezTo>
                      <a:pt x="2010759" y="12649"/>
                      <a:pt x="2013533" y="19346"/>
                      <a:pt x="2013533" y="26329"/>
                    </a:cubicBezTo>
                    <a:lnTo>
                      <a:pt x="2013533" y="1091092"/>
                    </a:lnTo>
                    <a:cubicBezTo>
                      <a:pt x="2013533" y="1098075"/>
                      <a:pt x="2010759" y="1104772"/>
                      <a:pt x="2005821" y="1109709"/>
                    </a:cubicBezTo>
                    <a:cubicBezTo>
                      <a:pt x="2000883" y="1114647"/>
                      <a:pt x="1994186" y="1117421"/>
                      <a:pt x="1987203" y="1117421"/>
                    </a:cubicBezTo>
                    <a:lnTo>
                      <a:pt x="26329" y="1117421"/>
                    </a:lnTo>
                    <a:cubicBezTo>
                      <a:pt x="19346" y="1117421"/>
                      <a:pt x="12649" y="1114647"/>
                      <a:pt x="7712" y="1109709"/>
                    </a:cubicBezTo>
                    <a:cubicBezTo>
                      <a:pt x="2774" y="1104772"/>
                      <a:pt x="0" y="1098075"/>
                      <a:pt x="0" y="1091092"/>
                    </a:cubicBezTo>
                    <a:lnTo>
                      <a:pt x="0" y="26329"/>
                    </a:lnTo>
                    <a:cubicBezTo>
                      <a:pt x="0" y="19346"/>
                      <a:pt x="2774" y="12649"/>
                      <a:pt x="7712" y="7712"/>
                    </a:cubicBezTo>
                    <a:cubicBezTo>
                      <a:pt x="12649" y="2774"/>
                      <a:pt x="19346" y="0"/>
                      <a:pt x="26329" y="0"/>
                    </a:cubicBezTo>
                    <a:close/>
                  </a:path>
                </a:pathLst>
              </a:custGeom>
              <a:solidFill>
                <a:srgbClr val="FFFFFF"/>
              </a:solidFill>
              <a:ln w="38100" cap="rnd">
                <a:solidFill>
                  <a:srgbClr val="BF9585"/>
                </a:solidFill>
                <a:prstDash val="lgDash"/>
                <a:round/>
              </a:ln>
            </p:spPr>
          </p:sp>
          <p:sp>
            <p:nvSpPr>
              <p:cNvPr name="TextBox 30" id="30"/>
              <p:cNvSpPr txBox="true"/>
              <p:nvPr/>
            </p:nvSpPr>
            <p:spPr>
              <a:xfrm>
                <a:off x="0" y="-38100"/>
                <a:ext cx="2013533" cy="115552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1" id="31"/>
            <p:cNvSpPr txBox="true"/>
            <p:nvPr/>
          </p:nvSpPr>
          <p:spPr>
            <a:xfrm rot="0">
              <a:off x="371024" y="1311106"/>
              <a:ext cx="8831624" cy="4436195"/>
            </a:xfrm>
            <a:prstGeom prst="rect">
              <a:avLst/>
            </a:prstGeom>
          </p:spPr>
          <p:txBody>
            <a:bodyPr anchor="t" rtlCol="false" tIns="0" lIns="0" bIns="0" rIns="0">
              <a:spAutoFit/>
            </a:bodyPr>
            <a:lstStyle/>
            <a:p>
              <a:pPr algn="l" marL="474979" indent="-237490" lvl="1">
                <a:lnSpc>
                  <a:spcPts val="2991"/>
                </a:lnSpc>
                <a:buFont typeface="Arial"/>
                <a:buChar char="•"/>
              </a:pPr>
              <a:r>
                <a:rPr lang="en-US" b="true" sz="2199" spc="19">
                  <a:solidFill>
                    <a:srgbClr val="7B6861"/>
                  </a:solidFill>
                  <a:latin typeface="Quicksand Medium"/>
                  <a:ea typeface="Quicksand Medium"/>
                  <a:cs typeface="Quicksand Medium"/>
                  <a:sym typeface="Quicksand Medium"/>
                </a:rPr>
                <a:t>Create a student-centered community platform for CMU</a:t>
              </a:r>
              <a:r>
                <a:rPr lang="en-US" b="true" sz="2199" spc="19" strike="noStrike" u="none">
                  <a:solidFill>
                    <a:srgbClr val="7B6861"/>
                  </a:solidFill>
                  <a:latin typeface="Quicksand Medium"/>
                  <a:ea typeface="Quicksand Medium"/>
                  <a:cs typeface="Quicksand Medium"/>
                  <a:sym typeface="Quicksand Medium"/>
                </a:rPr>
                <a:t> s</a:t>
              </a:r>
              <a:r>
                <a:rPr lang="en-US" b="true" sz="2199" spc="19" strike="noStrike" u="none">
                  <a:solidFill>
                    <a:srgbClr val="7B6861"/>
                  </a:solidFill>
                  <a:latin typeface="Quicksand Medium"/>
                  <a:ea typeface="Quicksand Medium"/>
                  <a:cs typeface="Quicksand Medium"/>
                  <a:sym typeface="Quicksand Medium"/>
                </a:rPr>
                <a:t>t</a:t>
              </a:r>
              <a:r>
                <a:rPr lang="en-US" b="true" sz="2199" spc="19" strike="noStrike" u="none">
                  <a:solidFill>
                    <a:srgbClr val="7B6861"/>
                  </a:solidFill>
                  <a:latin typeface="Quicksand Medium"/>
                  <a:ea typeface="Quicksand Medium"/>
                  <a:cs typeface="Quicksand Medium"/>
                  <a:sym typeface="Quicksand Medium"/>
                </a:rPr>
                <a:t>udents.</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Enable secure access through CMU accounts.</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Highlight im</a:t>
              </a:r>
              <a:r>
                <a:rPr lang="en-US" b="true" sz="2199" spc="19" strike="noStrike" u="none">
                  <a:solidFill>
                    <a:srgbClr val="7B6861"/>
                  </a:solidFill>
                  <a:latin typeface="Quicksand Medium"/>
                  <a:ea typeface="Quicksand Medium"/>
                  <a:cs typeface="Quicksand Medium"/>
                  <a:sym typeface="Quicksand Medium"/>
                </a:rPr>
                <a:t>po</a:t>
              </a:r>
              <a:r>
                <a:rPr lang="en-US" b="true" sz="2199" spc="19" strike="noStrike" u="none">
                  <a:solidFill>
                    <a:srgbClr val="7B6861"/>
                  </a:solidFill>
                  <a:latin typeface="Quicksand Medium"/>
                  <a:ea typeface="Quicksand Medium"/>
                  <a:cs typeface="Quicksand Medium"/>
                  <a:sym typeface="Quicksand Medium"/>
                </a:rPr>
                <a:t>rtant </a:t>
              </a:r>
              <a:r>
                <a:rPr lang="en-US" b="true" sz="2199" spc="19" strike="noStrike" u="none">
                  <a:solidFill>
                    <a:srgbClr val="7B6861"/>
                  </a:solidFill>
                  <a:latin typeface="Quicksand Medium"/>
                  <a:ea typeface="Quicksand Medium"/>
                  <a:cs typeface="Quicksand Medium"/>
                  <a:sym typeface="Quicksand Medium"/>
                </a:rPr>
                <a:t>p</a:t>
              </a:r>
              <a:r>
                <a:rPr lang="en-US" b="true" sz="2199" spc="19" strike="noStrike" u="none">
                  <a:solidFill>
                    <a:srgbClr val="7B6861"/>
                  </a:solidFill>
                  <a:latin typeface="Quicksand Medium"/>
                  <a:ea typeface="Quicksand Medium"/>
                  <a:cs typeface="Quicksand Medium"/>
                  <a:sym typeface="Quicksand Medium"/>
                </a:rPr>
                <a:t>osts for easi</a:t>
              </a:r>
              <a:r>
                <a:rPr lang="en-US" b="true" sz="2199" spc="19" strike="noStrike" u="none">
                  <a:solidFill>
                    <a:srgbClr val="7B6861"/>
                  </a:solidFill>
                  <a:latin typeface="Quicksand Medium"/>
                  <a:ea typeface="Quicksand Medium"/>
                  <a:cs typeface="Quicksand Medium"/>
                  <a:sym typeface="Quicksand Medium"/>
                </a:rPr>
                <a:t>er d</a:t>
              </a:r>
              <a:r>
                <a:rPr lang="en-US" b="true" sz="2199" spc="19" strike="noStrike" u="none">
                  <a:solidFill>
                    <a:srgbClr val="7B6861"/>
                  </a:solidFill>
                  <a:latin typeface="Quicksand Medium"/>
                  <a:ea typeface="Quicksand Medium"/>
                  <a:cs typeface="Quicksand Medium"/>
                  <a:sym typeface="Quicksand Medium"/>
                </a:rPr>
                <a:t>i</a:t>
              </a:r>
              <a:r>
                <a:rPr lang="en-US" b="true" sz="2199" spc="19" strike="noStrike" u="none">
                  <a:solidFill>
                    <a:srgbClr val="7B6861"/>
                  </a:solidFill>
                  <a:latin typeface="Quicksand Medium"/>
                  <a:ea typeface="Quicksand Medium"/>
                  <a:cs typeface="Quicksand Medium"/>
                  <a:sym typeface="Quicksand Medium"/>
                </a:rPr>
                <a:t>scov</a:t>
              </a:r>
              <a:r>
                <a:rPr lang="en-US" b="true" sz="2199" spc="19" strike="noStrike" u="none">
                  <a:solidFill>
                    <a:srgbClr val="7B6861"/>
                  </a:solidFill>
                  <a:latin typeface="Quicksand Medium"/>
                  <a:ea typeface="Quicksand Medium"/>
                  <a:cs typeface="Quicksand Medium"/>
                  <a:sym typeface="Quicksand Medium"/>
                </a:rPr>
                <a:t>ery by filtering out inappropriate content and prioritizing them.</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Allow users </a:t>
              </a:r>
              <a:r>
                <a:rPr lang="en-US" b="true" sz="2199" spc="19" strike="noStrike" u="none">
                  <a:solidFill>
                    <a:srgbClr val="7B6861"/>
                  </a:solidFill>
                  <a:latin typeface="Quicksand Medium"/>
                  <a:ea typeface="Quicksand Medium"/>
                  <a:cs typeface="Quicksand Medium"/>
                  <a:sym typeface="Quicksand Medium"/>
                </a:rPr>
                <a:t>t</a:t>
              </a:r>
              <a:r>
                <a:rPr lang="en-US" b="true" sz="2199" spc="19" strike="noStrike" u="none">
                  <a:solidFill>
                    <a:srgbClr val="7B6861"/>
                  </a:solidFill>
                  <a:latin typeface="Quicksand Medium"/>
                  <a:ea typeface="Quicksand Medium"/>
                  <a:cs typeface="Quicksand Medium"/>
                  <a:sym typeface="Quicksand Medium"/>
                </a:rPr>
                <a:t>o shar</a:t>
              </a:r>
              <a:r>
                <a:rPr lang="en-US" b="true" sz="2199" spc="19" strike="noStrike" u="none">
                  <a:solidFill>
                    <a:srgbClr val="7B6861"/>
                  </a:solidFill>
                  <a:latin typeface="Quicksand Medium"/>
                  <a:ea typeface="Quicksand Medium"/>
                  <a:cs typeface="Quicksand Medium"/>
                  <a:sym typeface="Quicksand Medium"/>
                </a:rPr>
                <a:t>e experiences, recommend</a:t>
              </a:r>
              <a:r>
                <a:rPr lang="en-US" b="true" sz="2199" spc="19" strike="noStrike" u="none">
                  <a:solidFill>
                    <a:srgbClr val="7B6861"/>
                  </a:solidFill>
                  <a:latin typeface="Quicksand Medium"/>
                  <a:ea typeface="Quicksand Medium"/>
                  <a:cs typeface="Quicksand Medium"/>
                  <a:sym typeface="Quicksand Medium"/>
                </a:rPr>
                <a:t>a</a:t>
              </a:r>
              <a:r>
                <a:rPr lang="en-US" b="true" sz="2199" spc="19" strike="noStrike" u="none">
                  <a:solidFill>
                    <a:srgbClr val="7B6861"/>
                  </a:solidFill>
                  <a:latin typeface="Quicksand Medium"/>
                  <a:ea typeface="Quicksand Medium"/>
                  <a:cs typeface="Quicksand Medium"/>
                  <a:sym typeface="Quicksand Medium"/>
                </a:rPr>
                <a:t>tions, questions, and useful information.</a:t>
              </a:r>
            </a:p>
          </p:txBody>
        </p:sp>
        <p:grpSp>
          <p:nvGrpSpPr>
            <p:cNvPr name="Group 32" id="32"/>
            <p:cNvGrpSpPr/>
            <p:nvPr/>
          </p:nvGrpSpPr>
          <p:grpSpPr>
            <a:xfrm rot="0">
              <a:off x="232105" y="0"/>
              <a:ext cx="8077615" cy="1193814"/>
              <a:chOff x="0" y="0"/>
              <a:chExt cx="1976465" cy="292107"/>
            </a:xfrm>
          </p:grpSpPr>
          <p:sp>
            <p:nvSpPr>
              <p:cNvPr name="Freeform 33" id="33"/>
              <p:cNvSpPr/>
              <p:nvPr/>
            </p:nvSpPr>
            <p:spPr>
              <a:xfrm flipH="false" flipV="false" rot="0">
                <a:off x="0" y="0"/>
                <a:ext cx="1976465" cy="292107"/>
              </a:xfrm>
              <a:custGeom>
                <a:avLst/>
                <a:gdLst/>
                <a:ahLst/>
                <a:cxnLst/>
                <a:rect r="r" b="b" t="t" l="l"/>
                <a:pathLst>
                  <a:path h="292107" w="1976465">
                    <a:moveTo>
                      <a:pt x="26836" y="0"/>
                    </a:moveTo>
                    <a:lnTo>
                      <a:pt x="1949628" y="0"/>
                    </a:lnTo>
                    <a:cubicBezTo>
                      <a:pt x="1964450" y="0"/>
                      <a:pt x="1976465" y="12015"/>
                      <a:pt x="1976465" y="26836"/>
                    </a:cubicBezTo>
                    <a:lnTo>
                      <a:pt x="1976465" y="265271"/>
                    </a:lnTo>
                    <a:cubicBezTo>
                      <a:pt x="1976465" y="280092"/>
                      <a:pt x="1964450" y="292107"/>
                      <a:pt x="1949628" y="292107"/>
                    </a:cubicBezTo>
                    <a:lnTo>
                      <a:pt x="26836" y="292107"/>
                    </a:lnTo>
                    <a:cubicBezTo>
                      <a:pt x="12015" y="292107"/>
                      <a:pt x="0" y="280092"/>
                      <a:pt x="0" y="265271"/>
                    </a:cubicBezTo>
                    <a:lnTo>
                      <a:pt x="0" y="26836"/>
                    </a:lnTo>
                    <a:cubicBezTo>
                      <a:pt x="0" y="12015"/>
                      <a:pt x="12015" y="0"/>
                      <a:pt x="26836" y="0"/>
                    </a:cubicBezTo>
                    <a:close/>
                  </a:path>
                </a:pathLst>
              </a:custGeom>
              <a:solidFill>
                <a:srgbClr val="FFFFFF"/>
              </a:solidFill>
              <a:ln w="38100" cap="rnd">
                <a:solidFill>
                  <a:srgbClr val="BF9585"/>
                </a:solidFill>
                <a:prstDash val="dash"/>
                <a:round/>
              </a:ln>
            </p:spPr>
          </p:sp>
          <p:sp>
            <p:nvSpPr>
              <p:cNvPr name="TextBox 34" id="34"/>
              <p:cNvSpPr txBox="true"/>
              <p:nvPr/>
            </p:nvSpPr>
            <p:spPr>
              <a:xfrm>
                <a:off x="0" y="-38100"/>
                <a:ext cx="1976465" cy="3302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5" id="35"/>
            <p:cNvSpPr txBox="true"/>
            <p:nvPr/>
          </p:nvSpPr>
          <p:spPr>
            <a:xfrm rot="0">
              <a:off x="562615" y="162207"/>
              <a:ext cx="9630893" cy="793200"/>
            </a:xfrm>
            <a:prstGeom prst="rect">
              <a:avLst/>
            </a:prstGeom>
          </p:spPr>
          <p:txBody>
            <a:bodyPr anchor="t" rtlCol="false" tIns="0" lIns="0" bIns="0" rIns="0">
              <a:spAutoFit/>
            </a:bodyPr>
            <a:lstStyle/>
            <a:p>
              <a:pPr algn="l">
                <a:lnSpc>
                  <a:spcPts val="5010"/>
                </a:lnSpc>
              </a:pPr>
              <a:r>
                <a:rPr lang="en-US" sz="3578" spc="-75" b="true">
                  <a:solidFill>
                    <a:srgbClr val="7B6861"/>
                  </a:solidFill>
                  <a:latin typeface="Quicksand Bold"/>
                  <a:ea typeface="Quicksand Bold"/>
                  <a:cs typeface="Quicksand Bold"/>
                  <a:sym typeface="Quicksand Bold"/>
                </a:rPr>
                <a:t>Objective</a:t>
              </a:r>
            </a:p>
          </p:txBody>
        </p:sp>
      </p:grpSp>
      <p:grpSp>
        <p:nvGrpSpPr>
          <p:cNvPr name="Group 36" id="36"/>
          <p:cNvGrpSpPr/>
          <p:nvPr/>
        </p:nvGrpSpPr>
        <p:grpSpPr>
          <a:xfrm rot="0">
            <a:off x="1366370" y="4331496"/>
            <a:ext cx="7614319" cy="2743777"/>
            <a:chOff x="0" y="0"/>
            <a:chExt cx="10152426" cy="3658369"/>
          </a:xfrm>
        </p:grpSpPr>
        <p:grpSp>
          <p:nvGrpSpPr>
            <p:cNvPr name="Group 37" id="37"/>
            <p:cNvGrpSpPr/>
            <p:nvPr/>
          </p:nvGrpSpPr>
          <p:grpSpPr>
            <a:xfrm rot="0">
              <a:off x="0" y="513273"/>
              <a:ext cx="10152426" cy="3145095"/>
              <a:chOff x="0" y="0"/>
              <a:chExt cx="2005417" cy="621253"/>
            </a:xfrm>
          </p:grpSpPr>
          <p:sp>
            <p:nvSpPr>
              <p:cNvPr name="Freeform 38" id="38"/>
              <p:cNvSpPr/>
              <p:nvPr/>
            </p:nvSpPr>
            <p:spPr>
              <a:xfrm flipH="false" flipV="false" rot="0">
                <a:off x="0" y="0"/>
                <a:ext cx="2005417" cy="621253"/>
              </a:xfrm>
              <a:custGeom>
                <a:avLst/>
                <a:gdLst/>
                <a:ahLst/>
                <a:cxnLst/>
                <a:rect r="r" b="b" t="t" l="l"/>
                <a:pathLst>
                  <a:path h="621253" w="2005417">
                    <a:moveTo>
                      <a:pt x="26436" y="0"/>
                    </a:moveTo>
                    <a:lnTo>
                      <a:pt x="1978982" y="0"/>
                    </a:lnTo>
                    <a:cubicBezTo>
                      <a:pt x="1985993" y="0"/>
                      <a:pt x="1992717" y="2785"/>
                      <a:pt x="1997675" y="7743"/>
                    </a:cubicBezTo>
                    <a:cubicBezTo>
                      <a:pt x="2002632" y="12700"/>
                      <a:pt x="2005417" y="19425"/>
                      <a:pt x="2005417" y="26436"/>
                    </a:cubicBezTo>
                    <a:lnTo>
                      <a:pt x="2005417" y="594818"/>
                    </a:lnTo>
                    <a:cubicBezTo>
                      <a:pt x="2005417" y="609418"/>
                      <a:pt x="1993582" y="621253"/>
                      <a:pt x="1978982" y="621253"/>
                    </a:cubicBezTo>
                    <a:lnTo>
                      <a:pt x="26436" y="621253"/>
                    </a:lnTo>
                    <a:cubicBezTo>
                      <a:pt x="19425" y="621253"/>
                      <a:pt x="12700" y="618468"/>
                      <a:pt x="7743" y="613511"/>
                    </a:cubicBezTo>
                    <a:cubicBezTo>
                      <a:pt x="2785" y="608553"/>
                      <a:pt x="0" y="601829"/>
                      <a:pt x="0" y="594818"/>
                    </a:cubicBezTo>
                    <a:lnTo>
                      <a:pt x="0" y="26436"/>
                    </a:lnTo>
                    <a:cubicBezTo>
                      <a:pt x="0" y="19425"/>
                      <a:pt x="2785" y="12700"/>
                      <a:pt x="7743" y="7743"/>
                    </a:cubicBezTo>
                    <a:cubicBezTo>
                      <a:pt x="12700" y="2785"/>
                      <a:pt x="19425" y="0"/>
                      <a:pt x="26436" y="0"/>
                    </a:cubicBezTo>
                    <a:close/>
                  </a:path>
                </a:pathLst>
              </a:custGeom>
              <a:solidFill>
                <a:srgbClr val="FFFFFF"/>
              </a:solidFill>
              <a:ln w="38100" cap="rnd">
                <a:solidFill>
                  <a:srgbClr val="BF9585"/>
                </a:solidFill>
                <a:prstDash val="lgDash"/>
                <a:round/>
              </a:ln>
            </p:spPr>
          </p:sp>
          <p:sp>
            <p:nvSpPr>
              <p:cNvPr name="TextBox 39" id="39"/>
              <p:cNvSpPr txBox="true"/>
              <p:nvPr/>
            </p:nvSpPr>
            <p:spPr>
              <a:xfrm>
                <a:off x="0" y="-38100"/>
                <a:ext cx="2005417" cy="65935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40" id="40"/>
            <p:cNvSpPr txBox="true"/>
            <p:nvPr/>
          </p:nvSpPr>
          <p:spPr>
            <a:xfrm rot="0">
              <a:off x="371024" y="1311106"/>
              <a:ext cx="8831624" cy="1959695"/>
            </a:xfrm>
            <a:prstGeom prst="rect">
              <a:avLst/>
            </a:prstGeom>
          </p:spPr>
          <p:txBody>
            <a:bodyPr anchor="t" rtlCol="false" tIns="0" lIns="0" bIns="0" rIns="0">
              <a:spAutoFit/>
            </a:bodyPr>
            <a:lstStyle/>
            <a:p>
              <a:pPr algn="l" marL="474979" indent="-237490" lvl="1">
                <a:lnSpc>
                  <a:spcPts val="2991"/>
                </a:lnSpc>
                <a:buFont typeface="Arial"/>
                <a:buChar char="•"/>
              </a:pPr>
              <a:r>
                <a:rPr lang="en-US" b="true" sz="2199" spc="19">
                  <a:solidFill>
                    <a:srgbClr val="7B6861"/>
                  </a:solidFill>
                  <a:latin typeface="Quicksand Medium"/>
                  <a:ea typeface="Quicksand Medium"/>
                  <a:cs typeface="Quicksand Medium"/>
                  <a:sym typeface="Quicksand Medium"/>
                </a:rPr>
                <a:t>User acco</a:t>
              </a:r>
              <a:r>
                <a:rPr lang="en-US" b="true" sz="2199" spc="19" strike="noStrike" u="none">
                  <a:solidFill>
                    <a:srgbClr val="7B6861"/>
                  </a:solidFill>
                  <a:latin typeface="Quicksand Medium"/>
                  <a:ea typeface="Quicksand Medium"/>
                  <a:cs typeface="Quicksand Medium"/>
                  <a:sym typeface="Quicksand Medium"/>
                </a:rPr>
                <a:t>unts and CMU account informat</a:t>
              </a:r>
              <a:r>
                <a:rPr lang="en-US" b="true" sz="2199" spc="19" strike="noStrike" u="none">
                  <a:solidFill>
                    <a:srgbClr val="7B6861"/>
                  </a:solidFill>
                  <a:latin typeface="Quicksand Medium"/>
                  <a:ea typeface="Quicksand Medium"/>
                  <a:cs typeface="Quicksand Medium"/>
                  <a:sym typeface="Quicksand Medium"/>
                </a:rPr>
                <a:t>ion</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Posts,</a:t>
              </a:r>
              <a:r>
                <a:rPr lang="en-US" b="true" sz="2199" spc="19" strike="noStrike" u="none">
                  <a:solidFill>
                    <a:srgbClr val="7B6861"/>
                  </a:solidFill>
                  <a:latin typeface="Quicksand Medium"/>
                  <a:ea typeface="Quicksand Medium"/>
                  <a:cs typeface="Quicksand Medium"/>
                  <a:sym typeface="Quicksand Medium"/>
                </a:rPr>
                <a:t> i</a:t>
              </a:r>
              <a:r>
                <a:rPr lang="en-US" b="true" sz="2199" spc="19" strike="noStrike" u="none">
                  <a:solidFill>
                    <a:srgbClr val="7B6861"/>
                  </a:solidFill>
                  <a:latin typeface="Quicksand Medium"/>
                  <a:ea typeface="Quicksand Medium"/>
                  <a:cs typeface="Quicksand Medium"/>
                  <a:sym typeface="Quicksand Medium"/>
                </a:rPr>
                <a:t>mage</a:t>
              </a:r>
              <a:r>
                <a:rPr lang="en-US" b="true" sz="2199" spc="19" strike="noStrike" u="none">
                  <a:solidFill>
                    <a:srgbClr val="7B6861"/>
                  </a:solidFill>
                  <a:latin typeface="Quicksand Medium"/>
                  <a:ea typeface="Quicksand Medium"/>
                  <a:cs typeface="Quicksand Medium"/>
                  <a:sym typeface="Quicksand Medium"/>
                </a:rPr>
                <a:t>s</a:t>
              </a:r>
              <a:r>
                <a:rPr lang="en-US" b="true" sz="2199" spc="19" strike="noStrike" u="none">
                  <a:solidFill>
                    <a:srgbClr val="7B6861"/>
                  </a:solidFill>
                  <a:latin typeface="Quicksand Medium"/>
                  <a:ea typeface="Quicksand Medium"/>
                  <a:cs typeface="Quicksand Medium"/>
                  <a:sym typeface="Quicksand Medium"/>
                </a:rPr>
                <a:t>,</a:t>
              </a:r>
              <a:r>
                <a:rPr lang="en-US" b="true" sz="2199" spc="19" strike="noStrike" u="none">
                  <a:solidFill>
                    <a:srgbClr val="7B6861"/>
                  </a:solidFill>
                  <a:latin typeface="Quicksand Medium"/>
                  <a:ea typeface="Quicksand Medium"/>
                  <a:cs typeface="Quicksand Medium"/>
                  <a:sym typeface="Quicksand Medium"/>
                </a:rPr>
                <a:t> </a:t>
              </a:r>
              <a:r>
                <a:rPr lang="en-US" b="true" sz="2199" spc="19" strike="noStrike" u="none">
                  <a:solidFill>
                    <a:srgbClr val="7B6861"/>
                  </a:solidFill>
                  <a:latin typeface="Quicksand Medium"/>
                  <a:ea typeface="Quicksand Medium"/>
                  <a:cs typeface="Quicksand Medium"/>
                  <a:sym typeface="Quicksand Medium"/>
                </a:rPr>
                <a:t>comment</a:t>
              </a:r>
              <a:r>
                <a:rPr lang="en-US" b="true" sz="2199" spc="19" strike="noStrike" u="none">
                  <a:solidFill>
                    <a:srgbClr val="7B6861"/>
                  </a:solidFill>
                  <a:latin typeface="Quicksand Medium"/>
                  <a:ea typeface="Quicksand Medium"/>
                  <a:cs typeface="Quicksand Medium"/>
                  <a:sym typeface="Quicksand Medium"/>
                </a:rPr>
                <a:t>s</a:t>
              </a:r>
              <a:r>
                <a:rPr lang="en-US" b="true" sz="2199" spc="19" strike="noStrike" u="none">
                  <a:solidFill>
                    <a:srgbClr val="7B6861"/>
                  </a:solidFill>
                  <a:latin typeface="Quicksand Medium"/>
                  <a:ea typeface="Quicksand Medium"/>
                  <a:cs typeface="Quicksand Medium"/>
                  <a:sym typeface="Quicksand Medium"/>
                </a:rPr>
                <a:t>, </a:t>
              </a:r>
              <a:r>
                <a:rPr lang="en-US" b="true" sz="2199" spc="19" strike="noStrike" u="none">
                  <a:solidFill>
                    <a:srgbClr val="7B6861"/>
                  </a:solidFill>
                  <a:latin typeface="Quicksand Medium"/>
                  <a:ea typeface="Quicksand Medium"/>
                  <a:cs typeface="Quicksand Medium"/>
                  <a:sym typeface="Quicksand Medium"/>
                </a:rPr>
                <a:t>a</a:t>
              </a:r>
              <a:r>
                <a:rPr lang="en-US" b="true" sz="2199" spc="19" strike="noStrike" u="none">
                  <a:solidFill>
                    <a:srgbClr val="7B6861"/>
                  </a:solidFill>
                  <a:latin typeface="Quicksand Medium"/>
                  <a:ea typeface="Quicksand Medium"/>
                  <a:cs typeface="Quicksand Medium"/>
                  <a:sym typeface="Quicksand Medium"/>
                </a:rPr>
                <a:t>nd </a:t>
              </a:r>
              <a:r>
                <a:rPr lang="en-US" b="true" sz="2199" spc="19" strike="noStrike" u="none">
                  <a:solidFill>
                    <a:srgbClr val="7B6861"/>
                  </a:solidFill>
                  <a:latin typeface="Quicksand Medium"/>
                  <a:ea typeface="Quicksand Medium"/>
                  <a:cs typeface="Quicksand Medium"/>
                  <a:sym typeface="Quicksand Medium"/>
                </a:rPr>
                <a:t>r</a:t>
              </a:r>
              <a:r>
                <a:rPr lang="en-US" b="true" sz="2199" spc="19" strike="noStrike" u="none">
                  <a:solidFill>
                    <a:srgbClr val="7B6861"/>
                  </a:solidFill>
                  <a:latin typeface="Quicksand Medium"/>
                  <a:ea typeface="Quicksand Medium"/>
                  <a:cs typeface="Quicksand Medium"/>
                  <a:sym typeface="Quicksand Medium"/>
                </a:rPr>
                <a:t>eactions</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Reports and inappropriate content records</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Notification</a:t>
              </a:r>
            </a:p>
          </p:txBody>
        </p:sp>
        <p:grpSp>
          <p:nvGrpSpPr>
            <p:cNvPr name="Group 41" id="41"/>
            <p:cNvGrpSpPr/>
            <p:nvPr/>
          </p:nvGrpSpPr>
          <p:grpSpPr>
            <a:xfrm rot="0">
              <a:off x="232105" y="0"/>
              <a:ext cx="8077615" cy="1193814"/>
              <a:chOff x="0" y="0"/>
              <a:chExt cx="1976465" cy="292107"/>
            </a:xfrm>
          </p:grpSpPr>
          <p:sp>
            <p:nvSpPr>
              <p:cNvPr name="Freeform 42" id="42"/>
              <p:cNvSpPr/>
              <p:nvPr/>
            </p:nvSpPr>
            <p:spPr>
              <a:xfrm flipH="false" flipV="false" rot="0">
                <a:off x="0" y="0"/>
                <a:ext cx="1976465" cy="292107"/>
              </a:xfrm>
              <a:custGeom>
                <a:avLst/>
                <a:gdLst/>
                <a:ahLst/>
                <a:cxnLst/>
                <a:rect r="r" b="b" t="t" l="l"/>
                <a:pathLst>
                  <a:path h="292107" w="1976465">
                    <a:moveTo>
                      <a:pt x="26836" y="0"/>
                    </a:moveTo>
                    <a:lnTo>
                      <a:pt x="1949628" y="0"/>
                    </a:lnTo>
                    <a:cubicBezTo>
                      <a:pt x="1964450" y="0"/>
                      <a:pt x="1976465" y="12015"/>
                      <a:pt x="1976465" y="26836"/>
                    </a:cubicBezTo>
                    <a:lnTo>
                      <a:pt x="1976465" y="265271"/>
                    </a:lnTo>
                    <a:cubicBezTo>
                      <a:pt x="1976465" y="280092"/>
                      <a:pt x="1964450" y="292107"/>
                      <a:pt x="1949628" y="292107"/>
                    </a:cubicBezTo>
                    <a:lnTo>
                      <a:pt x="26836" y="292107"/>
                    </a:lnTo>
                    <a:cubicBezTo>
                      <a:pt x="12015" y="292107"/>
                      <a:pt x="0" y="280092"/>
                      <a:pt x="0" y="265271"/>
                    </a:cubicBezTo>
                    <a:lnTo>
                      <a:pt x="0" y="26836"/>
                    </a:lnTo>
                    <a:cubicBezTo>
                      <a:pt x="0" y="12015"/>
                      <a:pt x="12015" y="0"/>
                      <a:pt x="26836" y="0"/>
                    </a:cubicBezTo>
                    <a:close/>
                  </a:path>
                </a:pathLst>
              </a:custGeom>
              <a:solidFill>
                <a:srgbClr val="FFFFFF"/>
              </a:solidFill>
              <a:ln w="38100" cap="rnd">
                <a:solidFill>
                  <a:srgbClr val="BF9585"/>
                </a:solidFill>
                <a:prstDash val="dash"/>
                <a:round/>
              </a:ln>
            </p:spPr>
          </p:sp>
          <p:sp>
            <p:nvSpPr>
              <p:cNvPr name="TextBox 43" id="43"/>
              <p:cNvSpPr txBox="true"/>
              <p:nvPr/>
            </p:nvSpPr>
            <p:spPr>
              <a:xfrm>
                <a:off x="0" y="-38100"/>
                <a:ext cx="1976465" cy="3302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44" id="44"/>
            <p:cNvSpPr txBox="true"/>
            <p:nvPr/>
          </p:nvSpPr>
          <p:spPr>
            <a:xfrm rot="0">
              <a:off x="490985" y="162228"/>
              <a:ext cx="1909577" cy="793157"/>
            </a:xfrm>
            <a:prstGeom prst="rect">
              <a:avLst/>
            </a:prstGeom>
          </p:spPr>
          <p:txBody>
            <a:bodyPr anchor="t" rtlCol="false" tIns="0" lIns="0" bIns="0" rIns="0">
              <a:spAutoFit/>
            </a:bodyPr>
            <a:lstStyle/>
            <a:p>
              <a:pPr algn="l">
                <a:lnSpc>
                  <a:spcPts val="5011"/>
                </a:lnSpc>
              </a:pPr>
              <a:r>
                <a:rPr lang="en-US" sz="3579" spc="-75" b="true">
                  <a:solidFill>
                    <a:srgbClr val="7B6861"/>
                  </a:solidFill>
                  <a:latin typeface="Quicksand Bold"/>
                  <a:ea typeface="Quicksand Bold"/>
                  <a:cs typeface="Quicksand Bold"/>
                  <a:sym typeface="Quicksand Bold"/>
                </a:rPr>
                <a:t>Scope</a:t>
              </a:r>
            </a:p>
          </p:txBody>
        </p:sp>
      </p:grpSp>
      <p:grpSp>
        <p:nvGrpSpPr>
          <p:cNvPr name="Group 45" id="45"/>
          <p:cNvGrpSpPr/>
          <p:nvPr/>
        </p:nvGrpSpPr>
        <p:grpSpPr>
          <a:xfrm rot="0">
            <a:off x="9851566" y="5525612"/>
            <a:ext cx="7645131" cy="3099321"/>
            <a:chOff x="0" y="0"/>
            <a:chExt cx="2013533" cy="816282"/>
          </a:xfrm>
        </p:grpSpPr>
        <p:sp>
          <p:nvSpPr>
            <p:cNvPr name="Freeform 46" id="46"/>
            <p:cNvSpPr/>
            <p:nvPr/>
          </p:nvSpPr>
          <p:spPr>
            <a:xfrm flipH="false" flipV="false" rot="0">
              <a:off x="0" y="0"/>
              <a:ext cx="2013533" cy="816282"/>
            </a:xfrm>
            <a:custGeom>
              <a:avLst/>
              <a:gdLst/>
              <a:ahLst/>
              <a:cxnLst/>
              <a:rect r="r" b="b" t="t" l="l"/>
              <a:pathLst>
                <a:path h="816282" w="2013533">
                  <a:moveTo>
                    <a:pt x="26329" y="0"/>
                  </a:moveTo>
                  <a:lnTo>
                    <a:pt x="1987203" y="0"/>
                  </a:lnTo>
                  <a:cubicBezTo>
                    <a:pt x="1994186" y="0"/>
                    <a:pt x="2000883" y="2774"/>
                    <a:pt x="2005821" y="7712"/>
                  </a:cubicBezTo>
                  <a:cubicBezTo>
                    <a:pt x="2010759" y="12649"/>
                    <a:pt x="2013533" y="19346"/>
                    <a:pt x="2013533" y="26329"/>
                  </a:cubicBezTo>
                  <a:lnTo>
                    <a:pt x="2013533" y="789953"/>
                  </a:lnTo>
                  <a:cubicBezTo>
                    <a:pt x="2013533" y="796936"/>
                    <a:pt x="2010759" y="803633"/>
                    <a:pt x="2005821" y="808571"/>
                  </a:cubicBezTo>
                  <a:cubicBezTo>
                    <a:pt x="2000883" y="813508"/>
                    <a:pt x="1994186" y="816282"/>
                    <a:pt x="1987203" y="816282"/>
                  </a:cubicBezTo>
                  <a:lnTo>
                    <a:pt x="26329" y="816282"/>
                  </a:lnTo>
                  <a:cubicBezTo>
                    <a:pt x="19346" y="816282"/>
                    <a:pt x="12649" y="813508"/>
                    <a:pt x="7712" y="808571"/>
                  </a:cubicBezTo>
                  <a:cubicBezTo>
                    <a:pt x="2774" y="803633"/>
                    <a:pt x="0" y="796936"/>
                    <a:pt x="0" y="789953"/>
                  </a:cubicBezTo>
                  <a:lnTo>
                    <a:pt x="0" y="26329"/>
                  </a:lnTo>
                  <a:cubicBezTo>
                    <a:pt x="0" y="19346"/>
                    <a:pt x="2774" y="12649"/>
                    <a:pt x="7712" y="7712"/>
                  </a:cubicBezTo>
                  <a:cubicBezTo>
                    <a:pt x="12649" y="2774"/>
                    <a:pt x="19346" y="0"/>
                    <a:pt x="26329" y="0"/>
                  </a:cubicBezTo>
                  <a:close/>
                </a:path>
              </a:pathLst>
            </a:custGeom>
            <a:solidFill>
              <a:srgbClr val="FFFFFF"/>
            </a:solidFill>
            <a:ln w="38100" cap="rnd">
              <a:solidFill>
                <a:srgbClr val="BF9585"/>
              </a:solidFill>
              <a:prstDash val="lgDash"/>
              <a:round/>
            </a:ln>
          </p:spPr>
        </p:sp>
        <p:sp>
          <p:nvSpPr>
            <p:cNvPr name="TextBox 47" id="47"/>
            <p:cNvSpPr txBox="true"/>
            <p:nvPr/>
          </p:nvSpPr>
          <p:spPr>
            <a:xfrm>
              <a:off x="0" y="-38100"/>
              <a:ext cx="2013533" cy="85438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48" id="48"/>
          <p:cNvSpPr txBox="true"/>
          <p:nvPr/>
        </p:nvSpPr>
        <p:spPr>
          <a:xfrm rot="0">
            <a:off x="9918902" y="5937009"/>
            <a:ext cx="7340398" cy="2513729"/>
          </a:xfrm>
          <a:prstGeom prst="rect">
            <a:avLst/>
          </a:prstGeom>
        </p:spPr>
        <p:txBody>
          <a:bodyPr anchor="t" rtlCol="false" tIns="0" lIns="0" bIns="0" rIns="0">
            <a:spAutoFit/>
          </a:bodyPr>
          <a:lstStyle/>
          <a:p>
            <a:pPr algn="l" marL="0" indent="0" lvl="0">
              <a:lnSpc>
                <a:spcPts val="2864"/>
              </a:lnSpc>
              <a:spcBef>
                <a:spcPct val="0"/>
              </a:spcBef>
            </a:pPr>
          </a:p>
          <a:p>
            <a:pPr algn="l" marL="454765" indent="-227382" lvl="1">
              <a:lnSpc>
                <a:spcPts val="2864"/>
              </a:lnSpc>
              <a:spcBef>
                <a:spcPct val="0"/>
              </a:spcBef>
              <a:buFont typeface="Arial"/>
              <a:buChar char="•"/>
            </a:pPr>
            <a:r>
              <a:rPr lang="en-US" b="true" sz="2106" spc="18" strike="noStrike" u="none">
                <a:solidFill>
                  <a:srgbClr val="7B6861"/>
                </a:solidFill>
                <a:latin typeface="Quicksand Medium"/>
                <a:ea typeface="Quicksand Medium"/>
                <a:cs typeface="Quicksand Medium"/>
                <a:sym typeface="Quicksand Medium"/>
              </a:rPr>
              <a:t>CMU</a:t>
            </a:r>
            <a:r>
              <a:rPr lang="en-US" b="true" sz="2106" spc="18" strike="noStrike" u="none">
                <a:solidFill>
                  <a:srgbClr val="7B6861"/>
                </a:solidFill>
                <a:latin typeface="Quicksand Medium"/>
                <a:ea typeface="Quicksand Medium"/>
                <a:cs typeface="Quicksand Medium"/>
                <a:sym typeface="Quicksand Medium"/>
              </a:rPr>
              <a:t> User </a:t>
            </a:r>
            <a:r>
              <a:rPr lang="en-US" b="true" sz="2106" spc="18" strike="noStrike" u="none">
                <a:solidFill>
                  <a:srgbClr val="7B6861"/>
                </a:solidFill>
                <a:latin typeface="Quicksand Medium"/>
                <a:ea typeface="Quicksand Medium"/>
                <a:cs typeface="Quicksand Medium"/>
                <a:sym typeface="Quicksand Medium"/>
              </a:rPr>
              <a:t>— Log in, c</a:t>
            </a:r>
            <a:r>
              <a:rPr lang="en-US" b="true" sz="2106" spc="18" strike="noStrike" u="none">
                <a:solidFill>
                  <a:srgbClr val="7B6861"/>
                </a:solidFill>
                <a:latin typeface="Quicksand Medium"/>
                <a:ea typeface="Quicksand Medium"/>
                <a:cs typeface="Quicksand Medium"/>
                <a:sym typeface="Quicksand Medium"/>
              </a:rPr>
              <a:t>reate p</a:t>
            </a:r>
            <a:r>
              <a:rPr lang="en-US" b="true" sz="2106" spc="18" strike="noStrike" u="none">
                <a:solidFill>
                  <a:srgbClr val="7B6861"/>
                </a:solidFill>
                <a:latin typeface="Quicksand Medium"/>
                <a:ea typeface="Quicksand Medium"/>
                <a:cs typeface="Quicksand Medium"/>
                <a:sym typeface="Quicksand Medium"/>
              </a:rPr>
              <a:t>osts, comm</a:t>
            </a:r>
            <a:r>
              <a:rPr lang="en-US" b="true" sz="2106" spc="18" strike="noStrike" u="none">
                <a:solidFill>
                  <a:srgbClr val="7B6861"/>
                </a:solidFill>
                <a:latin typeface="Quicksand Medium"/>
                <a:ea typeface="Quicksand Medium"/>
                <a:cs typeface="Quicksand Medium"/>
                <a:sym typeface="Quicksand Medium"/>
              </a:rPr>
              <a:t>ent, react, ask questions, and s</a:t>
            </a:r>
            <a:r>
              <a:rPr lang="en-US" b="true" sz="2106" spc="18" strike="noStrike" u="none">
                <a:solidFill>
                  <a:srgbClr val="7B6861"/>
                </a:solidFill>
                <a:latin typeface="Quicksand Medium"/>
                <a:ea typeface="Quicksand Medium"/>
                <a:cs typeface="Quicksand Medium"/>
                <a:sym typeface="Quicksand Medium"/>
              </a:rPr>
              <a:t>har</a:t>
            </a:r>
            <a:r>
              <a:rPr lang="en-US" b="true" sz="2106" spc="18" strike="noStrike" u="none">
                <a:solidFill>
                  <a:srgbClr val="7B6861"/>
                </a:solidFill>
                <a:latin typeface="Quicksand Medium"/>
                <a:ea typeface="Quicksand Medium"/>
                <a:cs typeface="Quicksand Medium"/>
                <a:sym typeface="Quicksand Medium"/>
              </a:rPr>
              <a:t>e </a:t>
            </a:r>
            <a:r>
              <a:rPr lang="en-US" b="true" sz="2106" spc="18" strike="noStrike" u="none">
                <a:solidFill>
                  <a:srgbClr val="7B6861"/>
                </a:solidFill>
                <a:latin typeface="Quicksand Medium"/>
                <a:ea typeface="Quicksand Medium"/>
                <a:cs typeface="Quicksand Medium"/>
                <a:sym typeface="Quicksand Medium"/>
              </a:rPr>
              <a:t>ex</a:t>
            </a:r>
            <a:r>
              <a:rPr lang="en-US" b="true" sz="2106" spc="18" strike="noStrike" u="none">
                <a:solidFill>
                  <a:srgbClr val="7B6861"/>
                </a:solidFill>
                <a:latin typeface="Quicksand Medium"/>
                <a:ea typeface="Quicksand Medium"/>
                <a:cs typeface="Quicksand Medium"/>
                <a:sym typeface="Quicksand Medium"/>
              </a:rPr>
              <a:t>p</a:t>
            </a:r>
            <a:r>
              <a:rPr lang="en-US" b="true" sz="2106" spc="18" strike="noStrike" u="none">
                <a:solidFill>
                  <a:srgbClr val="7B6861"/>
                </a:solidFill>
                <a:latin typeface="Quicksand Medium"/>
                <a:ea typeface="Quicksand Medium"/>
                <a:cs typeface="Quicksand Medium"/>
                <a:sym typeface="Quicksand Medium"/>
              </a:rPr>
              <a:t>e</a:t>
            </a:r>
            <a:r>
              <a:rPr lang="en-US" b="true" sz="2106" spc="18" strike="noStrike" u="none">
                <a:solidFill>
                  <a:srgbClr val="7B6861"/>
                </a:solidFill>
                <a:latin typeface="Quicksand Medium"/>
                <a:ea typeface="Quicksand Medium"/>
                <a:cs typeface="Quicksand Medium"/>
                <a:sym typeface="Quicksand Medium"/>
              </a:rPr>
              <a:t>ri</a:t>
            </a:r>
            <a:r>
              <a:rPr lang="en-US" b="true" sz="2106" spc="18" strike="noStrike" u="none">
                <a:solidFill>
                  <a:srgbClr val="7B6861"/>
                </a:solidFill>
                <a:latin typeface="Quicksand Medium"/>
                <a:ea typeface="Quicksand Medium"/>
                <a:cs typeface="Quicksand Medium"/>
                <a:sym typeface="Quicksand Medium"/>
              </a:rPr>
              <a:t>e</a:t>
            </a:r>
            <a:r>
              <a:rPr lang="en-US" b="true" sz="2106" spc="18" strike="noStrike" u="none">
                <a:solidFill>
                  <a:srgbClr val="7B6861"/>
                </a:solidFill>
                <a:latin typeface="Quicksand Medium"/>
                <a:ea typeface="Quicksand Medium"/>
                <a:cs typeface="Quicksand Medium"/>
                <a:sym typeface="Quicksand Medium"/>
              </a:rPr>
              <a:t>n</a:t>
            </a:r>
            <a:r>
              <a:rPr lang="en-US" b="true" sz="2106" spc="18" strike="noStrike" u="none">
                <a:solidFill>
                  <a:srgbClr val="7B6861"/>
                </a:solidFill>
                <a:latin typeface="Quicksand Medium"/>
                <a:ea typeface="Quicksand Medium"/>
                <a:cs typeface="Quicksand Medium"/>
                <a:sym typeface="Quicksand Medium"/>
              </a:rPr>
              <a:t>ces</a:t>
            </a:r>
            <a:r>
              <a:rPr lang="en-US" b="true" sz="2106" spc="18" strike="noStrike" u="none">
                <a:solidFill>
                  <a:srgbClr val="7B6861"/>
                </a:solidFill>
                <a:latin typeface="Quicksand Medium"/>
                <a:ea typeface="Quicksand Medium"/>
                <a:cs typeface="Quicksand Medium"/>
                <a:sym typeface="Quicksand Medium"/>
              </a:rPr>
              <a:t>.</a:t>
            </a:r>
          </a:p>
          <a:p>
            <a:pPr algn="l" marL="454765" indent="-227382" lvl="1">
              <a:lnSpc>
                <a:spcPts val="2864"/>
              </a:lnSpc>
              <a:spcBef>
                <a:spcPct val="0"/>
              </a:spcBef>
              <a:buFont typeface="Arial"/>
              <a:buChar char="•"/>
            </a:pPr>
            <a:r>
              <a:rPr lang="en-US" b="true" sz="2106" spc="18" strike="noStrike" u="none">
                <a:solidFill>
                  <a:srgbClr val="7B6861"/>
                </a:solidFill>
                <a:latin typeface="Quicksand Medium"/>
                <a:ea typeface="Quicksand Medium"/>
                <a:cs typeface="Quicksand Medium"/>
                <a:sym typeface="Quicksand Medium"/>
              </a:rPr>
              <a:t>Non-CMU</a:t>
            </a:r>
            <a:r>
              <a:rPr lang="en-US" b="true" sz="2106" spc="18" strike="noStrike" u="none">
                <a:solidFill>
                  <a:srgbClr val="7B6861"/>
                </a:solidFill>
                <a:latin typeface="Quicksand Medium"/>
                <a:ea typeface="Quicksand Medium"/>
                <a:cs typeface="Quicksand Medium"/>
                <a:sym typeface="Quicksand Medium"/>
              </a:rPr>
              <a:t> </a:t>
            </a:r>
            <a:r>
              <a:rPr lang="en-US" b="true" sz="2106" spc="18" strike="noStrike" u="none">
                <a:solidFill>
                  <a:srgbClr val="7B6861"/>
                </a:solidFill>
                <a:latin typeface="Quicksand Medium"/>
                <a:ea typeface="Quicksand Medium"/>
                <a:cs typeface="Quicksand Medium"/>
                <a:sym typeface="Quicksand Medium"/>
              </a:rPr>
              <a:t>U</a:t>
            </a:r>
            <a:r>
              <a:rPr lang="en-US" b="true" sz="2106" spc="18" strike="noStrike" u="none">
                <a:solidFill>
                  <a:srgbClr val="7B6861"/>
                </a:solidFill>
                <a:latin typeface="Quicksand Medium"/>
                <a:ea typeface="Quicksand Medium"/>
                <a:cs typeface="Quicksand Medium"/>
                <a:sym typeface="Quicksand Medium"/>
              </a:rPr>
              <a:t>sers </a:t>
            </a:r>
            <a:r>
              <a:rPr lang="en-US" b="true" sz="2106" spc="18" strike="noStrike" u="none">
                <a:solidFill>
                  <a:srgbClr val="7B6861"/>
                </a:solidFill>
                <a:latin typeface="Quicksand Medium"/>
                <a:ea typeface="Quicksand Medium"/>
                <a:cs typeface="Quicksand Medium"/>
                <a:sym typeface="Quicksand Medium"/>
              </a:rPr>
              <a:t>— Brow</a:t>
            </a:r>
            <a:r>
              <a:rPr lang="en-US" b="true" sz="2106" spc="18" strike="noStrike" u="none">
                <a:solidFill>
                  <a:srgbClr val="7B6861"/>
                </a:solidFill>
                <a:latin typeface="Quicksand Medium"/>
                <a:ea typeface="Quicksand Medium"/>
                <a:cs typeface="Quicksand Medium"/>
                <a:sym typeface="Quicksand Medium"/>
              </a:rPr>
              <a:t>s</a:t>
            </a:r>
            <a:r>
              <a:rPr lang="en-US" b="true" sz="2106" spc="18" strike="noStrike" u="none">
                <a:solidFill>
                  <a:srgbClr val="7B6861"/>
                </a:solidFill>
                <a:latin typeface="Quicksand Medium"/>
                <a:ea typeface="Quicksand Medium"/>
                <a:cs typeface="Quicksand Medium"/>
                <a:sym typeface="Quicksand Medium"/>
              </a:rPr>
              <a:t>e pub</a:t>
            </a:r>
            <a:r>
              <a:rPr lang="en-US" b="true" sz="2106" spc="18" strike="noStrike" u="none">
                <a:solidFill>
                  <a:srgbClr val="7B6861"/>
                </a:solidFill>
                <a:latin typeface="Quicksand Medium"/>
                <a:ea typeface="Quicksand Medium"/>
                <a:cs typeface="Quicksand Medium"/>
                <a:sym typeface="Quicksand Medium"/>
              </a:rPr>
              <a:t>l</a:t>
            </a:r>
            <a:r>
              <a:rPr lang="en-US" b="true" sz="2106" spc="18" strike="noStrike" u="none">
                <a:solidFill>
                  <a:srgbClr val="7B6861"/>
                </a:solidFill>
                <a:latin typeface="Quicksand Medium"/>
                <a:ea typeface="Quicksand Medium"/>
                <a:cs typeface="Quicksand Medium"/>
                <a:sym typeface="Quicksand Medium"/>
              </a:rPr>
              <a:t>ic</a:t>
            </a:r>
            <a:r>
              <a:rPr lang="en-US" b="true" sz="2106" spc="18" strike="noStrike" u="none">
                <a:solidFill>
                  <a:srgbClr val="7B6861"/>
                </a:solidFill>
                <a:latin typeface="Quicksand Medium"/>
                <a:ea typeface="Quicksand Medium"/>
                <a:cs typeface="Quicksand Medium"/>
                <a:sym typeface="Quicksand Medium"/>
              </a:rPr>
              <a:t> p</a:t>
            </a:r>
            <a:r>
              <a:rPr lang="en-US" b="true" sz="2106" spc="18" strike="noStrike" u="none">
                <a:solidFill>
                  <a:srgbClr val="7B6861"/>
                </a:solidFill>
                <a:latin typeface="Quicksand Medium"/>
                <a:ea typeface="Quicksand Medium"/>
                <a:cs typeface="Quicksand Medium"/>
                <a:sym typeface="Quicksand Medium"/>
              </a:rPr>
              <a:t>o</a:t>
            </a:r>
            <a:r>
              <a:rPr lang="en-US" b="true" sz="2106" spc="18" strike="noStrike" u="none">
                <a:solidFill>
                  <a:srgbClr val="7B6861"/>
                </a:solidFill>
                <a:latin typeface="Quicksand Medium"/>
                <a:ea typeface="Quicksand Medium"/>
                <a:cs typeface="Quicksand Medium"/>
                <a:sym typeface="Quicksand Medium"/>
              </a:rPr>
              <a:t>s</a:t>
            </a:r>
            <a:r>
              <a:rPr lang="en-US" b="true" sz="2106" spc="18" strike="noStrike" u="none">
                <a:solidFill>
                  <a:srgbClr val="7B6861"/>
                </a:solidFill>
                <a:latin typeface="Quicksand Medium"/>
                <a:ea typeface="Quicksand Medium"/>
                <a:cs typeface="Quicksand Medium"/>
                <a:sym typeface="Quicksand Medium"/>
              </a:rPr>
              <a:t>t</a:t>
            </a:r>
            <a:r>
              <a:rPr lang="en-US" b="true" sz="2106" spc="18" strike="noStrike" u="none">
                <a:solidFill>
                  <a:srgbClr val="7B6861"/>
                </a:solidFill>
                <a:latin typeface="Quicksand Medium"/>
                <a:ea typeface="Quicksand Medium"/>
                <a:cs typeface="Quicksand Medium"/>
                <a:sym typeface="Quicksand Medium"/>
              </a:rPr>
              <a:t>s </a:t>
            </a:r>
            <a:r>
              <a:rPr lang="en-US" b="true" sz="2106" spc="18" strike="noStrike" u="none">
                <a:solidFill>
                  <a:srgbClr val="7B6861"/>
                </a:solidFill>
                <a:latin typeface="Quicksand Medium"/>
                <a:ea typeface="Quicksand Medium"/>
                <a:cs typeface="Quicksand Medium"/>
                <a:sym typeface="Quicksand Medium"/>
              </a:rPr>
              <a:t>and</a:t>
            </a:r>
            <a:r>
              <a:rPr lang="en-US" b="true" sz="2106" spc="18" strike="noStrike" u="none">
                <a:solidFill>
                  <a:srgbClr val="7B6861"/>
                </a:solidFill>
                <a:latin typeface="Quicksand Medium"/>
                <a:ea typeface="Quicksand Medium"/>
                <a:cs typeface="Quicksand Medium"/>
                <a:sym typeface="Quicksand Medium"/>
              </a:rPr>
              <a:t> </a:t>
            </a:r>
            <a:r>
              <a:rPr lang="en-US" b="true" sz="2106" spc="18" strike="noStrike" u="none">
                <a:solidFill>
                  <a:srgbClr val="7B6861"/>
                </a:solidFill>
                <a:latin typeface="Quicksand Medium"/>
                <a:ea typeface="Quicksand Medium"/>
                <a:cs typeface="Quicksand Medium"/>
                <a:sym typeface="Quicksand Medium"/>
              </a:rPr>
              <a:t>lea</a:t>
            </a:r>
            <a:r>
              <a:rPr lang="en-US" b="true" sz="2106" spc="18" strike="noStrike" u="none">
                <a:solidFill>
                  <a:srgbClr val="7B6861"/>
                </a:solidFill>
                <a:latin typeface="Quicksand Medium"/>
                <a:ea typeface="Quicksand Medium"/>
                <a:cs typeface="Quicksand Medium"/>
                <a:sym typeface="Quicksand Medium"/>
              </a:rPr>
              <a:t>rn</a:t>
            </a:r>
            <a:r>
              <a:rPr lang="en-US" b="true" sz="2106" spc="18" strike="noStrike" u="none">
                <a:solidFill>
                  <a:srgbClr val="7B6861"/>
                </a:solidFill>
                <a:latin typeface="Quicksand Medium"/>
                <a:ea typeface="Quicksand Medium"/>
                <a:cs typeface="Quicksand Medium"/>
                <a:sym typeface="Quicksand Medium"/>
              </a:rPr>
              <a:t> </a:t>
            </a:r>
            <a:r>
              <a:rPr lang="en-US" b="true" sz="2106" spc="18" strike="noStrike" u="none">
                <a:solidFill>
                  <a:srgbClr val="7B6861"/>
                </a:solidFill>
                <a:latin typeface="Quicksand Medium"/>
                <a:ea typeface="Quicksand Medium"/>
                <a:cs typeface="Quicksand Medium"/>
                <a:sym typeface="Quicksand Medium"/>
              </a:rPr>
              <a:t>a</a:t>
            </a:r>
            <a:r>
              <a:rPr lang="en-US" b="true" sz="2106" spc="18" strike="noStrike" u="none">
                <a:solidFill>
                  <a:srgbClr val="7B6861"/>
                </a:solidFill>
                <a:latin typeface="Quicksand Medium"/>
                <a:ea typeface="Quicksand Medium"/>
                <a:cs typeface="Quicksand Medium"/>
                <a:sym typeface="Quicksand Medium"/>
              </a:rPr>
              <a:t>bout</a:t>
            </a:r>
            <a:r>
              <a:rPr lang="en-US" b="true" sz="2106" spc="18" strike="noStrike" u="none">
                <a:solidFill>
                  <a:srgbClr val="7B6861"/>
                </a:solidFill>
                <a:latin typeface="Quicksand Medium"/>
                <a:ea typeface="Quicksand Medium"/>
                <a:cs typeface="Quicksand Medium"/>
                <a:sym typeface="Quicksand Medium"/>
              </a:rPr>
              <a:t> </a:t>
            </a:r>
            <a:r>
              <a:rPr lang="en-US" b="true" sz="2106" spc="18" strike="noStrike" u="none">
                <a:solidFill>
                  <a:srgbClr val="7B6861"/>
                </a:solidFill>
                <a:latin typeface="Quicksand Medium"/>
                <a:ea typeface="Quicksand Medium"/>
                <a:cs typeface="Quicksand Medium"/>
                <a:sym typeface="Quicksand Medium"/>
              </a:rPr>
              <a:t>stud</a:t>
            </a:r>
            <a:r>
              <a:rPr lang="en-US" b="true" sz="2106" spc="18" strike="noStrike" u="none">
                <a:solidFill>
                  <a:srgbClr val="7B6861"/>
                </a:solidFill>
                <a:latin typeface="Quicksand Medium"/>
                <a:ea typeface="Quicksand Medium"/>
                <a:cs typeface="Quicksand Medium"/>
                <a:sym typeface="Quicksand Medium"/>
              </a:rPr>
              <a:t>e</a:t>
            </a:r>
            <a:r>
              <a:rPr lang="en-US" b="true" sz="2106" spc="18" strike="noStrike" u="none">
                <a:solidFill>
                  <a:srgbClr val="7B6861"/>
                </a:solidFill>
                <a:latin typeface="Quicksand Medium"/>
                <a:ea typeface="Quicksand Medium"/>
                <a:cs typeface="Quicksand Medium"/>
                <a:sym typeface="Quicksand Medium"/>
              </a:rPr>
              <a:t>n</a:t>
            </a:r>
            <a:r>
              <a:rPr lang="en-US" b="true" sz="2106" spc="18" strike="noStrike" u="none">
                <a:solidFill>
                  <a:srgbClr val="7B6861"/>
                </a:solidFill>
                <a:latin typeface="Quicksand Medium"/>
                <a:ea typeface="Quicksand Medium"/>
                <a:cs typeface="Quicksand Medium"/>
                <a:sym typeface="Quicksand Medium"/>
              </a:rPr>
              <a:t>t li</a:t>
            </a:r>
            <a:r>
              <a:rPr lang="en-US" b="true" sz="2106" spc="18" strike="noStrike" u="none">
                <a:solidFill>
                  <a:srgbClr val="7B6861"/>
                </a:solidFill>
                <a:latin typeface="Quicksand Medium"/>
                <a:ea typeface="Quicksand Medium"/>
                <a:cs typeface="Quicksand Medium"/>
                <a:sym typeface="Quicksand Medium"/>
              </a:rPr>
              <a:t>fe</a:t>
            </a:r>
            <a:r>
              <a:rPr lang="en-US" b="true" sz="2106" spc="18" strike="noStrike" u="none">
                <a:solidFill>
                  <a:srgbClr val="7B6861"/>
                </a:solidFill>
                <a:latin typeface="Quicksand Medium"/>
                <a:ea typeface="Quicksand Medium"/>
                <a:cs typeface="Quicksand Medium"/>
                <a:sym typeface="Quicksand Medium"/>
              </a:rPr>
              <a:t> at</a:t>
            </a:r>
            <a:r>
              <a:rPr lang="en-US" b="true" sz="2106" spc="18" strike="noStrike" u="none">
                <a:solidFill>
                  <a:srgbClr val="7B6861"/>
                </a:solidFill>
                <a:latin typeface="Quicksand Medium"/>
                <a:ea typeface="Quicksand Medium"/>
                <a:cs typeface="Quicksand Medium"/>
                <a:sym typeface="Quicksand Medium"/>
              </a:rPr>
              <a:t> CMU</a:t>
            </a:r>
            <a:r>
              <a:rPr lang="en-US" b="true" sz="2106" spc="18" strike="noStrike" u="none">
                <a:solidFill>
                  <a:srgbClr val="7B6861"/>
                </a:solidFill>
                <a:latin typeface="Quicksand Medium"/>
                <a:ea typeface="Quicksand Medium"/>
                <a:cs typeface="Quicksand Medium"/>
                <a:sym typeface="Quicksand Medium"/>
              </a:rPr>
              <a:t>.</a:t>
            </a:r>
          </a:p>
          <a:p>
            <a:pPr algn="l" marL="454765" indent="-227382" lvl="1">
              <a:lnSpc>
                <a:spcPts val="2864"/>
              </a:lnSpc>
              <a:spcBef>
                <a:spcPct val="0"/>
              </a:spcBef>
              <a:buFont typeface="Arial"/>
              <a:buChar char="•"/>
            </a:pPr>
            <a:r>
              <a:rPr lang="en-US" b="true" sz="2106" spc="18" strike="noStrike" u="none">
                <a:solidFill>
                  <a:srgbClr val="7B6861"/>
                </a:solidFill>
                <a:latin typeface="Quicksand Medium"/>
                <a:ea typeface="Quicksand Medium"/>
                <a:cs typeface="Quicksand Medium"/>
                <a:sym typeface="Quicksand Medium"/>
              </a:rPr>
              <a:t>Moderator — Manage users, review reported posts, and remove inappropriate content. </a:t>
            </a:r>
          </a:p>
        </p:txBody>
      </p:sp>
      <p:grpSp>
        <p:nvGrpSpPr>
          <p:cNvPr name="Group 49" id="49"/>
          <p:cNvGrpSpPr/>
          <p:nvPr/>
        </p:nvGrpSpPr>
        <p:grpSpPr>
          <a:xfrm rot="0">
            <a:off x="10025645" y="5140657"/>
            <a:ext cx="3167972" cy="895361"/>
            <a:chOff x="0" y="0"/>
            <a:chExt cx="1033537" cy="292107"/>
          </a:xfrm>
        </p:grpSpPr>
        <p:sp>
          <p:nvSpPr>
            <p:cNvPr name="Freeform 50" id="50"/>
            <p:cNvSpPr/>
            <p:nvPr/>
          </p:nvSpPr>
          <p:spPr>
            <a:xfrm flipH="false" flipV="false" rot="0">
              <a:off x="0" y="0"/>
              <a:ext cx="1033537" cy="292107"/>
            </a:xfrm>
            <a:custGeom>
              <a:avLst/>
              <a:gdLst/>
              <a:ahLst/>
              <a:cxnLst/>
              <a:rect r="r" b="b" t="t" l="l"/>
              <a:pathLst>
                <a:path h="292107" w="1033537">
                  <a:moveTo>
                    <a:pt x="51320" y="0"/>
                  </a:moveTo>
                  <a:lnTo>
                    <a:pt x="982217" y="0"/>
                  </a:lnTo>
                  <a:cubicBezTo>
                    <a:pt x="995828" y="0"/>
                    <a:pt x="1008881" y="5407"/>
                    <a:pt x="1018506" y="15031"/>
                  </a:cubicBezTo>
                  <a:cubicBezTo>
                    <a:pt x="1028130" y="24656"/>
                    <a:pt x="1033537" y="37709"/>
                    <a:pt x="1033537" y="51320"/>
                  </a:cubicBezTo>
                  <a:lnTo>
                    <a:pt x="1033537" y="240787"/>
                  </a:lnTo>
                  <a:cubicBezTo>
                    <a:pt x="1033537" y="254398"/>
                    <a:pt x="1028130" y="267452"/>
                    <a:pt x="1018506" y="277076"/>
                  </a:cubicBezTo>
                  <a:cubicBezTo>
                    <a:pt x="1008881" y="286701"/>
                    <a:pt x="995828" y="292107"/>
                    <a:pt x="982217" y="292107"/>
                  </a:cubicBezTo>
                  <a:lnTo>
                    <a:pt x="51320" y="292107"/>
                  </a:lnTo>
                  <a:cubicBezTo>
                    <a:pt x="37709" y="292107"/>
                    <a:pt x="24656" y="286701"/>
                    <a:pt x="15031" y="277076"/>
                  </a:cubicBezTo>
                  <a:cubicBezTo>
                    <a:pt x="5407" y="267452"/>
                    <a:pt x="0" y="254398"/>
                    <a:pt x="0" y="240787"/>
                  </a:cubicBezTo>
                  <a:lnTo>
                    <a:pt x="0" y="51320"/>
                  </a:lnTo>
                  <a:cubicBezTo>
                    <a:pt x="0" y="37709"/>
                    <a:pt x="5407" y="24656"/>
                    <a:pt x="15031" y="15031"/>
                  </a:cubicBezTo>
                  <a:cubicBezTo>
                    <a:pt x="24656" y="5407"/>
                    <a:pt x="37709" y="0"/>
                    <a:pt x="51320" y="0"/>
                  </a:cubicBezTo>
                  <a:close/>
                </a:path>
              </a:pathLst>
            </a:custGeom>
            <a:solidFill>
              <a:srgbClr val="FFFFFF"/>
            </a:solidFill>
            <a:ln w="38100" cap="rnd">
              <a:solidFill>
                <a:srgbClr val="BF9585"/>
              </a:solidFill>
              <a:prstDash val="dash"/>
              <a:round/>
            </a:ln>
          </p:spPr>
        </p:sp>
        <p:sp>
          <p:nvSpPr>
            <p:cNvPr name="TextBox 51" id="51"/>
            <p:cNvSpPr txBox="true"/>
            <p:nvPr/>
          </p:nvSpPr>
          <p:spPr>
            <a:xfrm>
              <a:off x="0" y="-38100"/>
              <a:ext cx="1033537" cy="3302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2" id="52"/>
          <p:cNvSpPr txBox="true"/>
          <p:nvPr/>
        </p:nvSpPr>
        <p:spPr>
          <a:xfrm rot="0">
            <a:off x="10025645" y="5160381"/>
            <a:ext cx="3167972" cy="755556"/>
          </a:xfrm>
          <a:prstGeom prst="rect">
            <a:avLst/>
          </a:prstGeom>
        </p:spPr>
        <p:txBody>
          <a:bodyPr anchor="t" rtlCol="false" tIns="0" lIns="0" bIns="0" rIns="0">
            <a:spAutoFit/>
          </a:bodyPr>
          <a:lstStyle/>
          <a:p>
            <a:pPr algn="ctr">
              <a:lnSpc>
                <a:spcPts val="6130"/>
              </a:lnSpc>
            </a:pPr>
            <a:r>
              <a:rPr lang="en-US" b="true" sz="4378" spc="-91">
                <a:solidFill>
                  <a:srgbClr val="7B6861"/>
                </a:solidFill>
                <a:latin typeface="Quicksand Bold"/>
                <a:ea typeface="Quicksand Bold"/>
                <a:cs typeface="Quicksand Bold"/>
                <a:sym typeface="Quicksand Bold"/>
              </a:rPr>
              <a:t>User Types</a:t>
            </a:r>
          </a:p>
        </p:txBody>
      </p:sp>
      <p:grpSp>
        <p:nvGrpSpPr>
          <p:cNvPr name="Group 53" id="53"/>
          <p:cNvGrpSpPr/>
          <p:nvPr/>
        </p:nvGrpSpPr>
        <p:grpSpPr>
          <a:xfrm rot="0">
            <a:off x="1366370" y="7253045"/>
            <a:ext cx="7614319" cy="3196050"/>
            <a:chOff x="0" y="0"/>
            <a:chExt cx="10152426" cy="4261400"/>
          </a:xfrm>
        </p:grpSpPr>
        <p:grpSp>
          <p:nvGrpSpPr>
            <p:cNvPr name="Group 54" id="54"/>
            <p:cNvGrpSpPr/>
            <p:nvPr/>
          </p:nvGrpSpPr>
          <p:grpSpPr>
            <a:xfrm rot="0">
              <a:off x="0" y="513273"/>
              <a:ext cx="10152426" cy="3748127"/>
              <a:chOff x="0" y="0"/>
              <a:chExt cx="2005417" cy="740371"/>
            </a:xfrm>
          </p:grpSpPr>
          <p:sp>
            <p:nvSpPr>
              <p:cNvPr name="Freeform 55" id="55"/>
              <p:cNvSpPr/>
              <p:nvPr/>
            </p:nvSpPr>
            <p:spPr>
              <a:xfrm flipH="false" flipV="false" rot="0">
                <a:off x="0" y="0"/>
                <a:ext cx="2005417" cy="740371"/>
              </a:xfrm>
              <a:custGeom>
                <a:avLst/>
                <a:gdLst/>
                <a:ahLst/>
                <a:cxnLst/>
                <a:rect r="r" b="b" t="t" l="l"/>
                <a:pathLst>
                  <a:path h="740371" w="2005417">
                    <a:moveTo>
                      <a:pt x="26436" y="0"/>
                    </a:moveTo>
                    <a:lnTo>
                      <a:pt x="1978982" y="0"/>
                    </a:lnTo>
                    <a:cubicBezTo>
                      <a:pt x="1985993" y="0"/>
                      <a:pt x="1992717" y="2785"/>
                      <a:pt x="1997675" y="7743"/>
                    </a:cubicBezTo>
                    <a:cubicBezTo>
                      <a:pt x="2002632" y="12700"/>
                      <a:pt x="2005417" y="19425"/>
                      <a:pt x="2005417" y="26436"/>
                    </a:cubicBezTo>
                    <a:lnTo>
                      <a:pt x="2005417" y="713935"/>
                    </a:lnTo>
                    <a:cubicBezTo>
                      <a:pt x="2005417" y="720946"/>
                      <a:pt x="2002632" y="727670"/>
                      <a:pt x="1997675" y="732628"/>
                    </a:cubicBezTo>
                    <a:cubicBezTo>
                      <a:pt x="1992717" y="737586"/>
                      <a:pt x="1985993" y="740371"/>
                      <a:pt x="1978982" y="740371"/>
                    </a:cubicBezTo>
                    <a:lnTo>
                      <a:pt x="26436" y="740371"/>
                    </a:lnTo>
                    <a:cubicBezTo>
                      <a:pt x="19425" y="740371"/>
                      <a:pt x="12700" y="737586"/>
                      <a:pt x="7743" y="732628"/>
                    </a:cubicBezTo>
                    <a:cubicBezTo>
                      <a:pt x="2785" y="727670"/>
                      <a:pt x="0" y="720946"/>
                      <a:pt x="0" y="713935"/>
                    </a:cubicBezTo>
                    <a:lnTo>
                      <a:pt x="0" y="26436"/>
                    </a:lnTo>
                    <a:cubicBezTo>
                      <a:pt x="0" y="19425"/>
                      <a:pt x="2785" y="12700"/>
                      <a:pt x="7743" y="7743"/>
                    </a:cubicBezTo>
                    <a:cubicBezTo>
                      <a:pt x="12700" y="2785"/>
                      <a:pt x="19425" y="0"/>
                      <a:pt x="26436" y="0"/>
                    </a:cubicBezTo>
                    <a:close/>
                  </a:path>
                </a:pathLst>
              </a:custGeom>
              <a:solidFill>
                <a:srgbClr val="FFFFFF"/>
              </a:solidFill>
              <a:ln w="38100" cap="rnd">
                <a:solidFill>
                  <a:srgbClr val="BF9585"/>
                </a:solidFill>
                <a:prstDash val="lgDash"/>
                <a:round/>
              </a:ln>
            </p:spPr>
          </p:sp>
          <p:sp>
            <p:nvSpPr>
              <p:cNvPr name="TextBox 56" id="56"/>
              <p:cNvSpPr txBox="true"/>
              <p:nvPr/>
            </p:nvSpPr>
            <p:spPr>
              <a:xfrm>
                <a:off x="0" y="-38100"/>
                <a:ext cx="2005417" cy="77847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7" id="57"/>
            <p:cNvSpPr txBox="true"/>
            <p:nvPr/>
          </p:nvSpPr>
          <p:spPr>
            <a:xfrm rot="0">
              <a:off x="371024" y="1311106"/>
              <a:ext cx="9272242" cy="2950295"/>
            </a:xfrm>
            <a:prstGeom prst="rect">
              <a:avLst/>
            </a:prstGeom>
          </p:spPr>
          <p:txBody>
            <a:bodyPr anchor="t" rtlCol="false" tIns="0" lIns="0" bIns="0" rIns="0">
              <a:spAutoFit/>
            </a:bodyPr>
            <a:lstStyle/>
            <a:p>
              <a:pPr algn="l" marL="474979" indent="-237490" lvl="1">
                <a:lnSpc>
                  <a:spcPts val="2991"/>
                </a:lnSpc>
                <a:buFont typeface="Arial"/>
                <a:buChar char="•"/>
              </a:pPr>
              <a:r>
                <a:rPr lang="en-US" b="true" sz="2199" spc="19">
                  <a:solidFill>
                    <a:srgbClr val="7B6861"/>
                  </a:solidFill>
                  <a:latin typeface="Quicksand Medium"/>
                  <a:ea typeface="Quicksand Medium"/>
                  <a:cs typeface="Quicksand Medium"/>
                  <a:sym typeface="Quicksand Medium"/>
                </a:rPr>
                <a:t>Mobile applicatio</a:t>
              </a:r>
              <a:r>
                <a:rPr lang="en-US" b="true" sz="2199" spc="19" strike="noStrike" u="none">
                  <a:solidFill>
                    <a:srgbClr val="7B6861"/>
                  </a:solidFill>
                  <a:latin typeface="Quicksand Medium"/>
                  <a:ea typeface="Quicksand Medium"/>
                  <a:cs typeface="Quicksand Medium"/>
                  <a:sym typeface="Quicksand Medium"/>
                </a:rPr>
                <a:t>n data</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External social media data</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D</a:t>
              </a:r>
              <a:r>
                <a:rPr lang="en-US" b="true" sz="2199" spc="19" strike="noStrike" u="none">
                  <a:solidFill>
                    <a:srgbClr val="7B6861"/>
                  </a:solidFill>
                  <a:latin typeface="Quicksand Medium"/>
                  <a:ea typeface="Quicksand Medium"/>
                  <a:cs typeface="Quicksand Medium"/>
                  <a:sym typeface="Quicksand Medium"/>
                </a:rPr>
                <a:t>irect m</a:t>
              </a:r>
              <a:r>
                <a:rPr lang="en-US" b="true" sz="2199" spc="19" strike="noStrike" u="none">
                  <a:solidFill>
                    <a:srgbClr val="7B6861"/>
                  </a:solidFill>
                  <a:latin typeface="Quicksand Medium"/>
                  <a:ea typeface="Quicksand Medium"/>
                  <a:cs typeface="Quicksand Medium"/>
                  <a:sym typeface="Quicksand Medium"/>
                </a:rPr>
                <a:t>ess</a:t>
              </a:r>
              <a:r>
                <a:rPr lang="en-US" b="true" sz="2199" spc="19" strike="noStrike" u="none">
                  <a:solidFill>
                    <a:srgbClr val="7B6861"/>
                  </a:solidFill>
                  <a:latin typeface="Quicksand Medium"/>
                  <a:ea typeface="Quicksand Medium"/>
                  <a:cs typeface="Quicksand Medium"/>
                  <a:sym typeface="Quicksand Medium"/>
                </a:rPr>
                <a:t>ages between</a:t>
              </a:r>
              <a:r>
                <a:rPr lang="en-US" b="true" sz="2199" spc="19" strike="noStrike" u="none">
                  <a:solidFill>
                    <a:srgbClr val="7B6861"/>
                  </a:solidFill>
                  <a:latin typeface="Quicksand Medium"/>
                  <a:ea typeface="Quicksand Medium"/>
                  <a:cs typeface="Quicksand Medium"/>
                  <a:sym typeface="Quicksand Medium"/>
                </a:rPr>
                <a:t> user</a:t>
              </a:r>
              <a:r>
                <a:rPr lang="en-US" b="true" sz="2199" spc="19" strike="noStrike" u="none">
                  <a:solidFill>
                    <a:srgbClr val="7B6861"/>
                  </a:solidFill>
                  <a:latin typeface="Quicksand Medium"/>
                  <a:ea typeface="Quicksand Medium"/>
                  <a:cs typeface="Quicksand Medium"/>
                  <a:sym typeface="Quicksand Medium"/>
                </a:rPr>
                <a:t>s</a:t>
              </a:r>
            </a:p>
            <a:p>
              <a:pPr algn="l" marL="474979" indent="-237490" lvl="1">
                <a:lnSpc>
                  <a:spcPts val="2991"/>
                </a:lnSpc>
                <a:buFont typeface="Arial"/>
                <a:buChar char="•"/>
              </a:pPr>
              <a:r>
                <a:rPr lang="en-US" b="true" sz="2199" spc="19" strike="noStrike" u="none">
                  <a:solidFill>
                    <a:srgbClr val="7B6861"/>
                  </a:solidFill>
                  <a:latin typeface="Quicksand Medium"/>
                  <a:ea typeface="Quicksand Medium"/>
                  <a:cs typeface="Quicksand Medium"/>
                  <a:sym typeface="Quicksand Medium"/>
                </a:rPr>
                <a:t>No accoun</a:t>
              </a:r>
              <a:r>
                <a:rPr lang="en-US" b="true" sz="2199" spc="19" strike="noStrike" u="none">
                  <a:solidFill>
                    <a:srgbClr val="7B6861"/>
                  </a:solidFill>
                  <a:latin typeface="Quicksand Medium"/>
                  <a:ea typeface="Quicksand Medium"/>
                  <a:cs typeface="Quicksand Medium"/>
                  <a:sym typeface="Quicksand Medium"/>
                </a:rPr>
                <a:t>t</a:t>
              </a:r>
              <a:r>
                <a:rPr lang="en-US" b="true" sz="2199" spc="19" strike="noStrike" u="none">
                  <a:solidFill>
                    <a:srgbClr val="7B6861"/>
                  </a:solidFill>
                  <a:latin typeface="Quicksand Medium"/>
                  <a:ea typeface="Quicksand Medium"/>
                  <a:cs typeface="Quicksand Medium"/>
                  <a:sym typeface="Quicksand Medium"/>
                </a:rPr>
                <a:t> </a:t>
              </a:r>
              <a:r>
                <a:rPr lang="en-US" b="true" sz="2199" spc="19" strike="noStrike" u="none">
                  <a:solidFill>
                    <a:srgbClr val="7B6861"/>
                  </a:solidFill>
                  <a:latin typeface="Quicksand Medium"/>
                  <a:ea typeface="Quicksand Medium"/>
                  <a:cs typeface="Quicksand Medium"/>
                  <a:sym typeface="Quicksand Medium"/>
                </a:rPr>
                <a:t>c</a:t>
              </a:r>
              <a:r>
                <a:rPr lang="en-US" b="true" sz="2199" spc="19" strike="noStrike" u="none">
                  <a:solidFill>
                    <a:srgbClr val="7B6861"/>
                  </a:solidFill>
                  <a:latin typeface="Quicksand Medium"/>
                  <a:ea typeface="Quicksand Medium"/>
                  <a:cs typeface="Quicksand Medium"/>
                  <a:sym typeface="Quicksand Medium"/>
                </a:rPr>
                <a:t>r</a:t>
              </a:r>
              <a:r>
                <a:rPr lang="en-US" b="true" sz="2199" spc="19" strike="noStrike" u="none">
                  <a:solidFill>
                    <a:srgbClr val="7B6861"/>
                  </a:solidFill>
                  <a:latin typeface="Quicksand Medium"/>
                  <a:ea typeface="Quicksand Medium"/>
                  <a:cs typeface="Quicksand Medium"/>
                  <a:sym typeface="Quicksand Medium"/>
                </a:rPr>
                <a:t>eation and personalization. (Use template accounts)</a:t>
              </a:r>
            </a:p>
            <a:p>
              <a:pPr algn="l">
                <a:lnSpc>
                  <a:spcPts val="2991"/>
                </a:lnSpc>
              </a:pPr>
            </a:p>
          </p:txBody>
        </p:sp>
        <p:grpSp>
          <p:nvGrpSpPr>
            <p:cNvPr name="Group 58" id="58"/>
            <p:cNvGrpSpPr/>
            <p:nvPr/>
          </p:nvGrpSpPr>
          <p:grpSpPr>
            <a:xfrm rot="0">
              <a:off x="232105" y="0"/>
              <a:ext cx="8077615" cy="1193814"/>
              <a:chOff x="0" y="0"/>
              <a:chExt cx="1976465" cy="292107"/>
            </a:xfrm>
          </p:grpSpPr>
          <p:sp>
            <p:nvSpPr>
              <p:cNvPr name="Freeform 59" id="59"/>
              <p:cNvSpPr/>
              <p:nvPr/>
            </p:nvSpPr>
            <p:spPr>
              <a:xfrm flipH="false" flipV="false" rot="0">
                <a:off x="0" y="0"/>
                <a:ext cx="1976465" cy="292107"/>
              </a:xfrm>
              <a:custGeom>
                <a:avLst/>
                <a:gdLst/>
                <a:ahLst/>
                <a:cxnLst/>
                <a:rect r="r" b="b" t="t" l="l"/>
                <a:pathLst>
                  <a:path h="292107" w="1976465">
                    <a:moveTo>
                      <a:pt x="26836" y="0"/>
                    </a:moveTo>
                    <a:lnTo>
                      <a:pt x="1949628" y="0"/>
                    </a:lnTo>
                    <a:cubicBezTo>
                      <a:pt x="1964450" y="0"/>
                      <a:pt x="1976465" y="12015"/>
                      <a:pt x="1976465" y="26836"/>
                    </a:cubicBezTo>
                    <a:lnTo>
                      <a:pt x="1976465" y="265271"/>
                    </a:lnTo>
                    <a:cubicBezTo>
                      <a:pt x="1976465" y="280092"/>
                      <a:pt x="1964450" y="292107"/>
                      <a:pt x="1949628" y="292107"/>
                    </a:cubicBezTo>
                    <a:lnTo>
                      <a:pt x="26836" y="292107"/>
                    </a:lnTo>
                    <a:cubicBezTo>
                      <a:pt x="12015" y="292107"/>
                      <a:pt x="0" y="280092"/>
                      <a:pt x="0" y="265271"/>
                    </a:cubicBezTo>
                    <a:lnTo>
                      <a:pt x="0" y="26836"/>
                    </a:lnTo>
                    <a:cubicBezTo>
                      <a:pt x="0" y="12015"/>
                      <a:pt x="12015" y="0"/>
                      <a:pt x="26836" y="0"/>
                    </a:cubicBezTo>
                    <a:close/>
                  </a:path>
                </a:pathLst>
              </a:custGeom>
              <a:solidFill>
                <a:srgbClr val="FFFFFF"/>
              </a:solidFill>
              <a:ln w="38100" cap="rnd">
                <a:solidFill>
                  <a:srgbClr val="BF9585"/>
                </a:solidFill>
                <a:prstDash val="dash"/>
                <a:round/>
              </a:ln>
            </p:spPr>
          </p:sp>
          <p:sp>
            <p:nvSpPr>
              <p:cNvPr name="TextBox 60" id="60"/>
              <p:cNvSpPr txBox="true"/>
              <p:nvPr/>
            </p:nvSpPr>
            <p:spPr>
              <a:xfrm>
                <a:off x="0" y="-38100"/>
                <a:ext cx="1976465" cy="3302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1" id="61"/>
            <p:cNvSpPr txBox="true"/>
            <p:nvPr/>
          </p:nvSpPr>
          <p:spPr>
            <a:xfrm rot="0">
              <a:off x="490985" y="162228"/>
              <a:ext cx="4008992" cy="793157"/>
            </a:xfrm>
            <a:prstGeom prst="rect">
              <a:avLst/>
            </a:prstGeom>
          </p:spPr>
          <p:txBody>
            <a:bodyPr anchor="t" rtlCol="false" tIns="0" lIns="0" bIns="0" rIns="0">
              <a:spAutoFit/>
            </a:bodyPr>
            <a:lstStyle/>
            <a:p>
              <a:pPr algn="l">
                <a:lnSpc>
                  <a:spcPts val="5011"/>
                </a:lnSpc>
              </a:pPr>
              <a:r>
                <a:rPr lang="en-US" sz="3579" spc="-75" b="true">
                  <a:solidFill>
                    <a:srgbClr val="7B6861"/>
                  </a:solidFill>
                  <a:latin typeface="Quicksand Bold"/>
                  <a:ea typeface="Quicksand Bold"/>
                  <a:cs typeface="Quicksand Bold"/>
                  <a:sym typeface="Quicksand Bold"/>
                </a:rPr>
                <a:t>Out of Scope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656683" y="-3461388"/>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631297">
            <a:off x="15810702" y="794357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584877" y="3192630"/>
            <a:ext cx="4942583" cy="3517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EXAMPLE</a:t>
            </a:r>
          </a:p>
          <a:p>
            <a:pPr algn="ctr">
              <a:lnSpc>
                <a:spcPts val="9024"/>
              </a:lnSpc>
            </a:pPr>
            <a:r>
              <a:rPr lang="en-US" sz="9600" spc="-480">
                <a:solidFill>
                  <a:srgbClr val="FFFFFF"/>
                </a:solidFill>
                <a:latin typeface="210 클레이토이"/>
                <a:ea typeface="210 클레이토이"/>
                <a:cs typeface="210 클레이토이"/>
                <a:sym typeface="210 클레이토이"/>
              </a:rPr>
              <a:t>BUSINESS</a:t>
            </a:r>
          </a:p>
          <a:p>
            <a:pPr algn="ctr">
              <a:lnSpc>
                <a:spcPts val="9024"/>
              </a:lnSpc>
            </a:pPr>
            <a:r>
              <a:rPr lang="en-US" sz="9600" spc="-480">
                <a:solidFill>
                  <a:srgbClr val="FFFFFF"/>
                </a:solidFill>
                <a:latin typeface="210 클레이토이"/>
                <a:ea typeface="210 클레이토이"/>
                <a:cs typeface="210 클레이토이"/>
                <a:sym typeface="210 클레이토이"/>
              </a:rPr>
              <a:t>RULES</a:t>
            </a:r>
          </a:p>
        </p:txBody>
      </p:sp>
      <p:sp>
        <p:nvSpPr>
          <p:cNvPr name="Freeform 14" id="14"/>
          <p:cNvSpPr/>
          <p:nvPr/>
        </p:nvSpPr>
        <p:spPr>
          <a:xfrm flipH="false" flipV="false" rot="0">
            <a:off x="990485" y="6710022"/>
            <a:ext cx="4131367" cy="450695"/>
          </a:xfrm>
          <a:custGeom>
            <a:avLst/>
            <a:gdLst/>
            <a:ahLst/>
            <a:cxnLst/>
            <a:rect r="r" b="b" t="t" l="l"/>
            <a:pathLst>
              <a:path h="450695" w="4131367">
                <a:moveTo>
                  <a:pt x="0" y="0"/>
                </a:moveTo>
                <a:lnTo>
                  <a:pt x="4131367" y="0"/>
                </a:lnTo>
                <a:lnTo>
                  <a:pt x="4131367" y="450694"/>
                </a:lnTo>
                <a:lnTo>
                  <a:pt x="0" y="4506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aphicFrame>
        <p:nvGraphicFramePr>
          <p:cNvPr name="Object 18" id="18"/>
          <p:cNvGraphicFramePr/>
          <p:nvPr/>
        </p:nvGraphicFramePr>
        <p:xfrm>
          <a:off x="6192436" y="2528573"/>
          <a:ext cx="9586912" cy="2514600"/>
        </p:xfrm>
        <a:graphic>
          <a:graphicData uri="http://schemas.openxmlformats.org/presentationml/2006/ole">
            <p:oleObj imgW="11506200" imgH="4419600" r:id="rId15" progId="Excel.Sheet.12" name="Worksheet">
              <p:embed/>
              <p:pic>
                <p:nvPicPr>
                  <p:cNvPr name="" id="0"/>
                  <p:cNvPicPr/>
                  <p:nvPr/>
                </p:nvPicPr>
                <p:blipFill>
                  <a:blip r:embed="rId14"/>
                  <a:stretch>
                    <a:fillRect/>
                  </a:stretch>
                </p:blipFill>
                <p:spPr>
                  <a:xfrm>
                    <a:off x="1270000" y="1270000"/>
                    <a:ext cx="1270000" cy="1270000"/>
                  </a:xfrm>
                  <a:prstGeom prst="rect"/>
                </p:spPr>
              </p:pic>
            </p:oleObj>
          </a:graphicData>
        </a:graphic>
      </p:graphicFrame>
      <p:sp>
        <p:nvSpPr>
          <p:cNvPr name="TextBox 19" id="19"/>
          <p:cNvSpPr txBox="true"/>
          <p:nvPr/>
        </p:nvSpPr>
        <p:spPr>
          <a:xfrm rot="0">
            <a:off x="5989857" y="1080202"/>
            <a:ext cx="11842808" cy="1231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RELATIONSHIP RULES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656683" y="-3461388"/>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631297">
            <a:off x="15810702" y="794357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584877" y="3192630"/>
            <a:ext cx="4942583" cy="3517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EXAMPLE</a:t>
            </a:r>
          </a:p>
          <a:p>
            <a:pPr algn="ctr">
              <a:lnSpc>
                <a:spcPts val="9024"/>
              </a:lnSpc>
            </a:pPr>
            <a:r>
              <a:rPr lang="en-US" sz="9600" spc="-480">
                <a:solidFill>
                  <a:srgbClr val="FFFFFF"/>
                </a:solidFill>
                <a:latin typeface="210 클레이토이"/>
                <a:ea typeface="210 클레이토이"/>
                <a:cs typeface="210 클레이토이"/>
                <a:sym typeface="210 클레이토이"/>
              </a:rPr>
              <a:t>BUSINESS</a:t>
            </a:r>
          </a:p>
          <a:p>
            <a:pPr algn="ctr">
              <a:lnSpc>
                <a:spcPts val="9024"/>
              </a:lnSpc>
            </a:pPr>
            <a:r>
              <a:rPr lang="en-US" sz="9600" spc="-480">
                <a:solidFill>
                  <a:srgbClr val="FFFFFF"/>
                </a:solidFill>
                <a:latin typeface="210 클레이토이"/>
                <a:ea typeface="210 클레이토이"/>
                <a:cs typeface="210 클레이토이"/>
                <a:sym typeface="210 클레이토이"/>
              </a:rPr>
              <a:t>RULES</a:t>
            </a:r>
          </a:p>
        </p:txBody>
      </p:sp>
      <p:sp>
        <p:nvSpPr>
          <p:cNvPr name="Freeform 14" id="14"/>
          <p:cNvSpPr/>
          <p:nvPr/>
        </p:nvSpPr>
        <p:spPr>
          <a:xfrm flipH="false" flipV="false" rot="0">
            <a:off x="990485" y="6710022"/>
            <a:ext cx="4131367" cy="450695"/>
          </a:xfrm>
          <a:custGeom>
            <a:avLst/>
            <a:gdLst/>
            <a:ahLst/>
            <a:cxnLst/>
            <a:rect r="r" b="b" t="t" l="l"/>
            <a:pathLst>
              <a:path h="450695" w="4131367">
                <a:moveTo>
                  <a:pt x="0" y="0"/>
                </a:moveTo>
                <a:lnTo>
                  <a:pt x="4131367" y="0"/>
                </a:lnTo>
                <a:lnTo>
                  <a:pt x="4131367" y="450694"/>
                </a:lnTo>
                <a:lnTo>
                  <a:pt x="0" y="4506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aphicFrame>
        <p:nvGraphicFramePr>
          <p:cNvPr name="Object 18" id="18"/>
          <p:cNvGraphicFramePr/>
          <p:nvPr/>
        </p:nvGraphicFramePr>
        <p:xfrm>
          <a:off x="6192436" y="3454594"/>
          <a:ext cx="9586912" cy="2514600"/>
        </p:xfrm>
        <a:graphic>
          <a:graphicData uri="http://schemas.openxmlformats.org/presentationml/2006/ole">
            <p:oleObj imgW="11506200" imgH="4419600" r:id="rId15" progId="Excel.Sheet.12" name="Worksheet">
              <p:embed/>
              <p:pic>
                <p:nvPicPr>
                  <p:cNvPr name="" id="0"/>
                  <p:cNvPicPr/>
                  <p:nvPr/>
                </p:nvPicPr>
                <p:blipFill>
                  <a:blip r:embed="rId14"/>
                  <a:stretch>
                    <a:fillRect/>
                  </a:stretch>
                </p:blipFill>
                <p:spPr>
                  <a:xfrm>
                    <a:off x="1270000" y="1270000"/>
                    <a:ext cx="1270000" cy="1270000"/>
                  </a:xfrm>
                  <a:prstGeom prst="rect"/>
                </p:spPr>
              </p:pic>
            </p:oleObj>
          </a:graphicData>
        </a:graphic>
      </p:graphicFrame>
      <p:sp>
        <p:nvSpPr>
          <p:cNvPr name="TextBox 19" id="19"/>
          <p:cNvSpPr txBox="true"/>
          <p:nvPr/>
        </p:nvSpPr>
        <p:spPr>
          <a:xfrm rot="0">
            <a:off x="6445192" y="1317572"/>
            <a:ext cx="11842808" cy="1231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ATTRIBUTES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656683" y="-3461388"/>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631297">
            <a:off x="15810702" y="794357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584877" y="3192630"/>
            <a:ext cx="4942583" cy="3517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EXAMPLE</a:t>
            </a:r>
          </a:p>
          <a:p>
            <a:pPr algn="ctr">
              <a:lnSpc>
                <a:spcPts val="9024"/>
              </a:lnSpc>
            </a:pPr>
            <a:r>
              <a:rPr lang="en-US" sz="9600" spc="-480">
                <a:solidFill>
                  <a:srgbClr val="FFFFFF"/>
                </a:solidFill>
                <a:latin typeface="210 클레이토이"/>
                <a:ea typeface="210 클레이토이"/>
                <a:cs typeface="210 클레이토이"/>
                <a:sym typeface="210 클레이토이"/>
              </a:rPr>
              <a:t>BUSINESS</a:t>
            </a:r>
          </a:p>
          <a:p>
            <a:pPr algn="ctr">
              <a:lnSpc>
                <a:spcPts val="9024"/>
              </a:lnSpc>
            </a:pPr>
            <a:r>
              <a:rPr lang="en-US" sz="9600" spc="-480">
                <a:solidFill>
                  <a:srgbClr val="FFFFFF"/>
                </a:solidFill>
                <a:latin typeface="210 클레이토이"/>
                <a:ea typeface="210 클레이토이"/>
                <a:cs typeface="210 클레이토이"/>
                <a:sym typeface="210 클레이토이"/>
              </a:rPr>
              <a:t>RULES</a:t>
            </a:r>
          </a:p>
        </p:txBody>
      </p:sp>
      <p:sp>
        <p:nvSpPr>
          <p:cNvPr name="Freeform 14" id="14"/>
          <p:cNvSpPr/>
          <p:nvPr/>
        </p:nvSpPr>
        <p:spPr>
          <a:xfrm flipH="false" flipV="false" rot="0">
            <a:off x="990485" y="6710022"/>
            <a:ext cx="4131367" cy="450695"/>
          </a:xfrm>
          <a:custGeom>
            <a:avLst/>
            <a:gdLst/>
            <a:ahLst/>
            <a:cxnLst/>
            <a:rect r="r" b="b" t="t" l="l"/>
            <a:pathLst>
              <a:path h="450695" w="4131367">
                <a:moveTo>
                  <a:pt x="0" y="0"/>
                </a:moveTo>
                <a:lnTo>
                  <a:pt x="4131367" y="0"/>
                </a:lnTo>
                <a:lnTo>
                  <a:pt x="4131367" y="450694"/>
                </a:lnTo>
                <a:lnTo>
                  <a:pt x="0" y="4506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aphicFrame>
        <p:nvGraphicFramePr>
          <p:cNvPr name="Object 18" id="18"/>
          <p:cNvGraphicFramePr/>
          <p:nvPr/>
        </p:nvGraphicFramePr>
        <p:xfrm>
          <a:off x="6137454" y="2837953"/>
          <a:ext cx="9586912" cy="2514600"/>
        </p:xfrm>
        <a:graphic>
          <a:graphicData uri="http://schemas.openxmlformats.org/presentationml/2006/ole">
            <p:oleObj imgW="11506200" imgH="4419600" r:id="rId15" progId="Excel.Sheet.12" name="Worksheet">
              <p:embed/>
              <p:pic>
                <p:nvPicPr>
                  <p:cNvPr name="" id="0"/>
                  <p:cNvPicPr/>
                  <p:nvPr/>
                </p:nvPicPr>
                <p:blipFill>
                  <a:blip r:embed="rId14"/>
                  <a:stretch>
                    <a:fillRect/>
                  </a:stretch>
                </p:blipFill>
                <p:spPr>
                  <a:xfrm>
                    <a:off x="1270000" y="1270000"/>
                    <a:ext cx="1270000" cy="1270000"/>
                  </a:xfrm>
                  <a:prstGeom prst="rect"/>
                </p:spPr>
              </p:pic>
            </p:oleObj>
          </a:graphicData>
        </a:graphic>
      </p:graphicFrame>
      <p:sp>
        <p:nvSpPr>
          <p:cNvPr name="TextBox 19" id="19"/>
          <p:cNvSpPr txBox="true"/>
          <p:nvPr/>
        </p:nvSpPr>
        <p:spPr>
          <a:xfrm rot="0">
            <a:off x="6445192" y="1317572"/>
            <a:ext cx="11842808" cy="1231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CONSTRAINTS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656683" y="-3461388"/>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631297">
            <a:off x="15810702" y="794357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584877" y="3192630"/>
            <a:ext cx="4942583" cy="3517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EXAMPLE</a:t>
            </a:r>
          </a:p>
          <a:p>
            <a:pPr algn="ctr">
              <a:lnSpc>
                <a:spcPts val="9024"/>
              </a:lnSpc>
            </a:pPr>
            <a:r>
              <a:rPr lang="en-US" sz="9600" spc="-480">
                <a:solidFill>
                  <a:srgbClr val="FFFFFF"/>
                </a:solidFill>
                <a:latin typeface="210 클레이토이"/>
                <a:ea typeface="210 클레이토이"/>
                <a:cs typeface="210 클레이토이"/>
                <a:sym typeface="210 클레이토이"/>
              </a:rPr>
              <a:t>BUSINESS</a:t>
            </a:r>
          </a:p>
          <a:p>
            <a:pPr algn="ctr">
              <a:lnSpc>
                <a:spcPts val="9024"/>
              </a:lnSpc>
            </a:pPr>
            <a:r>
              <a:rPr lang="en-US" sz="9600" spc="-480">
                <a:solidFill>
                  <a:srgbClr val="FFFFFF"/>
                </a:solidFill>
                <a:latin typeface="210 클레이토이"/>
                <a:ea typeface="210 클레이토이"/>
                <a:cs typeface="210 클레이토이"/>
                <a:sym typeface="210 클레이토이"/>
              </a:rPr>
              <a:t>RULES</a:t>
            </a:r>
          </a:p>
        </p:txBody>
      </p:sp>
      <p:sp>
        <p:nvSpPr>
          <p:cNvPr name="Freeform 14" id="14"/>
          <p:cNvSpPr/>
          <p:nvPr/>
        </p:nvSpPr>
        <p:spPr>
          <a:xfrm flipH="false" flipV="false" rot="0">
            <a:off x="990485" y="6710022"/>
            <a:ext cx="4131367" cy="450695"/>
          </a:xfrm>
          <a:custGeom>
            <a:avLst/>
            <a:gdLst/>
            <a:ahLst/>
            <a:cxnLst/>
            <a:rect r="r" b="b" t="t" l="l"/>
            <a:pathLst>
              <a:path h="450695" w="4131367">
                <a:moveTo>
                  <a:pt x="0" y="0"/>
                </a:moveTo>
                <a:lnTo>
                  <a:pt x="4131367" y="0"/>
                </a:lnTo>
                <a:lnTo>
                  <a:pt x="4131367" y="450694"/>
                </a:lnTo>
                <a:lnTo>
                  <a:pt x="0" y="4506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aphicFrame>
        <p:nvGraphicFramePr>
          <p:cNvPr name="Object 18" id="18"/>
          <p:cNvGraphicFramePr/>
          <p:nvPr/>
        </p:nvGraphicFramePr>
        <p:xfrm>
          <a:off x="6137454" y="2837953"/>
          <a:ext cx="9586912" cy="2514600"/>
        </p:xfrm>
        <a:graphic>
          <a:graphicData uri="http://schemas.openxmlformats.org/presentationml/2006/ole">
            <p:oleObj imgW="11506200" imgH="4419600" r:id="rId15" progId="Excel.Sheet.12" name="Worksheet">
              <p:embed/>
              <p:pic>
                <p:nvPicPr>
                  <p:cNvPr name="" id="0"/>
                  <p:cNvPicPr/>
                  <p:nvPr/>
                </p:nvPicPr>
                <p:blipFill>
                  <a:blip r:embed="rId14"/>
                  <a:stretch>
                    <a:fillRect/>
                  </a:stretch>
                </p:blipFill>
                <p:spPr>
                  <a:xfrm>
                    <a:off x="1270000" y="1270000"/>
                    <a:ext cx="1270000" cy="1270000"/>
                  </a:xfrm>
                  <a:prstGeom prst="rect"/>
                </p:spPr>
              </p:pic>
            </p:oleObj>
          </a:graphicData>
        </a:graphic>
      </p:graphicFrame>
      <p:sp>
        <p:nvSpPr>
          <p:cNvPr name="TextBox 19" id="19"/>
          <p:cNvSpPr txBox="true"/>
          <p:nvPr/>
        </p:nvSpPr>
        <p:spPr>
          <a:xfrm rot="0">
            <a:off x="6445192" y="1317572"/>
            <a:ext cx="11842808" cy="1231392"/>
          </a:xfrm>
          <a:prstGeom prst="rect">
            <a:avLst/>
          </a:prstGeom>
        </p:spPr>
        <p:txBody>
          <a:bodyPr anchor="t" rtlCol="false" tIns="0" lIns="0" bIns="0" rIns="0">
            <a:spAutoFit/>
          </a:bodyPr>
          <a:lstStyle/>
          <a:p>
            <a:pPr algn="ctr">
              <a:lnSpc>
                <a:spcPts val="9024"/>
              </a:lnSpc>
            </a:pPr>
            <a:r>
              <a:rPr lang="en-US" sz="9600" spc="-480">
                <a:solidFill>
                  <a:srgbClr val="FFFFFF"/>
                </a:solidFill>
                <a:latin typeface="210 클레이토이"/>
                <a:ea typeface="210 클레이토이"/>
                <a:cs typeface="210 클레이토이"/>
                <a:sym typeface="210 클레이토이"/>
              </a:rPr>
              <a:t>SPECIALISATION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6093899" y="0"/>
            <a:ext cx="12194101" cy="10307756"/>
          </a:xfrm>
          <a:custGeom>
            <a:avLst/>
            <a:gdLst/>
            <a:ahLst/>
            <a:cxnLst/>
            <a:rect r="r" b="b" t="t" l="l"/>
            <a:pathLst>
              <a:path h="10307756" w="12194101">
                <a:moveTo>
                  <a:pt x="0" y="0"/>
                </a:moveTo>
                <a:lnTo>
                  <a:pt x="12194101" y="0"/>
                </a:lnTo>
                <a:lnTo>
                  <a:pt x="12194101" y="10307756"/>
                </a:lnTo>
                <a:lnTo>
                  <a:pt x="0" y="10307756"/>
                </a:lnTo>
                <a:lnTo>
                  <a:pt x="0" y="0"/>
                </a:lnTo>
                <a:close/>
              </a:path>
            </a:pathLst>
          </a:custGeom>
          <a:blipFill>
            <a:blip r:embed="rId4"/>
            <a:stretch>
              <a:fillRect l="0" t="0" r="0" b="0"/>
            </a:stretch>
          </a:blipFill>
        </p:spPr>
      </p:sp>
      <p:sp>
        <p:nvSpPr>
          <p:cNvPr name="TextBox 12" id="12"/>
          <p:cNvSpPr txBox="true"/>
          <p:nvPr/>
        </p:nvSpPr>
        <p:spPr>
          <a:xfrm rot="0">
            <a:off x="832295" y="3067790"/>
            <a:ext cx="4447746" cy="3642232"/>
          </a:xfrm>
          <a:prstGeom prst="rect">
            <a:avLst/>
          </a:prstGeom>
        </p:spPr>
        <p:txBody>
          <a:bodyPr anchor="t" rtlCol="false" tIns="0" lIns="0" bIns="0" rIns="0">
            <a:spAutoFit/>
          </a:bodyPr>
          <a:lstStyle/>
          <a:p>
            <a:pPr algn="l">
              <a:lnSpc>
                <a:spcPts val="20679"/>
              </a:lnSpc>
            </a:pPr>
            <a:r>
              <a:rPr lang="en-US" sz="21999" spc="-1099">
                <a:solidFill>
                  <a:srgbClr val="FFFFFF"/>
                </a:solidFill>
                <a:latin typeface="210 클레이토이"/>
                <a:ea typeface="210 클레이토이"/>
                <a:cs typeface="210 클레이토이"/>
                <a:sym typeface="210 클레이토이"/>
              </a:rPr>
              <a:t>EER</a:t>
            </a:r>
          </a:p>
          <a:p>
            <a:pPr algn="l">
              <a:lnSpc>
                <a:spcPts val="8271"/>
              </a:lnSpc>
            </a:pPr>
            <a:r>
              <a:rPr lang="en-US" sz="8799" spc="-439">
                <a:solidFill>
                  <a:srgbClr val="FFFFFF"/>
                </a:solidFill>
                <a:latin typeface="210 클레이토이"/>
                <a:ea typeface="210 클레이토이"/>
                <a:cs typeface="210 클레이토이"/>
                <a:sym typeface="210 클레이토이"/>
              </a:rPr>
              <a:t>DIAGRAM</a:t>
            </a:r>
          </a:p>
        </p:txBody>
      </p:sp>
      <p:sp>
        <p:nvSpPr>
          <p:cNvPr name="Freeform 13" id="13"/>
          <p:cNvSpPr/>
          <p:nvPr/>
        </p:nvSpPr>
        <p:spPr>
          <a:xfrm flipH="false" flipV="false" rot="0">
            <a:off x="990485" y="6710022"/>
            <a:ext cx="4131367" cy="450695"/>
          </a:xfrm>
          <a:custGeom>
            <a:avLst/>
            <a:gdLst/>
            <a:ahLst/>
            <a:cxnLst/>
            <a:rect r="r" b="b" t="t" l="l"/>
            <a:pathLst>
              <a:path h="450695" w="4131367">
                <a:moveTo>
                  <a:pt x="0" y="0"/>
                </a:moveTo>
                <a:lnTo>
                  <a:pt x="4131367" y="0"/>
                </a:lnTo>
                <a:lnTo>
                  <a:pt x="4131367" y="450694"/>
                </a:lnTo>
                <a:lnTo>
                  <a:pt x="0" y="4506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6093899" y="9913015"/>
            <a:ext cx="5047122" cy="368299"/>
          </a:xfrm>
          <a:prstGeom prst="rect">
            <a:avLst/>
          </a:prstGeom>
        </p:spPr>
        <p:txBody>
          <a:bodyPr anchor="t" rtlCol="false" tIns="0" lIns="0" bIns="0" rIns="0">
            <a:spAutoFit/>
          </a:bodyPr>
          <a:lstStyle/>
          <a:p>
            <a:pPr algn="l" marL="0" indent="0" lvl="0">
              <a:lnSpc>
                <a:spcPts val="2971"/>
              </a:lnSpc>
            </a:pPr>
            <a:r>
              <a:rPr lang="en-US" b="true" sz="2184" spc="19">
                <a:solidFill>
                  <a:srgbClr val="7B6861"/>
                </a:solidFill>
                <a:latin typeface="Quicksand Medium"/>
                <a:ea typeface="Quicksand Medium"/>
                <a:cs typeface="Quicksand Medium"/>
                <a:sym typeface="Quicksand Medium"/>
              </a:rPr>
              <a:t>Note: EER diagram is already in 3NF</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706069" y="4330890"/>
            <a:ext cx="5444359" cy="1334009"/>
          </a:xfrm>
          <a:prstGeom prst="rect">
            <a:avLst/>
          </a:prstGeom>
        </p:spPr>
        <p:txBody>
          <a:bodyPr anchor="t" rtlCol="false" tIns="0" lIns="0" bIns="0" rIns="0">
            <a:spAutoFit/>
          </a:bodyPr>
          <a:lstStyle/>
          <a:p>
            <a:pPr algn="l">
              <a:lnSpc>
                <a:spcPts val="9776"/>
              </a:lnSpc>
            </a:pPr>
            <a:r>
              <a:rPr lang="en-US" sz="10400" spc="-520">
                <a:solidFill>
                  <a:srgbClr val="FFFFFF"/>
                </a:solidFill>
                <a:latin typeface="210 클레이토이"/>
                <a:ea typeface="210 클레이토이"/>
                <a:cs typeface="210 클레이토이"/>
                <a:sym typeface="210 클레이토이"/>
              </a:rPr>
              <a:t>SCHEMAS</a:t>
            </a:r>
          </a:p>
        </p:txBody>
      </p:sp>
      <p:sp>
        <p:nvSpPr>
          <p:cNvPr name="Freeform 12" id="12"/>
          <p:cNvSpPr/>
          <p:nvPr/>
        </p:nvSpPr>
        <p:spPr>
          <a:xfrm flipH="false" flipV="false" rot="0">
            <a:off x="1362565" y="5664899"/>
            <a:ext cx="4131367" cy="450695"/>
          </a:xfrm>
          <a:custGeom>
            <a:avLst/>
            <a:gdLst/>
            <a:ahLst/>
            <a:cxnLst/>
            <a:rect r="r" b="b" t="t" l="l"/>
            <a:pathLst>
              <a:path h="450695" w="4131367">
                <a:moveTo>
                  <a:pt x="0" y="0"/>
                </a:moveTo>
                <a:lnTo>
                  <a:pt x="4131367" y="0"/>
                </a:lnTo>
                <a:lnTo>
                  <a:pt x="4131367" y="450695"/>
                </a:lnTo>
                <a:lnTo>
                  <a:pt x="0" y="450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715880" y="5687"/>
            <a:ext cx="10158145" cy="10281313"/>
          </a:xfrm>
          <a:custGeom>
            <a:avLst/>
            <a:gdLst/>
            <a:ahLst/>
            <a:cxnLst/>
            <a:rect r="r" b="b" t="t" l="l"/>
            <a:pathLst>
              <a:path h="10281313" w="10158145">
                <a:moveTo>
                  <a:pt x="0" y="0"/>
                </a:moveTo>
                <a:lnTo>
                  <a:pt x="10158145" y="0"/>
                </a:lnTo>
                <a:lnTo>
                  <a:pt x="10158145" y="10281313"/>
                </a:lnTo>
                <a:lnTo>
                  <a:pt x="0" y="10281313"/>
                </a:lnTo>
                <a:lnTo>
                  <a:pt x="0" y="0"/>
                </a:lnTo>
                <a:close/>
              </a:path>
            </a:pathLst>
          </a:custGeom>
          <a:blipFill>
            <a:blip r:embed="rId12"/>
            <a:stretch>
              <a:fillRect l="0" t="0" r="0" b="0"/>
            </a:stretch>
          </a:blipFill>
        </p:spPr>
      </p:sp>
      <p:sp>
        <p:nvSpPr>
          <p:cNvPr name="TextBox 17" id="17"/>
          <p:cNvSpPr txBox="true"/>
          <p:nvPr/>
        </p:nvSpPr>
        <p:spPr>
          <a:xfrm rot="0">
            <a:off x="11272090" y="9913015"/>
            <a:ext cx="5601935" cy="368299"/>
          </a:xfrm>
          <a:prstGeom prst="rect">
            <a:avLst/>
          </a:prstGeom>
        </p:spPr>
        <p:txBody>
          <a:bodyPr anchor="t" rtlCol="false" tIns="0" lIns="0" bIns="0" rIns="0">
            <a:spAutoFit/>
          </a:bodyPr>
          <a:lstStyle/>
          <a:p>
            <a:pPr algn="l" marL="0" indent="0" lvl="0">
              <a:lnSpc>
                <a:spcPts val="2971"/>
              </a:lnSpc>
            </a:pPr>
            <a:r>
              <a:rPr lang="en-US" b="true" sz="2184" spc="19">
                <a:solidFill>
                  <a:srgbClr val="7B6861"/>
                </a:solidFill>
                <a:latin typeface="Quicksand Medium"/>
                <a:ea typeface="Quicksand Medium"/>
                <a:cs typeface="Quicksand Medium"/>
                <a:sym typeface="Quicksand Medium"/>
              </a:rPr>
              <a:t>Note: The schemas are already in 3NF</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3746120" y="3563475"/>
            <a:ext cx="10795760" cy="4223719"/>
          </a:xfrm>
          <a:custGeom>
            <a:avLst/>
            <a:gdLst/>
            <a:ahLst/>
            <a:cxnLst/>
            <a:rect r="r" b="b" t="t" l="l"/>
            <a:pathLst>
              <a:path h="4223719" w="10795760">
                <a:moveTo>
                  <a:pt x="0" y="0"/>
                </a:moveTo>
                <a:lnTo>
                  <a:pt x="10795760" y="0"/>
                </a:lnTo>
                <a:lnTo>
                  <a:pt x="10795760" y="4223719"/>
                </a:lnTo>
                <a:lnTo>
                  <a:pt x="0" y="4223719"/>
                </a:lnTo>
                <a:lnTo>
                  <a:pt x="0" y="0"/>
                </a:lnTo>
                <a:close/>
              </a:path>
            </a:pathLst>
          </a:custGeom>
          <a:blipFill>
            <a:blip r:embed="rId10"/>
            <a:stretch>
              <a:fillRect l="0" t="0" r="0" b="0"/>
            </a:stretch>
          </a:blipFill>
        </p:spPr>
      </p:sp>
      <p:sp>
        <p:nvSpPr>
          <p:cNvPr name="TextBox 15" id="15"/>
          <p:cNvSpPr txBox="true"/>
          <p:nvPr/>
        </p:nvSpPr>
        <p:spPr>
          <a:xfrm rot="0">
            <a:off x="4006076" y="485521"/>
            <a:ext cx="10368317" cy="1334009"/>
          </a:xfrm>
          <a:prstGeom prst="rect">
            <a:avLst/>
          </a:prstGeom>
        </p:spPr>
        <p:txBody>
          <a:bodyPr anchor="t" rtlCol="false" tIns="0" lIns="0" bIns="0" rIns="0">
            <a:spAutoFit/>
          </a:bodyPr>
          <a:lstStyle/>
          <a:p>
            <a:pPr algn="ctr">
              <a:lnSpc>
                <a:spcPts val="9776"/>
              </a:lnSpc>
            </a:pPr>
            <a:r>
              <a:rPr lang="en-US" sz="10400" spc="-520">
                <a:solidFill>
                  <a:srgbClr val="FFFFFF"/>
                </a:solidFill>
                <a:latin typeface="210 클레이토이"/>
                <a:ea typeface="210 클레이토이"/>
                <a:cs typeface="210 클레이토이"/>
                <a:sym typeface="210 클레이토이"/>
              </a:rPr>
              <a:t>NORMALISATION</a:t>
            </a:r>
          </a:p>
        </p:txBody>
      </p:sp>
      <p:sp>
        <p:nvSpPr>
          <p:cNvPr name="TextBox 16" id="16"/>
          <p:cNvSpPr txBox="true"/>
          <p:nvPr/>
        </p:nvSpPr>
        <p:spPr>
          <a:xfrm rot="0">
            <a:off x="1881417" y="1880661"/>
            <a:ext cx="14617634" cy="1429131"/>
          </a:xfrm>
          <a:prstGeom prst="rect">
            <a:avLst/>
          </a:prstGeom>
        </p:spPr>
        <p:txBody>
          <a:bodyPr anchor="t" rtlCol="false" tIns="0" lIns="0" bIns="0" rIns="0">
            <a:spAutoFit/>
          </a:bodyPr>
          <a:lstStyle/>
          <a:p>
            <a:pPr algn="ctr" marL="0" indent="0" lvl="0">
              <a:lnSpc>
                <a:spcPts val="5712"/>
              </a:lnSpc>
            </a:pPr>
            <a:r>
              <a:rPr lang="en-US" b="true" sz="4200" spc="37">
                <a:solidFill>
                  <a:srgbClr val="7B6861"/>
                </a:solidFill>
                <a:latin typeface="Quicksand Medium"/>
                <a:ea typeface="Quicksand Medium"/>
                <a:cs typeface="Quicksand Medium"/>
                <a:sym typeface="Quicksand Medium"/>
              </a:rPr>
              <a:t>Note: This is a what-If situation because the EER and the mapped tables are already 3NF</a:t>
            </a:r>
          </a:p>
        </p:txBody>
      </p:sp>
      <p:sp>
        <p:nvSpPr>
          <p:cNvPr name="Freeform 17" id="17"/>
          <p:cNvSpPr/>
          <p:nvPr/>
        </p:nvSpPr>
        <p:spPr>
          <a:xfrm flipH="false" flipV="false" rot="0">
            <a:off x="4659625" y="7911019"/>
            <a:ext cx="8968751" cy="1709668"/>
          </a:xfrm>
          <a:custGeom>
            <a:avLst/>
            <a:gdLst/>
            <a:ahLst/>
            <a:cxnLst/>
            <a:rect r="r" b="b" t="t" l="l"/>
            <a:pathLst>
              <a:path h="1709668" w="8968751">
                <a:moveTo>
                  <a:pt x="0" y="0"/>
                </a:moveTo>
                <a:lnTo>
                  <a:pt x="8968750" y="0"/>
                </a:lnTo>
                <a:lnTo>
                  <a:pt x="8968750" y="1709668"/>
                </a:lnTo>
                <a:lnTo>
                  <a:pt x="0" y="1709668"/>
                </a:lnTo>
                <a:lnTo>
                  <a:pt x="0" y="0"/>
                </a:lnTo>
                <a:close/>
              </a:path>
            </a:pathLst>
          </a:custGeom>
          <a:blipFill>
            <a:blip r:embed="rId11"/>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5066523" y="5744225"/>
            <a:ext cx="8154954" cy="4136727"/>
          </a:xfrm>
          <a:custGeom>
            <a:avLst/>
            <a:gdLst/>
            <a:ahLst/>
            <a:cxnLst/>
            <a:rect r="r" b="b" t="t" l="l"/>
            <a:pathLst>
              <a:path h="4136727" w="8154954">
                <a:moveTo>
                  <a:pt x="0" y="0"/>
                </a:moveTo>
                <a:lnTo>
                  <a:pt x="8154954" y="0"/>
                </a:lnTo>
                <a:lnTo>
                  <a:pt x="8154954" y="4136727"/>
                </a:lnTo>
                <a:lnTo>
                  <a:pt x="0" y="4136727"/>
                </a:lnTo>
                <a:lnTo>
                  <a:pt x="0" y="0"/>
                </a:lnTo>
                <a:close/>
              </a:path>
            </a:pathLst>
          </a:custGeom>
          <a:blipFill>
            <a:blip r:embed="rId10"/>
            <a:stretch>
              <a:fillRect l="0" t="0" r="0" b="0"/>
            </a:stretch>
          </a:blipFill>
        </p:spPr>
      </p:sp>
      <p:sp>
        <p:nvSpPr>
          <p:cNvPr name="Freeform 15" id="15"/>
          <p:cNvSpPr/>
          <p:nvPr/>
        </p:nvSpPr>
        <p:spPr>
          <a:xfrm flipH="false" flipV="false" rot="0">
            <a:off x="5011420" y="2532983"/>
            <a:ext cx="8101596" cy="1544367"/>
          </a:xfrm>
          <a:custGeom>
            <a:avLst/>
            <a:gdLst/>
            <a:ahLst/>
            <a:cxnLst/>
            <a:rect r="r" b="b" t="t" l="l"/>
            <a:pathLst>
              <a:path h="1544367" w="8101596">
                <a:moveTo>
                  <a:pt x="0" y="0"/>
                </a:moveTo>
                <a:lnTo>
                  <a:pt x="8101596" y="0"/>
                </a:lnTo>
                <a:lnTo>
                  <a:pt x="8101596" y="1544367"/>
                </a:lnTo>
                <a:lnTo>
                  <a:pt x="0" y="1544367"/>
                </a:lnTo>
                <a:lnTo>
                  <a:pt x="0" y="0"/>
                </a:lnTo>
                <a:close/>
              </a:path>
            </a:pathLst>
          </a:custGeom>
          <a:blipFill>
            <a:blip r:embed="rId11"/>
            <a:stretch>
              <a:fillRect l="0" t="0" r="0" b="0"/>
            </a:stretch>
          </a:blipFill>
        </p:spPr>
      </p:sp>
      <p:sp>
        <p:nvSpPr>
          <p:cNvPr name="Freeform 16" id="16"/>
          <p:cNvSpPr/>
          <p:nvPr/>
        </p:nvSpPr>
        <p:spPr>
          <a:xfrm flipH="false" flipV="false" rot="5400000">
            <a:off x="8231702" y="4908112"/>
            <a:ext cx="1661031" cy="465089"/>
          </a:xfrm>
          <a:custGeom>
            <a:avLst/>
            <a:gdLst/>
            <a:ahLst/>
            <a:cxnLst/>
            <a:rect r="r" b="b" t="t" l="l"/>
            <a:pathLst>
              <a:path h="465089" w="1661031">
                <a:moveTo>
                  <a:pt x="0" y="0"/>
                </a:moveTo>
                <a:lnTo>
                  <a:pt x="1661031" y="0"/>
                </a:lnTo>
                <a:lnTo>
                  <a:pt x="1661031" y="465089"/>
                </a:lnTo>
                <a:lnTo>
                  <a:pt x="0" y="46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4692492" y="485521"/>
            <a:ext cx="8903016" cy="1334009"/>
          </a:xfrm>
          <a:prstGeom prst="rect">
            <a:avLst/>
          </a:prstGeom>
        </p:spPr>
        <p:txBody>
          <a:bodyPr anchor="t" rtlCol="false" tIns="0" lIns="0" bIns="0" rIns="0">
            <a:spAutoFit/>
          </a:bodyPr>
          <a:lstStyle/>
          <a:p>
            <a:pPr algn="l">
              <a:lnSpc>
                <a:spcPts val="9776"/>
              </a:lnSpc>
            </a:pPr>
            <a:r>
              <a:rPr lang="en-US" sz="10400" spc="-520">
                <a:solidFill>
                  <a:srgbClr val="FFFFFF"/>
                </a:solidFill>
                <a:latin typeface="210 클레이토이"/>
                <a:ea typeface="210 클레이토이"/>
                <a:cs typeface="210 클레이토이"/>
                <a:sym typeface="210 클레이토이"/>
              </a:rPr>
              <a:t>NORMALISATION</a:t>
            </a:r>
          </a:p>
        </p:txBody>
      </p:sp>
      <p:sp>
        <p:nvSpPr>
          <p:cNvPr name="TextBox 18" id="18"/>
          <p:cNvSpPr txBox="true"/>
          <p:nvPr/>
        </p:nvSpPr>
        <p:spPr>
          <a:xfrm rot="0">
            <a:off x="5066523" y="2159190"/>
            <a:ext cx="2500328" cy="394335"/>
          </a:xfrm>
          <a:prstGeom prst="rect">
            <a:avLst/>
          </a:prstGeom>
        </p:spPr>
        <p:txBody>
          <a:bodyPr anchor="t" rtlCol="false" tIns="0" lIns="0" bIns="0" rIns="0">
            <a:spAutoFit/>
          </a:bodyPr>
          <a:lstStyle/>
          <a:p>
            <a:pPr algn="l">
              <a:lnSpc>
                <a:spcPts val="2820"/>
              </a:lnSpc>
            </a:pPr>
            <a:r>
              <a:rPr lang="en-US" sz="3000" spc="-150">
                <a:solidFill>
                  <a:srgbClr val="FFFFFF"/>
                </a:solidFill>
                <a:latin typeface="210 클레이토이"/>
                <a:ea typeface="210 클레이토이"/>
                <a:cs typeface="210 클레이토이"/>
                <a:sym typeface="210 클레이토이"/>
              </a:rPr>
              <a:t>UNNORMALISED</a:t>
            </a:r>
          </a:p>
        </p:txBody>
      </p:sp>
      <p:sp>
        <p:nvSpPr>
          <p:cNvPr name="TextBox 19" id="19"/>
          <p:cNvSpPr txBox="true"/>
          <p:nvPr/>
        </p:nvSpPr>
        <p:spPr>
          <a:xfrm rot="0">
            <a:off x="5066523" y="5349890"/>
            <a:ext cx="586465" cy="394335"/>
          </a:xfrm>
          <a:prstGeom prst="rect">
            <a:avLst/>
          </a:prstGeom>
        </p:spPr>
        <p:txBody>
          <a:bodyPr anchor="t" rtlCol="false" tIns="0" lIns="0" bIns="0" rIns="0">
            <a:spAutoFit/>
          </a:bodyPr>
          <a:lstStyle/>
          <a:p>
            <a:pPr algn="l">
              <a:lnSpc>
                <a:spcPts val="2820"/>
              </a:lnSpc>
            </a:pPr>
            <a:r>
              <a:rPr lang="en-US" sz="3000" spc="-150">
                <a:solidFill>
                  <a:srgbClr val="FFFFFF"/>
                </a:solidFill>
                <a:latin typeface="210 클레이토이"/>
                <a:ea typeface="210 클레이토이"/>
                <a:cs typeface="210 클레이토이"/>
                <a:sym typeface="210 클레이토이"/>
              </a:rPr>
              <a:t>1NF</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80680" y="3574081"/>
            <a:ext cx="7171357" cy="3637782"/>
          </a:xfrm>
          <a:custGeom>
            <a:avLst/>
            <a:gdLst/>
            <a:ahLst/>
            <a:cxnLst/>
            <a:rect r="r" b="b" t="t" l="l"/>
            <a:pathLst>
              <a:path h="3637782" w="7171357">
                <a:moveTo>
                  <a:pt x="0" y="0"/>
                </a:moveTo>
                <a:lnTo>
                  <a:pt x="7171357" y="0"/>
                </a:lnTo>
                <a:lnTo>
                  <a:pt x="7171357" y="3637783"/>
                </a:lnTo>
                <a:lnTo>
                  <a:pt x="0" y="3637783"/>
                </a:lnTo>
                <a:lnTo>
                  <a:pt x="0" y="0"/>
                </a:lnTo>
                <a:close/>
              </a:path>
            </a:pathLst>
          </a:custGeom>
          <a:blipFill>
            <a:blip r:embed="rId10"/>
            <a:stretch>
              <a:fillRect l="0" t="0" r="0" b="0"/>
            </a:stretch>
          </a:blipFill>
        </p:spPr>
      </p:sp>
      <p:sp>
        <p:nvSpPr>
          <p:cNvPr name="Freeform 15" id="15"/>
          <p:cNvSpPr/>
          <p:nvPr/>
        </p:nvSpPr>
        <p:spPr>
          <a:xfrm flipH="false" flipV="false" rot="0">
            <a:off x="10455854" y="3550271"/>
            <a:ext cx="7741546" cy="4136889"/>
          </a:xfrm>
          <a:custGeom>
            <a:avLst/>
            <a:gdLst/>
            <a:ahLst/>
            <a:cxnLst/>
            <a:rect r="r" b="b" t="t" l="l"/>
            <a:pathLst>
              <a:path h="4136889" w="7741546">
                <a:moveTo>
                  <a:pt x="0" y="0"/>
                </a:moveTo>
                <a:lnTo>
                  <a:pt x="7741546" y="0"/>
                </a:lnTo>
                <a:lnTo>
                  <a:pt x="7741546" y="4136888"/>
                </a:lnTo>
                <a:lnTo>
                  <a:pt x="0" y="4136888"/>
                </a:lnTo>
                <a:lnTo>
                  <a:pt x="0" y="0"/>
                </a:lnTo>
                <a:close/>
              </a:path>
            </a:pathLst>
          </a:custGeom>
          <a:blipFill>
            <a:blip r:embed="rId11"/>
            <a:stretch>
              <a:fillRect l="0" t="0" r="0" b="0"/>
            </a:stretch>
          </a:blipFill>
        </p:spPr>
      </p:sp>
      <p:sp>
        <p:nvSpPr>
          <p:cNvPr name="TextBox 16" id="16"/>
          <p:cNvSpPr txBox="true"/>
          <p:nvPr/>
        </p:nvSpPr>
        <p:spPr>
          <a:xfrm rot="0">
            <a:off x="4685016" y="485521"/>
            <a:ext cx="8917968" cy="1334009"/>
          </a:xfrm>
          <a:prstGeom prst="rect">
            <a:avLst/>
          </a:prstGeom>
        </p:spPr>
        <p:txBody>
          <a:bodyPr anchor="t" rtlCol="false" tIns="0" lIns="0" bIns="0" rIns="0">
            <a:spAutoFit/>
          </a:bodyPr>
          <a:lstStyle/>
          <a:p>
            <a:pPr algn="l">
              <a:lnSpc>
                <a:spcPts val="9776"/>
              </a:lnSpc>
            </a:pPr>
            <a:r>
              <a:rPr lang="en-US" sz="10400" spc="-520">
                <a:solidFill>
                  <a:srgbClr val="FFFFFF"/>
                </a:solidFill>
                <a:latin typeface="210 클레이토이"/>
                <a:ea typeface="210 클레이토이"/>
                <a:cs typeface="210 클레이토이"/>
                <a:sym typeface="210 클레이토이"/>
              </a:rPr>
              <a:t>NORMALISATION</a:t>
            </a:r>
          </a:p>
        </p:txBody>
      </p:sp>
      <p:sp>
        <p:nvSpPr>
          <p:cNvPr name="Freeform 17" id="17"/>
          <p:cNvSpPr/>
          <p:nvPr/>
        </p:nvSpPr>
        <p:spPr>
          <a:xfrm flipH="false" flipV="false" rot="0">
            <a:off x="7448331" y="5074490"/>
            <a:ext cx="2274872" cy="636964"/>
          </a:xfrm>
          <a:custGeom>
            <a:avLst/>
            <a:gdLst/>
            <a:ahLst/>
            <a:cxnLst/>
            <a:rect r="r" b="b" t="t" l="l"/>
            <a:pathLst>
              <a:path h="636964" w="2274872">
                <a:moveTo>
                  <a:pt x="0" y="0"/>
                </a:moveTo>
                <a:lnTo>
                  <a:pt x="2274872" y="0"/>
                </a:lnTo>
                <a:lnTo>
                  <a:pt x="2274872" y="636965"/>
                </a:lnTo>
                <a:lnTo>
                  <a:pt x="0" y="63696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8" id="18"/>
          <p:cNvSpPr txBox="true"/>
          <p:nvPr/>
        </p:nvSpPr>
        <p:spPr>
          <a:xfrm rot="0">
            <a:off x="3428248" y="3155936"/>
            <a:ext cx="586465" cy="394335"/>
          </a:xfrm>
          <a:prstGeom prst="rect">
            <a:avLst/>
          </a:prstGeom>
        </p:spPr>
        <p:txBody>
          <a:bodyPr anchor="t" rtlCol="false" tIns="0" lIns="0" bIns="0" rIns="0">
            <a:spAutoFit/>
          </a:bodyPr>
          <a:lstStyle/>
          <a:p>
            <a:pPr algn="l">
              <a:lnSpc>
                <a:spcPts val="2820"/>
              </a:lnSpc>
            </a:pPr>
            <a:r>
              <a:rPr lang="en-US" sz="3000" spc="-150">
                <a:solidFill>
                  <a:srgbClr val="FFFFFF"/>
                </a:solidFill>
                <a:latin typeface="210 클레이토이"/>
                <a:ea typeface="210 클레이토이"/>
                <a:cs typeface="210 클레이토이"/>
                <a:sym typeface="210 클레이토이"/>
              </a:rPr>
              <a:t>1NF</a:t>
            </a:r>
          </a:p>
        </p:txBody>
      </p:sp>
      <p:sp>
        <p:nvSpPr>
          <p:cNvPr name="TextBox 19" id="19"/>
          <p:cNvSpPr txBox="true"/>
          <p:nvPr/>
        </p:nvSpPr>
        <p:spPr>
          <a:xfrm rot="0">
            <a:off x="12956711" y="3179746"/>
            <a:ext cx="646273" cy="394335"/>
          </a:xfrm>
          <a:prstGeom prst="rect">
            <a:avLst/>
          </a:prstGeom>
        </p:spPr>
        <p:txBody>
          <a:bodyPr anchor="t" rtlCol="false" tIns="0" lIns="0" bIns="0" rIns="0">
            <a:spAutoFit/>
          </a:bodyPr>
          <a:lstStyle/>
          <a:p>
            <a:pPr algn="l">
              <a:lnSpc>
                <a:spcPts val="2820"/>
              </a:lnSpc>
            </a:pPr>
            <a:r>
              <a:rPr lang="en-US" sz="3000" spc="-150">
                <a:solidFill>
                  <a:srgbClr val="FFFFFF"/>
                </a:solidFill>
                <a:latin typeface="210 클레이토이"/>
                <a:ea typeface="210 클레이토이"/>
                <a:cs typeface="210 클레이토이"/>
                <a:sym typeface="210 클레이토이"/>
              </a:rPr>
              <a:t>2NF</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3781020">
            <a:off x="-3125960" y="7604736"/>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3988127">
            <a:off x="-1548277" y="7144125"/>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3107383">
            <a:off x="-1288208" y="-1701419"/>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554073" y="2997532"/>
            <a:ext cx="8031694" cy="4291936"/>
          </a:xfrm>
          <a:custGeom>
            <a:avLst/>
            <a:gdLst/>
            <a:ahLst/>
            <a:cxnLst/>
            <a:rect r="r" b="b" t="t" l="l"/>
            <a:pathLst>
              <a:path h="4291936" w="8031694">
                <a:moveTo>
                  <a:pt x="0" y="0"/>
                </a:moveTo>
                <a:lnTo>
                  <a:pt x="8031694" y="0"/>
                </a:lnTo>
                <a:lnTo>
                  <a:pt x="8031694" y="4291936"/>
                </a:lnTo>
                <a:lnTo>
                  <a:pt x="0" y="4291936"/>
                </a:lnTo>
                <a:lnTo>
                  <a:pt x="0" y="0"/>
                </a:lnTo>
                <a:close/>
              </a:path>
            </a:pathLst>
          </a:custGeom>
          <a:blipFill>
            <a:blip r:embed="rId10"/>
            <a:stretch>
              <a:fillRect l="0" t="0" r="0" b="0"/>
            </a:stretch>
          </a:blipFill>
        </p:spPr>
      </p:sp>
      <p:sp>
        <p:nvSpPr>
          <p:cNvPr name="Freeform 15" id="15"/>
          <p:cNvSpPr/>
          <p:nvPr/>
        </p:nvSpPr>
        <p:spPr>
          <a:xfrm flipH="false" flipV="false" rot="0">
            <a:off x="7448331" y="5074490"/>
            <a:ext cx="2274872" cy="636964"/>
          </a:xfrm>
          <a:custGeom>
            <a:avLst/>
            <a:gdLst/>
            <a:ahLst/>
            <a:cxnLst/>
            <a:rect r="r" b="b" t="t" l="l"/>
            <a:pathLst>
              <a:path h="636964" w="2274872">
                <a:moveTo>
                  <a:pt x="0" y="0"/>
                </a:moveTo>
                <a:lnTo>
                  <a:pt x="2274872" y="0"/>
                </a:lnTo>
                <a:lnTo>
                  <a:pt x="2274872" y="636965"/>
                </a:lnTo>
                <a:lnTo>
                  <a:pt x="0" y="6369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10601517" y="3152660"/>
            <a:ext cx="6921508" cy="5117590"/>
          </a:xfrm>
          <a:custGeom>
            <a:avLst/>
            <a:gdLst/>
            <a:ahLst/>
            <a:cxnLst/>
            <a:rect r="r" b="b" t="t" l="l"/>
            <a:pathLst>
              <a:path h="5117590" w="6921508">
                <a:moveTo>
                  <a:pt x="0" y="0"/>
                </a:moveTo>
                <a:lnTo>
                  <a:pt x="6921508" y="0"/>
                </a:lnTo>
                <a:lnTo>
                  <a:pt x="6921508" y="5117590"/>
                </a:lnTo>
                <a:lnTo>
                  <a:pt x="0" y="5117590"/>
                </a:lnTo>
                <a:lnTo>
                  <a:pt x="0" y="0"/>
                </a:lnTo>
                <a:close/>
              </a:path>
            </a:pathLst>
          </a:custGeom>
          <a:blipFill>
            <a:blip r:embed="rId13"/>
            <a:stretch>
              <a:fillRect l="0" t="0" r="0" b="0"/>
            </a:stretch>
          </a:blipFill>
        </p:spPr>
      </p:sp>
      <p:sp>
        <p:nvSpPr>
          <p:cNvPr name="TextBox 17" id="17"/>
          <p:cNvSpPr txBox="true"/>
          <p:nvPr/>
        </p:nvSpPr>
        <p:spPr>
          <a:xfrm rot="0">
            <a:off x="4685016" y="485521"/>
            <a:ext cx="8917968" cy="1334009"/>
          </a:xfrm>
          <a:prstGeom prst="rect">
            <a:avLst/>
          </a:prstGeom>
        </p:spPr>
        <p:txBody>
          <a:bodyPr anchor="t" rtlCol="false" tIns="0" lIns="0" bIns="0" rIns="0">
            <a:spAutoFit/>
          </a:bodyPr>
          <a:lstStyle/>
          <a:p>
            <a:pPr algn="l">
              <a:lnSpc>
                <a:spcPts val="9776"/>
              </a:lnSpc>
            </a:pPr>
            <a:r>
              <a:rPr lang="en-US" sz="10400" spc="-520">
                <a:solidFill>
                  <a:srgbClr val="FFFFFF"/>
                </a:solidFill>
                <a:latin typeface="210 클레이토이"/>
                <a:ea typeface="210 클레이토이"/>
                <a:cs typeface="210 클레이토이"/>
                <a:sym typeface="210 클레이토이"/>
              </a:rPr>
              <a:t>NORMALISATION</a:t>
            </a:r>
          </a:p>
        </p:txBody>
      </p:sp>
      <p:sp>
        <p:nvSpPr>
          <p:cNvPr name="TextBox 18" id="18"/>
          <p:cNvSpPr txBox="true"/>
          <p:nvPr/>
        </p:nvSpPr>
        <p:spPr>
          <a:xfrm rot="0">
            <a:off x="3105112" y="2641855"/>
            <a:ext cx="646273" cy="394335"/>
          </a:xfrm>
          <a:prstGeom prst="rect">
            <a:avLst/>
          </a:prstGeom>
        </p:spPr>
        <p:txBody>
          <a:bodyPr anchor="t" rtlCol="false" tIns="0" lIns="0" bIns="0" rIns="0">
            <a:spAutoFit/>
          </a:bodyPr>
          <a:lstStyle/>
          <a:p>
            <a:pPr algn="l">
              <a:lnSpc>
                <a:spcPts val="2820"/>
              </a:lnSpc>
            </a:pPr>
            <a:r>
              <a:rPr lang="en-US" sz="3000" spc="-150">
                <a:solidFill>
                  <a:srgbClr val="FFFFFF"/>
                </a:solidFill>
                <a:latin typeface="210 클레이토이"/>
                <a:ea typeface="210 클레이토이"/>
                <a:cs typeface="210 클레이토이"/>
                <a:sym typeface="210 클레이토이"/>
              </a:rPr>
              <a:t>2NF</a:t>
            </a:r>
          </a:p>
        </p:txBody>
      </p:sp>
      <p:sp>
        <p:nvSpPr>
          <p:cNvPr name="TextBox 19" id="19"/>
          <p:cNvSpPr txBox="true"/>
          <p:nvPr/>
        </p:nvSpPr>
        <p:spPr>
          <a:xfrm rot="0">
            <a:off x="12956711" y="2641855"/>
            <a:ext cx="646273" cy="394335"/>
          </a:xfrm>
          <a:prstGeom prst="rect">
            <a:avLst/>
          </a:prstGeom>
        </p:spPr>
        <p:txBody>
          <a:bodyPr anchor="t" rtlCol="false" tIns="0" lIns="0" bIns="0" rIns="0">
            <a:spAutoFit/>
          </a:bodyPr>
          <a:lstStyle/>
          <a:p>
            <a:pPr algn="l">
              <a:lnSpc>
                <a:spcPts val="2820"/>
              </a:lnSpc>
            </a:pPr>
            <a:r>
              <a:rPr lang="en-US" sz="3000" spc="-150">
                <a:solidFill>
                  <a:srgbClr val="FFFFFF"/>
                </a:solidFill>
                <a:latin typeface="210 클레이토이"/>
                <a:ea typeface="210 클레이토이"/>
                <a:cs typeface="210 클레이토이"/>
                <a:sym typeface="210 클레이토이"/>
              </a:rPr>
              <a:t>3NF</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1357003" y="4391406"/>
            <a:ext cx="15573993" cy="1847088"/>
          </a:xfrm>
          <a:prstGeom prst="rect">
            <a:avLst/>
          </a:prstGeom>
        </p:spPr>
        <p:txBody>
          <a:bodyPr anchor="t" rtlCol="false" tIns="0" lIns="0" bIns="0" rIns="0">
            <a:spAutoFit/>
          </a:bodyPr>
          <a:lstStyle/>
          <a:p>
            <a:pPr algn="ctr">
              <a:lnSpc>
                <a:spcPts val="13535"/>
              </a:lnSpc>
            </a:pPr>
            <a:r>
              <a:rPr lang="en-US" sz="14400" spc="-719">
                <a:solidFill>
                  <a:srgbClr val="FFFFFF"/>
                </a:solidFill>
                <a:latin typeface="210 클레이토이"/>
                <a:ea typeface="210 클레이토이"/>
                <a:cs typeface="210 클레이토이"/>
                <a:sym typeface="210 클레이토이"/>
              </a:rPr>
              <a:t>SQL CODE EXAMPLES</a:t>
            </a:r>
          </a:p>
        </p:txBody>
      </p:sp>
      <p:sp>
        <p:nvSpPr>
          <p:cNvPr name="Freeform 12" id="12"/>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0" y="1941195"/>
            <a:ext cx="8486067" cy="6508829"/>
          </a:xfrm>
          <a:custGeom>
            <a:avLst/>
            <a:gdLst/>
            <a:ahLst/>
            <a:cxnLst/>
            <a:rect r="r" b="b" t="t" l="l"/>
            <a:pathLst>
              <a:path h="6508829" w="8486067">
                <a:moveTo>
                  <a:pt x="0" y="0"/>
                </a:moveTo>
                <a:lnTo>
                  <a:pt x="8486067" y="0"/>
                </a:lnTo>
                <a:lnTo>
                  <a:pt x="8486067" y="6508829"/>
                </a:lnTo>
                <a:lnTo>
                  <a:pt x="0" y="6508829"/>
                </a:lnTo>
                <a:lnTo>
                  <a:pt x="0" y="0"/>
                </a:lnTo>
                <a:close/>
              </a:path>
            </a:pathLst>
          </a:custGeom>
          <a:blipFill>
            <a:blip r:embed="rId4"/>
            <a:stretch>
              <a:fillRect l="-3515" t="0" r="-3515" b="0"/>
            </a:stretch>
          </a:blipFill>
        </p:spPr>
      </p:sp>
      <p:sp>
        <p:nvSpPr>
          <p:cNvPr name="Freeform 12" id="12"/>
          <p:cNvSpPr/>
          <p:nvPr/>
        </p:nvSpPr>
        <p:spPr>
          <a:xfrm flipH="false" flipV="false" rot="0">
            <a:off x="8570762" y="1941195"/>
            <a:ext cx="9834507" cy="6508829"/>
          </a:xfrm>
          <a:custGeom>
            <a:avLst/>
            <a:gdLst/>
            <a:ahLst/>
            <a:cxnLst/>
            <a:rect r="r" b="b" t="t" l="l"/>
            <a:pathLst>
              <a:path h="6508829" w="9834507">
                <a:moveTo>
                  <a:pt x="0" y="0"/>
                </a:moveTo>
                <a:lnTo>
                  <a:pt x="9834507" y="0"/>
                </a:lnTo>
                <a:lnTo>
                  <a:pt x="9834507" y="6508829"/>
                </a:lnTo>
                <a:lnTo>
                  <a:pt x="0" y="6508829"/>
                </a:lnTo>
                <a:lnTo>
                  <a:pt x="0" y="0"/>
                </a:lnTo>
                <a:close/>
              </a:path>
            </a:pathLst>
          </a:custGeom>
          <a:blipFill>
            <a:blip r:embed="rId5"/>
            <a:stretch>
              <a:fillRect l="-5893" t="0" r="0" b="0"/>
            </a:stretch>
          </a:blipFill>
        </p:spPr>
      </p:sp>
      <p:sp>
        <p:nvSpPr>
          <p:cNvPr name="TextBox 13" id="13"/>
          <p:cNvSpPr txBox="true"/>
          <p:nvPr/>
        </p:nvSpPr>
        <p:spPr>
          <a:xfrm rot="0">
            <a:off x="1688393" y="401955"/>
            <a:ext cx="14911215" cy="1539240"/>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DDL - NORMAL TABLE</a:t>
            </a:r>
          </a:p>
        </p:txBody>
      </p:sp>
      <p:sp>
        <p:nvSpPr>
          <p:cNvPr name="TextBox 14" id="14"/>
          <p:cNvSpPr txBox="true"/>
          <p:nvPr/>
        </p:nvSpPr>
        <p:spPr>
          <a:xfrm rot="0">
            <a:off x="1757620" y="8830945"/>
            <a:ext cx="4970828" cy="1035686"/>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SQL</a:t>
            </a:r>
          </a:p>
        </p:txBody>
      </p:sp>
      <p:sp>
        <p:nvSpPr>
          <p:cNvPr name="TextBox 15" id="15"/>
          <p:cNvSpPr txBox="true"/>
          <p:nvPr/>
        </p:nvSpPr>
        <p:spPr>
          <a:xfrm rot="0">
            <a:off x="8629397" y="8830945"/>
            <a:ext cx="9717238" cy="1035686"/>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TABLE VIEWER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8629397" y="1941195"/>
            <a:ext cx="9847773" cy="6508829"/>
          </a:xfrm>
          <a:custGeom>
            <a:avLst/>
            <a:gdLst/>
            <a:ahLst/>
            <a:cxnLst/>
            <a:rect r="r" b="b" t="t" l="l"/>
            <a:pathLst>
              <a:path h="6508829" w="9847773">
                <a:moveTo>
                  <a:pt x="0" y="0"/>
                </a:moveTo>
                <a:lnTo>
                  <a:pt x="9847773" y="0"/>
                </a:lnTo>
                <a:lnTo>
                  <a:pt x="9847773" y="6508829"/>
                </a:lnTo>
                <a:lnTo>
                  <a:pt x="0" y="6508829"/>
                </a:lnTo>
                <a:lnTo>
                  <a:pt x="0" y="0"/>
                </a:lnTo>
                <a:close/>
              </a:path>
            </a:pathLst>
          </a:custGeom>
          <a:blipFill>
            <a:blip r:embed="rId4"/>
            <a:stretch>
              <a:fillRect l="0" t="0" r="0" b="0"/>
            </a:stretch>
          </a:blipFill>
        </p:spPr>
      </p:sp>
      <p:sp>
        <p:nvSpPr>
          <p:cNvPr name="Freeform 12" id="12"/>
          <p:cNvSpPr/>
          <p:nvPr/>
        </p:nvSpPr>
        <p:spPr>
          <a:xfrm flipH="false" flipV="false" rot="0">
            <a:off x="431090" y="1941195"/>
            <a:ext cx="7623887" cy="6508829"/>
          </a:xfrm>
          <a:custGeom>
            <a:avLst/>
            <a:gdLst/>
            <a:ahLst/>
            <a:cxnLst/>
            <a:rect r="r" b="b" t="t" l="l"/>
            <a:pathLst>
              <a:path h="6508829" w="7623887">
                <a:moveTo>
                  <a:pt x="0" y="0"/>
                </a:moveTo>
                <a:lnTo>
                  <a:pt x="7623887" y="0"/>
                </a:lnTo>
                <a:lnTo>
                  <a:pt x="7623887" y="6508829"/>
                </a:lnTo>
                <a:lnTo>
                  <a:pt x="0" y="6508829"/>
                </a:lnTo>
                <a:lnTo>
                  <a:pt x="0" y="0"/>
                </a:lnTo>
                <a:close/>
              </a:path>
            </a:pathLst>
          </a:custGeom>
          <a:blipFill>
            <a:blip r:embed="rId5"/>
            <a:stretch>
              <a:fillRect l="0" t="0" r="0" b="0"/>
            </a:stretch>
          </a:blipFill>
        </p:spPr>
      </p:sp>
      <p:sp>
        <p:nvSpPr>
          <p:cNvPr name="TextBox 13" id="13"/>
          <p:cNvSpPr txBox="true"/>
          <p:nvPr/>
        </p:nvSpPr>
        <p:spPr>
          <a:xfrm rot="0">
            <a:off x="1688393" y="401955"/>
            <a:ext cx="14911215" cy="1539240"/>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DDL - VIEW TABLE</a:t>
            </a:r>
          </a:p>
        </p:txBody>
      </p:sp>
      <p:sp>
        <p:nvSpPr>
          <p:cNvPr name="TextBox 14" id="14"/>
          <p:cNvSpPr txBox="true"/>
          <p:nvPr/>
        </p:nvSpPr>
        <p:spPr>
          <a:xfrm rot="0">
            <a:off x="1757620" y="8830945"/>
            <a:ext cx="4970828" cy="1035686"/>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SQL</a:t>
            </a:r>
          </a:p>
        </p:txBody>
      </p:sp>
      <p:sp>
        <p:nvSpPr>
          <p:cNvPr name="TextBox 15" id="15"/>
          <p:cNvSpPr txBox="true"/>
          <p:nvPr/>
        </p:nvSpPr>
        <p:spPr>
          <a:xfrm rot="0">
            <a:off x="8629397" y="8830945"/>
            <a:ext cx="9717238" cy="1035686"/>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TABLE VIEWER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0" y="1941195"/>
            <a:ext cx="18288000" cy="6292013"/>
          </a:xfrm>
          <a:custGeom>
            <a:avLst/>
            <a:gdLst/>
            <a:ahLst/>
            <a:cxnLst/>
            <a:rect r="r" b="b" t="t" l="l"/>
            <a:pathLst>
              <a:path h="6292013" w="18288000">
                <a:moveTo>
                  <a:pt x="0" y="0"/>
                </a:moveTo>
                <a:lnTo>
                  <a:pt x="18288000" y="0"/>
                </a:lnTo>
                <a:lnTo>
                  <a:pt x="18288000" y="6292013"/>
                </a:lnTo>
                <a:lnTo>
                  <a:pt x="0" y="6292013"/>
                </a:lnTo>
                <a:lnTo>
                  <a:pt x="0" y="0"/>
                </a:lnTo>
                <a:close/>
              </a:path>
            </a:pathLst>
          </a:custGeom>
          <a:blipFill>
            <a:blip r:embed="rId4"/>
            <a:stretch>
              <a:fillRect l="0" t="0" r="0" b="0"/>
            </a:stretch>
          </a:blipFill>
        </p:spPr>
      </p:sp>
      <p:grpSp>
        <p:nvGrpSpPr>
          <p:cNvPr name="Group 12" id="12"/>
          <p:cNvGrpSpPr/>
          <p:nvPr/>
        </p:nvGrpSpPr>
        <p:grpSpPr>
          <a:xfrm rot="0">
            <a:off x="388391" y="4201497"/>
            <a:ext cx="9142801" cy="2854928"/>
            <a:chOff x="0" y="0"/>
            <a:chExt cx="2407980" cy="751915"/>
          </a:xfrm>
        </p:grpSpPr>
        <p:sp>
          <p:nvSpPr>
            <p:cNvPr name="Freeform 13" id="13"/>
            <p:cNvSpPr/>
            <p:nvPr/>
          </p:nvSpPr>
          <p:spPr>
            <a:xfrm flipH="false" flipV="false" rot="0">
              <a:off x="0" y="0"/>
              <a:ext cx="2407980" cy="751915"/>
            </a:xfrm>
            <a:custGeom>
              <a:avLst/>
              <a:gdLst/>
              <a:ahLst/>
              <a:cxnLst/>
              <a:rect r="r" b="b" t="t" l="l"/>
              <a:pathLst>
                <a:path h="751915" w="2407980">
                  <a:moveTo>
                    <a:pt x="0" y="0"/>
                  </a:moveTo>
                  <a:lnTo>
                    <a:pt x="2407980" y="0"/>
                  </a:lnTo>
                  <a:lnTo>
                    <a:pt x="2407980" y="751915"/>
                  </a:lnTo>
                  <a:lnTo>
                    <a:pt x="0" y="751915"/>
                  </a:lnTo>
                  <a:close/>
                </a:path>
              </a:pathLst>
            </a:custGeom>
            <a:ln w="95250" cap="sq">
              <a:solidFill>
                <a:srgbClr val="F03C2E"/>
              </a:solidFill>
              <a:prstDash val="solid"/>
              <a:miter/>
            </a:ln>
          </p:spPr>
        </p:sp>
        <p:sp>
          <p:nvSpPr>
            <p:cNvPr name="TextBox 14" id="14"/>
            <p:cNvSpPr txBox="true"/>
            <p:nvPr/>
          </p:nvSpPr>
          <p:spPr>
            <a:xfrm>
              <a:off x="0" y="-28575"/>
              <a:ext cx="2407980" cy="780490"/>
            </a:xfrm>
            <a:prstGeom prst="rect">
              <a:avLst/>
            </a:prstGeom>
          </p:spPr>
          <p:txBody>
            <a:bodyPr anchor="ctr" rtlCol="false" tIns="50800" lIns="50800" bIns="50800" rIns="50800"/>
            <a:lstStyle/>
            <a:p>
              <a:pPr algn="ctr">
                <a:lnSpc>
                  <a:spcPts val="2560"/>
                </a:lnSpc>
              </a:pPr>
            </a:p>
          </p:txBody>
        </p:sp>
      </p:grpSp>
      <p:sp>
        <p:nvSpPr>
          <p:cNvPr name="TextBox 15" id="15"/>
          <p:cNvSpPr txBox="true"/>
          <p:nvPr/>
        </p:nvSpPr>
        <p:spPr>
          <a:xfrm rot="0">
            <a:off x="1688393" y="401955"/>
            <a:ext cx="14911215" cy="1539240"/>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DML - SUPABASE SDK</a:t>
            </a:r>
          </a:p>
        </p:txBody>
      </p:sp>
      <p:sp>
        <p:nvSpPr>
          <p:cNvPr name="TextBox 16" id="16"/>
          <p:cNvSpPr txBox="true"/>
          <p:nvPr/>
        </p:nvSpPr>
        <p:spPr>
          <a:xfrm rot="0">
            <a:off x="8577187" y="5363368"/>
            <a:ext cx="4970828" cy="1035686"/>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 SQL</a:t>
            </a:r>
          </a:p>
        </p:txBody>
      </p:sp>
      <p:sp>
        <p:nvSpPr>
          <p:cNvPr name="TextBox 17" id="17"/>
          <p:cNvSpPr txBox="true"/>
          <p:nvPr/>
        </p:nvSpPr>
        <p:spPr>
          <a:xfrm rot="0">
            <a:off x="3279784" y="8576656"/>
            <a:ext cx="11728432" cy="1035686"/>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SUPABASE SDK FUNCTION</a:t>
            </a:r>
          </a:p>
        </p:txBody>
      </p:sp>
      <p:grpSp>
        <p:nvGrpSpPr>
          <p:cNvPr name="Group 18" id="18"/>
          <p:cNvGrpSpPr/>
          <p:nvPr/>
        </p:nvGrpSpPr>
        <p:grpSpPr>
          <a:xfrm rot="0">
            <a:off x="388391" y="7732566"/>
            <a:ext cx="17580570" cy="663114"/>
            <a:chOff x="0" y="0"/>
            <a:chExt cx="4630274" cy="174647"/>
          </a:xfrm>
        </p:grpSpPr>
        <p:sp>
          <p:nvSpPr>
            <p:cNvPr name="Freeform 19" id="19"/>
            <p:cNvSpPr/>
            <p:nvPr/>
          </p:nvSpPr>
          <p:spPr>
            <a:xfrm flipH="false" flipV="false" rot="0">
              <a:off x="0" y="0"/>
              <a:ext cx="4630274" cy="174647"/>
            </a:xfrm>
            <a:custGeom>
              <a:avLst/>
              <a:gdLst/>
              <a:ahLst/>
              <a:cxnLst/>
              <a:rect r="r" b="b" t="t" l="l"/>
              <a:pathLst>
                <a:path h="174647" w="4630274">
                  <a:moveTo>
                    <a:pt x="0" y="0"/>
                  </a:moveTo>
                  <a:lnTo>
                    <a:pt x="4630274" y="0"/>
                  </a:lnTo>
                  <a:lnTo>
                    <a:pt x="4630274" y="174647"/>
                  </a:lnTo>
                  <a:lnTo>
                    <a:pt x="0" y="174647"/>
                  </a:lnTo>
                  <a:close/>
                </a:path>
              </a:pathLst>
            </a:custGeom>
            <a:ln w="95250" cap="sq">
              <a:solidFill>
                <a:srgbClr val="F03C2E"/>
              </a:solidFill>
              <a:prstDash val="solid"/>
              <a:miter/>
            </a:ln>
          </p:spPr>
        </p:sp>
        <p:sp>
          <p:nvSpPr>
            <p:cNvPr name="TextBox 20" id="20"/>
            <p:cNvSpPr txBox="true"/>
            <p:nvPr/>
          </p:nvSpPr>
          <p:spPr>
            <a:xfrm>
              <a:off x="0" y="-28575"/>
              <a:ext cx="4630274" cy="203222"/>
            </a:xfrm>
            <a:prstGeom prst="rect">
              <a:avLst/>
            </a:prstGeom>
          </p:spPr>
          <p:txBody>
            <a:bodyPr anchor="ctr" rtlCol="false" tIns="50800" lIns="50800" bIns="50800" rIns="50800"/>
            <a:lstStyle/>
            <a:p>
              <a:pPr algn="ctr">
                <a:lnSpc>
                  <a:spcPts val="2560"/>
                </a:lnSpc>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0" y="1941195"/>
            <a:ext cx="12527240" cy="1158204"/>
          </a:xfrm>
          <a:custGeom>
            <a:avLst/>
            <a:gdLst/>
            <a:ahLst/>
            <a:cxnLst/>
            <a:rect r="r" b="b" t="t" l="l"/>
            <a:pathLst>
              <a:path h="1158204" w="12527240">
                <a:moveTo>
                  <a:pt x="0" y="0"/>
                </a:moveTo>
                <a:lnTo>
                  <a:pt x="12527240" y="0"/>
                </a:lnTo>
                <a:lnTo>
                  <a:pt x="12527240" y="1158204"/>
                </a:lnTo>
                <a:lnTo>
                  <a:pt x="0" y="1158204"/>
                </a:lnTo>
                <a:lnTo>
                  <a:pt x="0" y="0"/>
                </a:lnTo>
                <a:close/>
              </a:path>
            </a:pathLst>
          </a:custGeom>
          <a:blipFill>
            <a:blip r:embed="rId4"/>
            <a:stretch>
              <a:fillRect l="0" t="0" r="0" b="0"/>
            </a:stretch>
          </a:blipFill>
        </p:spPr>
      </p:sp>
      <p:sp>
        <p:nvSpPr>
          <p:cNvPr name="Freeform 12" id="12"/>
          <p:cNvSpPr/>
          <p:nvPr/>
        </p:nvSpPr>
        <p:spPr>
          <a:xfrm flipH="false" flipV="false" rot="0">
            <a:off x="0" y="3265423"/>
            <a:ext cx="12527240" cy="7013905"/>
          </a:xfrm>
          <a:custGeom>
            <a:avLst/>
            <a:gdLst/>
            <a:ahLst/>
            <a:cxnLst/>
            <a:rect r="r" b="b" t="t" l="l"/>
            <a:pathLst>
              <a:path h="7013905" w="12527240">
                <a:moveTo>
                  <a:pt x="0" y="0"/>
                </a:moveTo>
                <a:lnTo>
                  <a:pt x="12527240" y="0"/>
                </a:lnTo>
                <a:lnTo>
                  <a:pt x="12527240" y="7013906"/>
                </a:lnTo>
                <a:lnTo>
                  <a:pt x="0" y="7013906"/>
                </a:lnTo>
                <a:lnTo>
                  <a:pt x="0" y="0"/>
                </a:lnTo>
                <a:close/>
              </a:path>
            </a:pathLst>
          </a:custGeom>
          <a:blipFill>
            <a:blip r:embed="rId5"/>
            <a:stretch>
              <a:fillRect l="0" t="0" r="0" b="0"/>
            </a:stretch>
          </a:blipFill>
        </p:spPr>
      </p:sp>
      <p:sp>
        <p:nvSpPr>
          <p:cNvPr name="TextBox 13" id="13"/>
          <p:cNvSpPr txBox="true"/>
          <p:nvPr/>
        </p:nvSpPr>
        <p:spPr>
          <a:xfrm rot="0">
            <a:off x="1688393" y="401955"/>
            <a:ext cx="14911215" cy="1539240"/>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DML - RPC FUNCTION</a:t>
            </a:r>
          </a:p>
        </p:txBody>
      </p:sp>
      <p:sp>
        <p:nvSpPr>
          <p:cNvPr name="TextBox 14" id="14"/>
          <p:cNvSpPr txBox="true"/>
          <p:nvPr/>
        </p:nvSpPr>
        <p:spPr>
          <a:xfrm rot="0">
            <a:off x="12527240" y="5986141"/>
            <a:ext cx="5756812" cy="1385062"/>
          </a:xfrm>
          <a:prstGeom prst="rect">
            <a:avLst/>
          </a:prstGeom>
        </p:spPr>
        <p:txBody>
          <a:bodyPr anchor="t" rtlCol="false" tIns="0" lIns="0" bIns="0" rIns="0">
            <a:spAutoFit/>
          </a:bodyPr>
          <a:lstStyle/>
          <a:p>
            <a:pPr algn="ctr">
              <a:lnSpc>
                <a:spcPts val="5264"/>
              </a:lnSpc>
            </a:pPr>
            <a:r>
              <a:rPr lang="en-US" sz="5600" spc="-280">
                <a:solidFill>
                  <a:srgbClr val="FFFFFF"/>
                </a:solidFill>
                <a:latin typeface="210 클레이토이"/>
                <a:ea typeface="210 클레이토이"/>
                <a:cs typeface="210 클레이토이"/>
                <a:sym typeface="210 클레이토이"/>
              </a:rPr>
              <a:t>RPC FUNCTION SQL</a:t>
            </a:r>
          </a:p>
          <a:p>
            <a:pPr algn="l">
              <a:lnSpc>
                <a:spcPts val="5264"/>
              </a:lnSpc>
            </a:pPr>
            <a:r>
              <a:rPr lang="en-US" sz="5600" spc="-280">
                <a:solidFill>
                  <a:srgbClr val="FFFFFF"/>
                </a:solidFill>
                <a:latin typeface="210 클레이토이"/>
                <a:ea typeface="210 클레이토이"/>
                <a:cs typeface="210 클레이토이"/>
                <a:sym typeface="210 클레이토이"/>
              </a:rPr>
              <a:t>⟵ </a:t>
            </a:r>
          </a:p>
        </p:txBody>
      </p:sp>
      <p:sp>
        <p:nvSpPr>
          <p:cNvPr name="TextBox 15" id="15"/>
          <p:cNvSpPr txBox="true"/>
          <p:nvPr/>
        </p:nvSpPr>
        <p:spPr>
          <a:xfrm rot="0">
            <a:off x="12527240" y="2074545"/>
            <a:ext cx="5760760" cy="2051812"/>
          </a:xfrm>
          <a:prstGeom prst="rect">
            <a:avLst/>
          </a:prstGeom>
        </p:spPr>
        <p:txBody>
          <a:bodyPr anchor="t" rtlCol="false" tIns="0" lIns="0" bIns="0" rIns="0">
            <a:spAutoFit/>
          </a:bodyPr>
          <a:lstStyle/>
          <a:p>
            <a:pPr algn="ctr">
              <a:lnSpc>
                <a:spcPts val="5264"/>
              </a:lnSpc>
            </a:pPr>
            <a:r>
              <a:rPr lang="en-US" sz="5600" spc="-280">
                <a:solidFill>
                  <a:srgbClr val="FFFFFF"/>
                </a:solidFill>
                <a:latin typeface="210 클레이토이"/>
                <a:ea typeface="210 클레이토이"/>
                <a:cs typeface="210 클레이토이"/>
                <a:sym typeface="210 클레이토이"/>
              </a:rPr>
              <a:t>⟵ SUPABASE SDK CALL RPC FUNCTION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696961" y="-3744925"/>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781811" y="7840069"/>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558071" y="775290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true" rot="3988127">
            <a:off x="-1204128" y="7379458"/>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0">
            <a:off x="0" y="3394539"/>
            <a:ext cx="18288000" cy="3882964"/>
          </a:xfrm>
          <a:custGeom>
            <a:avLst/>
            <a:gdLst/>
            <a:ahLst/>
            <a:cxnLst/>
            <a:rect r="r" b="b" t="t" l="l"/>
            <a:pathLst>
              <a:path h="3882964" w="18288000">
                <a:moveTo>
                  <a:pt x="0" y="0"/>
                </a:moveTo>
                <a:lnTo>
                  <a:pt x="18288000" y="0"/>
                </a:lnTo>
                <a:lnTo>
                  <a:pt x="18288000" y="3882964"/>
                </a:lnTo>
                <a:lnTo>
                  <a:pt x="0" y="3882964"/>
                </a:lnTo>
                <a:lnTo>
                  <a:pt x="0" y="0"/>
                </a:lnTo>
                <a:close/>
              </a:path>
            </a:pathLst>
          </a:custGeom>
          <a:blipFill>
            <a:blip r:embed="rId14"/>
            <a:stretch>
              <a:fillRect l="0" t="0" r="0" b="0"/>
            </a:stretch>
          </a:blipFill>
        </p:spPr>
      </p:sp>
      <p:sp>
        <p:nvSpPr>
          <p:cNvPr name="TextBox 19" id="19"/>
          <p:cNvSpPr txBox="true"/>
          <p:nvPr/>
        </p:nvSpPr>
        <p:spPr>
          <a:xfrm rot="0">
            <a:off x="1688393" y="1314450"/>
            <a:ext cx="14911215" cy="1539240"/>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SYSTEM ARCHITECTURE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grpSp>
        <p:nvGrpSpPr>
          <p:cNvPr name="Group 11" id="11"/>
          <p:cNvGrpSpPr/>
          <p:nvPr/>
        </p:nvGrpSpPr>
        <p:grpSpPr>
          <a:xfrm rot="0">
            <a:off x="11631921" y="2800695"/>
            <a:ext cx="4827571" cy="3119097"/>
            <a:chOff x="0" y="0"/>
            <a:chExt cx="6436761" cy="4158796"/>
          </a:xfrm>
        </p:grpSpPr>
        <p:sp>
          <p:nvSpPr>
            <p:cNvPr name="TextBox 12" id="12"/>
            <p:cNvSpPr txBox="true"/>
            <p:nvPr/>
          </p:nvSpPr>
          <p:spPr>
            <a:xfrm rot="0">
              <a:off x="0" y="180975"/>
              <a:ext cx="6436761" cy="1441239"/>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DATABASE</a:t>
              </a:r>
            </a:p>
          </p:txBody>
        </p:sp>
        <p:sp>
          <p:nvSpPr>
            <p:cNvPr name="Freeform 13" id="13"/>
            <p:cNvSpPr/>
            <p:nvPr/>
          </p:nvSpPr>
          <p:spPr>
            <a:xfrm flipH="false" flipV="false" rot="0">
              <a:off x="3368016" y="1530076"/>
              <a:ext cx="2536282" cy="2628720"/>
            </a:xfrm>
            <a:custGeom>
              <a:avLst/>
              <a:gdLst/>
              <a:ahLst/>
              <a:cxnLst/>
              <a:rect r="r" b="b" t="t" l="l"/>
              <a:pathLst>
                <a:path h="2628720" w="2536282">
                  <a:moveTo>
                    <a:pt x="0" y="0"/>
                  </a:moveTo>
                  <a:lnTo>
                    <a:pt x="2536281" y="0"/>
                  </a:lnTo>
                  <a:lnTo>
                    <a:pt x="2536281" y="2628720"/>
                  </a:lnTo>
                  <a:lnTo>
                    <a:pt x="0" y="2628720"/>
                  </a:lnTo>
                  <a:lnTo>
                    <a:pt x="0" y="0"/>
                  </a:lnTo>
                  <a:close/>
                </a:path>
              </a:pathLst>
            </a:custGeom>
            <a:blipFill>
              <a:blip r:embed="rId4"/>
              <a:stretch>
                <a:fillRect l="0" t="0" r="0" b="0"/>
              </a:stretch>
            </a:blipFill>
          </p:spPr>
        </p:sp>
        <p:sp>
          <p:nvSpPr>
            <p:cNvPr name="Freeform 14" id="14"/>
            <p:cNvSpPr/>
            <p:nvPr/>
          </p:nvSpPr>
          <p:spPr>
            <a:xfrm flipH="false" flipV="false" rot="0">
              <a:off x="532464" y="1529353"/>
              <a:ext cx="2553312" cy="2629443"/>
            </a:xfrm>
            <a:custGeom>
              <a:avLst/>
              <a:gdLst/>
              <a:ahLst/>
              <a:cxnLst/>
              <a:rect r="r" b="b" t="t" l="l"/>
              <a:pathLst>
                <a:path h="2629443" w="2553312">
                  <a:moveTo>
                    <a:pt x="0" y="0"/>
                  </a:moveTo>
                  <a:lnTo>
                    <a:pt x="2553312" y="0"/>
                  </a:lnTo>
                  <a:lnTo>
                    <a:pt x="2553312" y="2629443"/>
                  </a:lnTo>
                  <a:lnTo>
                    <a:pt x="0" y="2629443"/>
                  </a:lnTo>
                  <a:lnTo>
                    <a:pt x="0" y="0"/>
                  </a:lnTo>
                  <a:close/>
                </a:path>
              </a:pathLst>
            </a:custGeom>
            <a:blipFill>
              <a:blip r:embed="rId5"/>
              <a:stretch>
                <a:fillRect l="0" t="0" r="0" b="0"/>
              </a:stretch>
            </a:blipFill>
          </p:spPr>
        </p:sp>
      </p:grpSp>
      <p:sp>
        <p:nvSpPr>
          <p:cNvPr name="Freeform 15" id="15"/>
          <p:cNvSpPr/>
          <p:nvPr/>
        </p:nvSpPr>
        <p:spPr>
          <a:xfrm flipH="false" flipV="false" rot="0">
            <a:off x="15696961" y="-3744925"/>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3781020">
            <a:off x="-2781811" y="7840069"/>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631297">
            <a:off x="15558071" y="775290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3680656" y="1261455"/>
            <a:ext cx="10926688" cy="1539240"/>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TECHSTACK</a:t>
            </a:r>
          </a:p>
        </p:txBody>
      </p:sp>
      <p:sp>
        <p:nvSpPr>
          <p:cNvPr name="Freeform 21" id="21"/>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true" rot="3988127">
            <a:off x="-1204128" y="7379458"/>
            <a:ext cx="4204700" cy="4438743"/>
          </a:xfrm>
          <a:custGeom>
            <a:avLst/>
            <a:gdLst/>
            <a:ahLst/>
            <a:cxnLst/>
            <a:rect r="r" b="b" t="t" l="l"/>
            <a:pathLst>
              <a:path h="4438743" w="4204700">
                <a:moveTo>
                  <a:pt x="0" y="4438743"/>
                </a:moveTo>
                <a:lnTo>
                  <a:pt x="4204701" y="4438743"/>
                </a:lnTo>
                <a:lnTo>
                  <a:pt x="4204701" y="0"/>
                </a:lnTo>
                <a:lnTo>
                  <a:pt x="0" y="0"/>
                </a:lnTo>
                <a:lnTo>
                  <a:pt x="0" y="4438743"/>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584346">
            <a:off x="14897111" y="-741246"/>
            <a:ext cx="4149033" cy="3779392"/>
          </a:xfrm>
          <a:custGeom>
            <a:avLst/>
            <a:gdLst/>
            <a:ahLst/>
            <a:cxnLst/>
            <a:rect r="r" b="b" t="t" l="l"/>
            <a:pathLst>
              <a:path h="3779392" w="4149033">
                <a:moveTo>
                  <a:pt x="0" y="0"/>
                </a:moveTo>
                <a:lnTo>
                  <a:pt x="4149033" y="0"/>
                </a:lnTo>
                <a:lnTo>
                  <a:pt x="4149033" y="3779392"/>
                </a:lnTo>
                <a:lnTo>
                  <a:pt x="0" y="377939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4" id="24"/>
          <p:cNvGrpSpPr/>
          <p:nvPr/>
        </p:nvGrpSpPr>
        <p:grpSpPr>
          <a:xfrm rot="0">
            <a:off x="1828508" y="2832721"/>
            <a:ext cx="4827571" cy="3177581"/>
            <a:chOff x="0" y="0"/>
            <a:chExt cx="6436761" cy="4236774"/>
          </a:xfrm>
        </p:grpSpPr>
        <p:sp>
          <p:nvSpPr>
            <p:cNvPr name="Freeform 25" id="25"/>
            <p:cNvSpPr/>
            <p:nvPr/>
          </p:nvSpPr>
          <p:spPr>
            <a:xfrm flipH="false" flipV="false" rot="0">
              <a:off x="561800" y="1455509"/>
              <a:ext cx="2440560" cy="2781265"/>
            </a:xfrm>
            <a:custGeom>
              <a:avLst/>
              <a:gdLst/>
              <a:ahLst/>
              <a:cxnLst/>
              <a:rect r="r" b="b" t="t" l="l"/>
              <a:pathLst>
                <a:path h="2781265" w="2440560">
                  <a:moveTo>
                    <a:pt x="0" y="0"/>
                  </a:moveTo>
                  <a:lnTo>
                    <a:pt x="2440560" y="0"/>
                  </a:lnTo>
                  <a:lnTo>
                    <a:pt x="2440560" y="2781265"/>
                  </a:lnTo>
                  <a:lnTo>
                    <a:pt x="0" y="2781265"/>
                  </a:lnTo>
                  <a:lnTo>
                    <a:pt x="0" y="0"/>
                  </a:lnTo>
                  <a:close/>
                </a:path>
              </a:pathLst>
            </a:custGeom>
            <a:blipFill>
              <a:blip r:embed="rId18"/>
              <a:stretch>
                <a:fillRect l="0" t="0" r="0" b="0"/>
              </a:stretch>
            </a:blipFill>
          </p:spPr>
        </p:sp>
        <p:sp>
          <p:nvSpPr>
            <p:cNvPr name="Freeform 26" id="26"/>
            <p:cNvSpPr/>
            <p:nvPr/>
          </p:nvSpPr>
          <p:spPr>
            <a:xfrm flipH="false" flipV="false" rot="0">
              <a:off x="3594143" y="1812816"/>
              <a:ext cx="2280818" cy="2280818"/>
            </a:xfrm>
            <a:custGeom>
              <a:avLst/>
              <a:gdLst/>
              <a:ahLst/>
              <a:cxnLst/>
              <a:rect r="r" b="b" t="t" l="l"/>
              <a:pathLst>
                <a:path h="2280818" w="2280818">
                  <a:moveTo>
                    <a:pt x="0" y="0"/>
                  </a:moveTo>
                  <a:lnTo>
                    <a:pt x="2280818" y="0"/>
                  </a:lnTo>
                  <a:lnTo>
                    <a:pt x="2280818" y="2280818"/>
                  </a:lnTo>
                  <a:lnTo>
                    <a:pt x="0" y="228081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7" id="27"/>
            <p:cNvSpPr txBox="true"/>
            <p:nvPr/>
          </p:nvSpPr>
          <p:spPr>
            <a:xfrm rot="0">
              <a:off x="0" y="180975"/>
              <a:ext cx="6436761" cy="1441239"/>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FRONTEND</a:t>
              </a:r>
            </a:p>
          </p:txBody>
        </p:sp>
      </p:grpSp>
      <p:grpSp>
        <p:nvGrpSpPr>
          <p:cNvPr name="Group 28" id="28"/>
          <p:cNvGrpSpPr/>
          <p:nvPr/>
        </p:nvGrpSpPr>
        <p:grpSpPr>
          <a:xfrm rot="0">
            <a:off x="6755228" y="2832721"/>
            <a:ext cx="4827571" cy="3087071"/>
            <a:chOff x="0" y="0"/>
            <a:chExt cx="6436761" cy="4116094"/>
          </a:xfrm>
        </p:grpSpPr>
        <p:sp>
          <p:nvSpPr>
            <p:cNvPr name="Freeform 29" id="29"/>
            <p:cNvSpPr/>
            <p:nvPr/>
          </p:nvSpPr>
          <p:spPr>
            <a:xfrm flipH="false" flipV="false" rot="0">
              <a:off x="3318660" y="1735059"/>
              <a:ext cx="2268191" cy="2268191"/>
            </a:xfrm>
            <a:custGeom>
              <a:avLst/>
              <a:gdLst/>
              <a:ahLst/>
              <a:cxnLst/>
              <a:rect r="r" b="b" t="t" l="l"/>
              <a:pathLst>
                <a:path h="2268191" w="2268191">
                  <a:moveTo>
                    <a:pt x="0" y="0"/>
                  </a:moveTo>
                  <a:lnTo>
                    <a:pt x="2268191" y="0"/>
                  </a:lnTo>
                  <a:lnTo>
                    <a:pt x="2268191" y="2268191"/>
                  </a:lnTo>
                  <a:lnTo>
                    <a:pt x="0" y="226819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0" id="30"/>
            <p:cNvSpPr/>
            <p:nvPr/>
          </p:nvSpPr>
          <p:spPr>
            <a:xfrm flipH="false" flipV="false" rot="0">
              <a:off x="777071" y="1622214"/>
              <a:ext cx="2209111" cy="2493880"/>
            </a:xfrm>
            <a:custGeom>
              <a:avLst/>
              <a:gdLst/>
              <a:ahLst/>
              <a:cxnLst/>
              <a:rect r="r" b="b" t="t" l="l"/>
              <a:pathLst>
                <a:path h="2493880" w="2209111">
                  <a:moveTo>
                    <a:pt x="0" y="0"/>
                  </a:moveTo>
                  <a:lnTo>
                    <a:pt x="2209112" y="0"/>
                  </a:lnTo>
                  <a:lnTo>
                    <a:pt x="2209112" y="2493880"/>
                  </a:lnTo>
                  <a:lnTo>
                    <a:pt x="0" y="2493880"/>
                  </a:lnTo>
                  <a:lnTo>
                    <a:pt x="0" y="0"/>
                  </a:lnTo>
                  <a:close/>
                </a:path>
              </a:pathLst>
            </a:custGeom>
            <a:blipFill>
              <a:blip r:embed="rId23"/>
              <a:stretch>
                <a:fillRect l="0" t="0" r="0" b="0"/>
              </a:stretch>
            </a:blipFill>
          </p:spPr>
        </p:sp>
        <p:sp>
          <p:nvSpPr>
            <p:cNvPr name="TextBox 31" id="31"/>
            <p:cNvSpPr txBox="true"/>
            <p:nvPr/>
          </p:nvSpPr>
          <p:spPr>
            <a:xfrm rot="0">
              <a:off x="0" y="180975"/>
              <a:ext cx="6436761" cy="1441239"/>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BACKEND</a:t>
              </a:r>
            </a:p>
          </p:txBody>
        </p:sp>
      </p:grpSp>
      <p:grpSp>
        <p:nvGrpSpPr>
          <p:cNvPr name="Group 32" id="32"/>
          <p:cNvGrpSpPr/>
          <p:nvPr/>
        </p:nvGrpSpPr>
        <p:grpSpPr>
          <a:xfrm rot="0">
            <a:off x="2235197" y="6487345"/>
            <a:ext cx="5636672" cy="2770955"/>
            <a:chOff x="0" y="0"/>
            <a:chExt cx="7515562" cy="3694607"/>
          </a:xfrm>
        </p:grpSpPr>
        <p:sp>
          <p:nvSpPr>
            <p:cNvPr name="Freeform 33" id="33"/>
            <p:cNvSpPr/>
            <p:nvPr/>
          </p:nvSpPr>
          <p:spPr>
            <a:xfrm flipH="false" flipV="false" rot="0">
              <a:off x="1557404" y="1678880"/>
              <a:ext cx="2015727" cy="2015727"/>
            </a:xfrm>
            <a:custGeom>
              <a:avLst/>
              <a:gdLst/>
              <a:ahLst/>
              <a:cxnLst/>
              <a:rect r="r" b="b" t="t" l="l"/>
              <a:pathLst>
                <a:path h="2015727" w="2015727">
                  <a:moveTo>
                    <a:pt x="0" y="0"/>
                  </a:moveTo>
                  <a:lnTo>
                    <a:pt x="2015726" y="0"/>
                  </a:lnTo>
                  <a:lnTo>
                    <a:pt x="2015726" y="2015727"/>
                  </a:lnTo>
                  <a:lnTo>
                    <a:pt x="0" y="2015727"/>
                  </a:lnTo>
                  <a:lnTo>
                    <a:pt x="0" y="0"/>
                  </a:lnTo>
                  <a:close/>
                </a:path>
              </a:pathLst>
            </a:custGeom>
            <a:blipFill>
              <a:blip r:embed="rId24"/>
              <a:stretch>
                <a:fillRect l="0" t="0" r="0" b="0"/>
              </a:stretch>
            </a:blipFill>
          </p:spPr>
        </p:sp>
        <p:sp>
          <p:nvSpPr>
            <p:cNvPr name="Freeform 34" id="34"/>
            <p:cNvSpPr/>
            <p:nvPr/>
          </p:nvSpPr>
          <p:spPr>
            <a:xfrm flipH="false" flipV="false" rot="0">
              <a:off x="4158184" y="1706517"/>
              <a:ext cx="1776591" cy="1988089"/>
            </a:xfrm>
            <a:custGeom>
              <a:avLst/>
              <a:gdLst/>
              <a:ahLst/>
              <a:cxnLst/>
              <a:rect r="r" b="b" t="t" l="l"/>
              <a:pathLst>
                <a:path h="1988089" w="1776591">
                  <a:moveTo>
                    <a:pt x="0" y="0"/>
                  </a:moveTo>
                  <a:lnTo>
                    <a:pt x="1776591" y="0"/>
                  </a:lnTo>
                  <a:lnTo>
                    <a:pt x="1776591" y="1988090"/>
                  </a:lnTo>
                  <a:lnTo>
                    <a:pt x="0" y="1988090"/>
                  </a:lnTo>
                  <a:lnTo>
                    <a:pt x="0" y="0"/>
                  </a:lnTo>
                  <a:close/>
                </a:path>
              </a:pathLst>
            </a:custGeom>
            <a:blipFill>
              <a:blip r:embed="rId25"/>
              <a:stretch>
                <a:fillRect l="0" t="0" r="0" b="0"/>
              </a:stretch>
            </a:blipFill>
          </p:spPr>
        </p:sp>
        <p:sp>
          <p:nvSpPr>
            <p:cNvPr name="TextBox 35" id="35"/>
            <p:cNvSpPr txBox="true"/>
            <p:nvPr/>
          </p:nvSpPr>
          <p:spPr>
            <a:xfrm rot="0">
              <a:off x="0" y="180975"/>
              <a:ext cx="7515562" cy="1441239"/>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DEPLOYMENT</a:t>
              </a:r>
            </a:p>
          </p:txBody>
        </p:sp>
      </p:grpSp>
      <p:grpSp>
        <p:nvGrpSpPr>
          <p:cNvPr name="Group 36" id="36"/>
          <p:cNvGrpSpPr/>
          <p:nvPr/>
        </p:nvGrpSpPr>
        <p:grpSpPr>
          <a:xfrm rot="0">
            <a:off x="8565384" y="6460622"/>
            <a:ext cx="7783436" cy="3002084"/>
            <a:chOff x="0" y="0"/>
            <a:chExt cx="10377915" cy="4002778"/>
          </a:xfrm>
        </p:grpSpPr>
        <p:sp>
          <p:nvSpPr>
            <p:cNvPr name="Freeform 37" id="37"/>
            <p:cNvSpPr/>
            <p:nvPr/>
          </p:nvSpPr>
          <p:spPr>
            <a:xfrm flipH="false" flipV="false" rot="0">
              <a:off x="4964632" y="1660314"/>
              <a:ext cx="2342464" cy="2342464"/>
            </a:xfrm>
            <a:custGeom>
              <a:avLst/>
              <a:gdLst/>
              <a:ahLst/>
              <a:cxnLst/>
              <a:rect r="r" b="b" t="t" l="l"/>
              <a:pathLst>
                <a:path h="2342464" w="2342464">
                  <a:moveTo>
                    <a:pt x="0" y="0"/>
                  </a:moveTo>
                  <a:lnTo>
                    <a:pt x="2342464" y="0"/>
                  </a:lnTo>
                  <a:lnTo>
                    <a:pt x="2342464" y="2342464"/>
                  </a:lnTo>
                  <a:lnTo>
                    <a:pt x="0" y="234246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38" id="38"/>
            <p:cNvSpPr/>
            <p:nvPr/>
          </p:nvSpPr>
          <p:spPr>
            <a:xfrm flipH="false" flipV="false" rot="0">
              <a:off x="2396707" y="1660314"/>
              <a:ext cx="2342464" cy="2342464"/>
            </a:xfrm>
            <a:custGeom>
              <a:avLst/>
              <a:gdLst/>
              <a:ahLst/>
              <a:cxnLst/>
              <a:rect r="r" b="b" t="t" l="l"/>
              <a:pathLst>
                <a:path h="2342464" w="2342464">
                  <a:moveTo>
                    <a:pt x="0" y="0"/>
                  </a:moveTo>
                  <a:lnTo>
                    <a:pt x="2342464" y="0"/>
                  </a:lnTo>
                  <a:lnTo>
                    <a:pt x="2342464" y="2342464"/>
                  </a:lnTo>
                  <a:lnTo>
                    <a:pt x="0" y="2342464"/>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39" id="39"/>
            <p:cNvSpPr txBox="true"/>
            <p:nvPr/>
          </p:nvSpPr>
          <p:spPr>
            <a:xfrm rot="0">
              <a:off x="0" y="180975"/>
              <a:ext cx="10377915" cy="1441239"/>
            </a:xfrm>
            <a:prstGeom prst="rect">
              <a:avLst/>
            </a:prstGeom>
          </p:spPr>
          <p:txBody>
            <a:bodyPr anchor="t" rtlCol="false" tIns="0" lIns="0" bIns="0" rIns="0">
              <a:spAutoFit/>
            </a:bodyPr>
            <a:lstStyle/>
            <a:p>
              <a:pPr algn="ctr">
                <a:lnSpc>
                  <a:spcPts val="7520"/>
                </a:lnSpc>
              </a:pPr>
              <a:r>
                <a:rPr lang="en-US" sz="8000" spc="-400">
                  <a:solidFill>
                    <a:srgbClr val="FFFFFF"/>
                  </a:solidFill>
                  <a:latin typeface="210 클레이토이"/>
                  <a:ea typeface="210 클레이토이"/>
                  <a:cs typeface="210 클레이토이"/>
                  <a:sym typeface="210 클레이토이"/>
                </a:rPr>
                <a:t>VERSION CONTROL</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7" id="17"/>
          <p:cNvSpPr txBox="true"/>
          <p:nvPr/>
        </p:nvSpPr>
        <p:spPr>
          <a:xfrm rot="0">
            <a:off x="856087" y="657922"/>
            <a:ext cx="8660061" cy="830452"/>
          </a:xfrm>
          <a:prstGeom prst="rect">
            <a:avLst/>
          </a:prstGeom>
        </p:spPr>
        <p:txBody>
          <a:bodyPr anchor="t" rtlCol="false" tIns="0" lIns="0" bIns="0" rIns="0">
            <a:spAutoFit/>
          </a:bodyPr>
          <a:lstStyle/>
          <a:p>
            <a:pPr algn="ctr">
              <a:lnSpc>
                <a:spcPts val="6015"/>
              </a:lnSpc>
            </a:pPr>
            <a:r>
              <a:rPr lang="en-US" sz="6399" spc="-319">
                <a:solidFill>
                  <a:srgbClr val="FFFFFF"/>
                </a:solidFill>
                <a:latin typeface="210 클레이토이"/>
                <a:ea typeface="210 클레이토이"/>
                <a:cs typeface="210 클레이토이"/>
                <a:sym typeface="210 클레이토이"/>
              </a:rPr>
              <a:t>THE ACTUAL MILESTONE</a:t>
            </a:r>
          </a:p>
        </p:txBody>
      </p:sp>
      <p:sp>
        <p:nvSpPr>
          <p:cNvPr name="Freeform 18" id="18"/>
          <p:cNvSpPr/>
          <p:nvPr/>
        </p:nvSpPr>
        <p:spPr>
          <a:xfrm flipH="false" flipV="false" rot="0">
            <a:off x="2185656" y="1488374"/>
            <a:ext cx="5870646" cy="640434"/>
          </a:xfrm>
          <a:custGeom>
            <a:avLst/>
            <a:gdLst/>
            <a:ahLst/>
            <a:cxnLst/>
            <a:rect r="r" b="b" t="t" l="l"/>
            <a:pathLst>
              <a:path h="640434" w="5870646">
                <a:moveTo>
                  <a:pt x="0" y="0"/>
                </a:moveTo>
                <a:lnTo>
                  <a:pt x="5870646" y="0"/>
                </a:lnTo>
                <a:lnTo>
                  <a:pt x="5870646" y="640434"/>
                </a:lnTo>
                <a:lnTo>
                  <a:pt x="0" y="6404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true" flipV="true" rot="-1552060">
            <a:off x="8514736" y="8730424"/>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0" id="20"/>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grpSp>
        <p:nvGrpSpPr>
          <p:cNvPr name="Group 21" id="21"/>
          <p:cNvGrpSpPr/>
          <p:nvPr/>
        </p:nvGrpSpPr>
        <p:grpSpPr>
          <a:xfrm rot="0">
            <a:off x="1028700" y="2397954"/>
            <a:ext cx="8314835" cy="6694201"/>
            <a:chOff x="0" y="0"/>
            <a:chExt cx="2189915" cy="1763082"/>
          </a:xfrm>
        </p:grpSpPr>
        <p:sp>
          <p:nvSpPr>
            <p:cNvPr name="Freeform 22" id="22"/>
            <p:cNvSpPr/>
            <p:nvPr/>
          </p:nvSpPr>
          <p:spPr>
            <a:xfrm flipH="false" flipV="false" rot="0">
              <a:off x="0" y="0"/>
              <a:ext cx="2189915" cy="1763082"/>
            </a:xfrm>
            <a:custGeom>
              <a:avLst/>
              <a:gdLst/>
              <a:ahLst/>
              <a:cxnLst/>
              <a:rect r="r" b="b" t="t" l="l"/>
              <a:pathLst>
                <a:path h="1763082" w="2189915">
                  <a:moveTo>
                    <a:pt x="29795" y="0"/>
                  </a:moveTo>
                  <a:lnTo>
                    <a:pt x="2160120" y="0"/>
                  </a:lnTo>
                  <a:cubicBezTo>
                    <a:pt x="2168022" y="0"/>
                    <a:pt x="2175601" y="3139"/>
                    <a:pt x="2181189" y="8727"/>
                  </a:cubicBezTo>
                  <a:cubicBezTo>
                    <a:pt x="2186776" y="14314"/>
                    <a:pt x="2189915" y="21893"/>
                    <a:pt x="2189915" y="29795"/>
                  </a:cubicBezTo>
                  <a:lnTo>
                    <a:pt x="2189915" y="1733287"/>
                  </a:lnTo>
                  <a:cubicBezTo>
                    <a:pt x="2189915" y="1741189"/>
                    <a:pt x="2186776" y="1748767"/>
                    <a:pt x="2181189" y="1754355"/>
                  </a:cubicBezTo>
                  <a:cubicBezTo>
                    <a:pt x="2175601" y="1759943"/>
                    <a:pt x="2168022" y="1763082"/>
                    <a:pt x="2160120" y="1763082"/>
                  </a:cubicBezTo>
                  <a:lnTo>
                    <a:pt x="29795" y="1763082"/>
                  </a:lnTo>
                  <a:cubicBezTo>
                    <a:pt x="21893" y="1763082"/>
                    <a:pt x="14314" y="1759943"/>
                    <a:pt x="8727" y="1754355"/>
                  </a:cubicBezTo>
                  <a:cubicBezTo>
                    <a:pt x="3139" y="1748767"/>
                    <a:pt x="0" y="1741189"/>
                    <a:pt x="0" y="1733287"/>
                  </a:cubicBezTo>
                  <a:lnTo>
                    <a:pt x="0" y="29795"/>
                  </a:lnTo>
                  <a:cubicBezTo>
                    <a:pt x="0" y="21893"/>
                    <a:pt x="3139" y="14314"/>
                    <a:pt x="8727" y="8727"/>
                  </a:cubicBezTo>
                  <a:cubicBezTo>
                    <a:pt x="14314" y="3139"/>
                    <a:pt x="21893" y="0"/>
                    <a:pt x="29795" y="0"/>
                  </a:cubicBezTo>
                  <a:close/>
                </a:path>
              </a:pathLst>
            </a:custGeom>
            <a:solidFill>
              <a:srgbClr val="FFFFFF"/>
            </a:solidFill>
            <a:ln w="47625" cap="rnd">
              <a:solidFill>
                <a:srgbClr val="998178"/>
              </a:solidFill>
              <a:prstDash val="solid"/>
              <a:round/>
            </a:ln>
          </p:spPr>
        </p:sp>
        <p:sp>
          <p:nvSpPr>
            <p:cNvPr name="TextBox 23" id="23"/>
            <p:cNvSpPr txBox="true"/>
            <p:nvPr/>
          </p:nvSpPr>
          <p:spPr>
            <a:xfrm>
              <a:off x="0" y="-38100"/>
              <a:ext cx="2189915" cy="1801182"/>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698789" y="-1689219"/>
            <a:ext cx="8143755" cy="10437477"/>
            <a:chOff x="0" y="0"/>
            <a:chExt cx="2144857" cy="2748965"/>
          </a:xfrm>
        </p:grpSpPr>
        <p:sp>
          <p:nvSpPr>
            <p:cNvPr name="Freeform 25" id="25"/>
            <p:cNvSpPr/>
            <p:nvPr/>
          </p:nvSpPr>
          <p:spPr>
            <a:xfrm flipH="false" flipV="false" rot="0">
              <a:off x="0" y="0"/>
              <a:ext cx="2144857" cy="2748965"/>
            </a:xfrm>
            <a:custGeom>
              <a:avLst/>
              <a:gdLst/>
              <a:ahLst/>
              <a:cxnLst/>
              <a:rect r="r" b="b" t="t" l="l"/>
              <a:pathLst>
                <a:path h="2748965" w="2144857">
                  <a:moveTo>
                    <a:pt x="30421" y="0"/>
                  </a:moveTo>
                  <a:lnTo>
                    <a:pt x="2114436" y="0"/>
                  </a:lnTo>
                  <a:cubicBezTo>
                    <a:pt x="2122504" y="0"/>
                    <a:pt x="2130242" y="3205"/>
                    <a:pt x="2135947" y="8910"/>
                  </a:cubicBezTo>
                  <a:cubicBezTo>
                    <a:pt x="2141652" y="14615"/>
                    <a:pt x="2144857" y="22353"/>
                    <a:pt x="2144857" y="30421"/>
                  </a:cubicBezTo>
                  <a:lnTo>
                    <a:pt x="2144857" y="2718544"/>
                  </a:lnTo>
                  <a:cubicBezTo>
                    <a:pt x="2144857" y="2726612"/>
                    <a:pt x="2141652" y="2734350"/>
                    <a:pt x="2135947" y="2740055"/>
                  </a:cubicBezTo>
                  <a:cubicBezTo>
                    <a:pt x="2130242" y="2745760"/>
                    <a:pt x="2122504" y="2748965"/>
                    <a:pt x="2114436" y="2748965"/>
                  </a:cubicBezTo>
                  <a:lnTo>
                    <a:pt x="30421" y="2748965"/>
                  </a:lnTo>
                  <a:cubicBezTo>
                    <a:pt x="22353" y="2748965"/>
                    <a:pt x="14615" y="2745760"/>
                    <a:pt x="8910" y="2740055"/>
                  </a:cubicBezTo>
                  <a:cubicBezTo>
                    <a:pt x="3205" y="2734350"/>
                    <a:pt x="0" y="2726612"/>
                    <a:pt x="0" y="2718544"/>
                  </a:cubicBezTo>
                  <a:lnTo>
                    <a:pt x="0" y="30421"/>
                  </a:lnTo>
                  <a:cubicBezTo>
                    <a:pt x="0" y="22353"/>
                    <a:pt x="3205" y="14615"/>
                    <a:pt x="8910" y="8910"/>
                  </a:cubicBezTo>
                  <a:cubicBezTo>
                    <a:pt x="14615" y="3205"/>
                    <a:pt x="22353" y="0"/>
                    <a:pt x="30421" y="0"/>
                  </a:cubicBezTo>
                  <a:close/>
                </a:path>
              </a:pathLst>
            </a:custGeom>
            <a:solidFill>
              <a:srgbClr val="FFFFFF"/>
            </a:solidFill>
            <a:ln w="47625" cap="rnd">
              <a:solidFill>
                <a:srgbClr val="998178"/>
              </a:solidFill>
              <a:prstDash val="solid"/>
              <a:round/>
            </a:ln>
          </p:spPr>
        </p:sp>
        <p:sp>
          <p:nvSpPr>
            <p:cNvPr name="TextBox 26" id="26"/>
            <p:cNvSpPr txBox="true"/>
            <p:nvPr/>
          </p:nvSpPr>
          <p:spPr>
            <a:xfrm>
              <a:off x="0" y="-38100"/>
              <a:ext cx="2144857" cy="2787065"/>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492846" y="2611558"/>
            <a:ext cx="7386544" cy="6136700"/>
            <a:chOff x="0" y="0"/>
            <a:chExt cx="9848725" cy="8182266"/>
          </a:xfrm>
        </p:grpSpPr>
        <p:grpSp>
          <p:nvGrpSpPr>
            <p:cNvPr name="Group 28" id="28"/>
            <p:cNvGrpSpPr/>
            <p:nvPr/>
          </p:nvGrpSpPr>
          <p:grpSpPr>
            <a:xfrm rot="0">
              <a:off x="0" y="533319"/>
              <a:ext cx="9848725" cy="7648947"/>
              <a:chOff x="0" y="0"/>
              <a:chExt cx="1872304" cy="1454112"/>
            </a:xfrm>
          </p:grpSpPr>
          <p:sp>
            <p:nvSpPr>
              <p:cNvPr name="Freeform 29" id="29"/>
              <p:cNvSpPr/>
              <p:nvPr/>
            </p:nvSpPr>
            <p:spPr>
              <a:xfrm flipH="false" flipV="false" rot="0">
                <a:off x="0" y="0"/>
                <a:ext cx="1872304" cy="1454113"/>
              </a:xfrm>
              <a:custGeom>
                <a:avLst/>
                <a:gdLst/>
                <a:ahLst/>
                <a:cxnLst/>
                <a:rect r="r" b="b" t="t" l="l"/>
                <a:pathLst>
                  <a:path h="1454113" w="1872304">
                    <a:moveTo>
                      <a:pt x="28315" y="0"/>
                    </a:moveTo>
                    <a:lnTo>
                      <a:pt x="1843989" y="0"/>
                    </a:lnTo>
                    <a:cubicBezTo>
                      <a:pt x="1859627" y="0"/>
                      <a:pt x="1872304" y="12677"/>
                      <a:pt x="1872304" y="28315"/>
                    </a:cubicBezTo>
                    <a:lnTo>
                      <a:pt x="1872304" y="1425797"/>
                    </a:lnTo>
                    <a:cubicBezTo>
                      <a:pt x="1872304" y="1441435"/>
                      <a:pt x="1859627" y="1454113"/>
                      <a:pt x="1843989" y="1454113"/>
                    </a:cubicBezTo>
                    <a:lnTo>
                      <a:pt x="28315" y="1454113"/>
                    </a:lnTo>
                    <a:cubicBezTo>
                      <a:pt x="12677" y="1454113"/>
                      <a:pt x="0" y="1441435"/>
                      <a:pt x="0" y="1425797"/>
                    </a:cubicBezTo>
                    <a:lnTo>
                      <a:pt x="0" y="28315"/>
                    </a:lnTo>
                    <a:cubicBezTo>
                      <a:pt x="0" y="12677"/>
                      <a:pt x="12677" y="0"/>
                      <a:pt x="28315" y="0"/>
                    </a:cubicBezTo>
                    <a:close/>
                  </a:path>
                </a:pathLst>
              </a:custGeom>
              <a:solidFill>
                <a:srgbClr val="FFFFFF"/>
              </a:solidFill>
              <a:ln w="38100" cap="rnd">
                <a:solidFill>
                  <a:srgbClr val="BF9585"/>
                </a:solidFill>
                <a:prstDash val="lgDash"/>
                <a:round/>
              </a:ln>
            </p:spPr>
          </p:sp>
          <p:sp>
            <p:nvSpPr>
              <p:cNvPr name="TextBox 30" id="30"/>
              <p:cNvSpPr txBox="true"/>
              <p:nvPr/>
            </p:nvSpPr>
            <p:spPr>
              <a:xfrm>
                <a:off x="0" y="-38100"/>
                <a:ext cx="1872304" cy="1492212"/>
              </a:xfrm>
              <a:prstGeom prst="rect">
                <a:avLst/>
              </a:prstGeom>
            </p:spPr>
            <p:txBody>
              <a:bodyPr anchor="ctr" rtlCol="false" tIns="50800" lIns="50800" bIns="50800" rIns="50800"/>
              <a:lstStyle/>
              <a:p>
                <a:pPr algn="ctr" marL="0" indent="0" lvl="0">
                  <a:lnSpc>
                    <a:spcPts val="2660"/>
                  </a:lnSpc>
                  <a:spcBef>
                    <a:spcPct val="0"/>
                  </a:spcBef>
                </a:pPr>
              </a:p>
            </p:txBody>
          </p:sp>
        </p:grpSp>
        <p:sp>
          <p:nvSpPr>
            <p:cNvPr name="TextBox 31" id="31"/>
            <p:cNvSpPr txBox="true"/>
            <p:nvPr/>
          </p:nvSpPr>
          <p:spPr>
            <a:xfrm rot="0">
              <a:off x="138000" y="869111"/>
              <a:ext cx="9572725" cy="3805362"/>
            </a:xfrm>
            <a:prstGeom prst="rect">
              <a:avLst/>
            </a:prstGeom>
          </p:spPr>
          <p:txBody>
            <a:bodyPr anchor="t" rtlCol="false" tIns="0" lIns="0" bIns="0" rIns="0">
              <a:spAutoFit/>
            </a:bodyPr>
            <a:lstStyle/>
            <a:p>
              <a:pPr algn="l">
                <a:lnSpc>
                  <a:spcPts val="3260"/>
                </a:lnSpc>
                <a:spcBef>
                  <a:spcPct val="0"/>
                </a:spcBef>
              </a:pPr>
            </a:p>
            <a:p>
              <a:pPr algn="l">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8 Sep · Proposal approved — All </a:t>
              </a:r>
            </a:p>
            <a:p>
              <a:pPr algn="l">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15 Sep · </a:t>
              </a:r>
              <a:r>
                <a:rPr lang="en-US" b="true" sz="2397" spc="21" strike="noStrike" u="none">
                  <a:solidFill>
                    <a:srgbClr val="7B6861"/>
                  </a:solidFill>
                  <a:latin typeface="Quicksand Medium"/>
                  <a:ea typeface="Quicksand Medium"/>
                  <a:cs typeface="Quicksand Medium"/>
                  <a:sym typeface="Quicksand Medium"/>
                </a:rPr>
                <a:t>Database </a:t>
              </a:r>
              <a:r>
                <a:rPr lang="en-US" b="true" sz="2397" spc="21" strike="noStrike" u="none">
                  <a:solidFill>
                    <a:srgbClr val="7B6861"/>
                  </a:solidFill>
                  <a:latin typeface="Quicksand Medium"/>
                  <a:ea typeface="Quicksand Medium"/>
                  <a:cs typeface="Quicksand Medium"/>
                  <a:sym typeface="Quicksand Medium"/>
                </a:rPr>
                <a:t>des</a:t>
              </a:r>
              <a:r>
                <a:rPr lang="en-US" b="true" sz="2397" spc="21" strike="noStrike" u="none">
                  <a:solidFill>
                    <a:srgbClr val="7B6861"/>
                  </a:solidFill>
                  <a:latin typeface="Quicksand Medium"/>
                  <a:ea typeface="Quicksand Medium"/>
                  <a:cs typeface="Quicksand Medium"/>
                  <a:sym typeface="Quicksand Medium"/>
                </a:rPr>
                <a:t>ign — Parintorn</a:t>
              </a:r>
              <a:r>
                <a:rPr lang="en-US" b="true" sz="2397" spc="21" strike="noStrike" u="none">
                  <a:solidFill>
                    <a:srgbClr val="7B6861"/>
                  </a:solidFill>
                  <a:latin typeface="Quicksand Medium"/>
                  <a:ea typeface="Quicksand Medium"/>
                  <a:cs typeface="Quicksand Medium"/>
                  <a:sym typeface="Quicksand Medium"/>
                </a:rPr>
                <a:t>, Thanwisit </a:t>
              </a:r>
            </a:p>
            <a:p>
              <a:pPr algn="l">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20 Sep · </a:t>
              </a:r>
              <a:r>
                <a:rPr lang="en-US" b="true" sz="2397" spc="21" strike="noStrike" u="none">
                  <a:solidFill>
                    <a:srgbClr val="7B6861"/>
                  </a:solidFill>
                  <a:latin typeface="Quicksand Medium"/>
                  <a:ea typeface="Quicksand Medium"/>
                  <a:cs typeface="Quicksand Medium"/>
                  <a:sym typeface="Quicksand Medium"/>
                </a:rPr>
                <a:t>Backend API — Thanwisit </a:t>
              </a:r>
            </a:p>
            <a:p>
              <a:pPr algn="l">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23 Sep · Frontend — Natphisit </a:t>
              </a:r>
            </a:p>
            <a:p>
              <a:pPr algn="l">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14 Oct · Inte</a:t>
              </a:r>
              <a:r>
                <a:rPr lang="en-US" b="true" sz="2397" spc="21" strike="noStrike" u="none">
                  <a:solidFill>
                    <a:srgbClr val="7B6861"/>
                  </a:solidFill>
                  <a:latin typeface="Quicksand Medium"/>
                  <a:ea typeface="Quicksand Medium"/>
                  <a:cs typeface="Quicksand Medium"/>
                  <a:sym typeface="Quicksand Medium"/>
                </a:rPr>
                <a:t>grati</a:t>
              </a:r>
              <a:r>
                <a:rPr lang="en-US" b="true" sz="2397" spc="21" strike="noStrike" u="none">
                  <a:solidFill>
                    <a:srgbClr val="7B6861"/>
                  </a:solidFill>
                  <a:latin typeface="Quicksand Medium"/>
                  <a:ea typeface="Quicksand Medium"/>
                  <a:cs typeface="Quicksand Medium"/>
                  <a:sym typeface="Quicksand Medium"/>
                </a:rPr>
                <a:t>o</a:t>
              </a:r>
              <a:r>
                <a:rPr lang="en-US" b="true" sz="2397" spc="21" strike="noStrike" u="none">
                  <a:solidFill>
                    <a:srgbClr val="7B6861"/>
                  </a:solidFill>
                  <a:latin typeface="Quicksand Medium"/>
                  <a:ea typeface="Quicksand Medium"/>
                  <a:cs typeface="Quicksand Medium"/>
                  <a:sym typeface="Quicksand Medium"/>
                </a:rPr>
                <a:t>n testing</a:t>
              </a:r>
              <a:r>
                <a:rPr lang="en-US" b="true" sz="2397" spc="21" strike="noStrike" u="none">
                  <a:solidFill>
                    <a:srgbClr val="7B6861"/>
                  </a:solidFill>
                  <a:latin typeface="Quicksand Medium"/>
                  <a:ea typeface="Quicksand Medium"/>
                  <a:cs typeface="Quicksand Medium"/>
                  <a:sym typeface="Quicksand Medium"/>
                </a:rPr>
                <a:t> — All </a:t>
              </a:r>
            </a:p>
            <a:p>
              <a:pPr algn="l">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14 Oct · Final project — All</a:t>
              </a:r>
            </a:p>
          </p:txBody>
        </p:sp>
        <p:grpSp>
          <p:nvGrpSpPr>
            <p:cNvPr name="Group 32" id="32"/>
            <p:cNvGrpSpPr/>
            <p:nvPr/>
          </p:nvGrpSpPr>
          <p:grpSpPr>
            <a:xfrm rot="0">
              <a:off x="241170" y="0"/>
              <a:ext cx="6426383" cy="1240439"/>
              <a:chOff x="0" y="0"/>
              <a:chExt cx="1513331" cy="292107"/>
            </a:xfrm>
          </p:grpSpPr>
          <p:sp>
            <p:nvSpPr>
              <p:cNvPr name="Freeform 33" id="33"/>
              <p:cNvSpPr/>
              <p:nvPr/>
            </p:nvSpPr>
            <p:spPr>
              <a:xfrm flipH="false" flipV="false" rot="0">
                <a:off x="0" y="0"/>
                <a:ext cx="1513331" cy="292107"/>
              </a:xfrm>
              <a:custGeom>
                <a:avLst/>
                <a:gdLst/>
                <a:ahLst/>
                <a:cxnLst/>
                <a:rect r="r" b="b" t="t" l="l"/>
                <a:pathLst>
                  <a:path h="292107" w="1513331">
                    <a:moveTo>
                      <a:pt x="35049" y="0"/>
                    </a:moveTo>
                    <a:lnTo>
                      <a:pt x="1478282" y="0"/>
                    </a:lnTo>
                    <a:cubicBezTo>
                      <a:pt x="1487577" y="0"/>
                      <a:pt x="1496492" y="3693"/>
                      <a:pt x="1503065" y="10266"/>
                    </a:cubicBezTo>
                    <a:cubicBezTo>
                      <a:pt x="1509638" y="16839"/>
                      <a:pt x="1513331" y="25754"/>
                      <a:pt x="1513331" y="35049"/>
                    </a:cubicBezTo>
                    <a:lnTo>
                      <a:pt x="1513331" y="257058"/>
                    </a:lnTo>
                    <a:cubicBezTo>
                      <a:pt x="1513331" y="266354"/>
                      <a:pt x="1509638" y="275269"/>
                      <a:pt x="1503065" y="281842"/>
                    </a:cubicBezTo>
                    <a:cubicBezTo>
                      <a:pt x="1496492" y="288415"/>
                      <a:pt x="1487577" y="292107"/>
                      <a:pt x="1478282" y="292107"/>
                    </a:cubicBezTo>
                    <a:lnTo>
                      <a:pt x="35049" y="292107"/>
                    </a:lnTo>
                    <a:cubicBezTo>
                      <a:pt x="25754" y="292107"/>
                      <a:pt x="16839" y="288415"/>
                      <a:pt x="10266" y="281842"/>
                    </a:cubicBezTo>
                    <a:cubicBezTo>
                      <a:pt x="3693" y="275269"/>
                      <a:pt x="0" y="266354"/>
                      <a:pt x="0" y="257058"/>
                    </a:cubicBezTo>
                    <a:lnTo>
                      <a:pt x="0" y="35049"/>
                    </a:lnTo>
                    <a:cubicBezTo>
                      <a:pt x="0" y="25754"/>
                      <a:pt x="3693" y="16839"/>
                      <a:pt x="10266" y="10266"/>
                    </a:cubicBezTo>
                    <a:cubicBezTo>
                      <a:pt x="16839" y="3693"/>
                      <a:pt x="25754" y="0"/>
                      <a:pt x="35049" y="0"/>
                    </a:cubicBezTo>
                    <a:close/>
                  </a:path>
                </a:pathLst>
              </a:custGeom>
              <a:solidFill>
                <a:srgbClr val="FFFFFF"/>
              </a:solidFill>
              <a:ln w="38100" cap="rnd">
                <a:solidFill>
                  <a:srgbClr val="BF9585"/>
                </a:solidFill>
                <a:prstDash val="dash"/>
                <a:round/>
              </a:ln>
            </p:spPr>
          </p:sp>
          <p:sp>
            <p:nvSpPr>
              <p:cNvPr name="TextBox 34" id="34"/>
              <p:cNvSpPr txBox="true"/>
              <p:nvPr/>
            </p:nvSpPr>
            <p:spPr>
              <a:xfrm>
                <a:off x="0" y="-38100"/>
                <a:ext cx="1513331" cy="330207"/>
              </a:xfrm>
              <a:prstGeom prst="rect">
                <a:avLst/>
              </a:prstGeom>
            </p:spPr>
            <p:txBody>
              <a:bodyPr anchor="ctr" rtlCol="false" tIns="50800" lIns="50800" bIns="50800" rIns="50800"/>
              <a:lstStyle/>
              <a:p>
                <a:pPr algn="ctr" marL="0" indent="0" lvl="0">
                  <a:lnSpc>
                    <a:spcPts val="2660"/>
                  </a:lnSpc>
                  <a:spcBef>
                    <a:spcPct val="0"/>
                  </a:spcBef>
                </a:pPr>
              </a:p>
            </p:txBody>
          </p:sp>
        </p:grpSp>
        <p:sp>
          <p:nvSpPr>
            <p:cNvPr name="TextBox 35" id="35"/>
            <p:cNvSpPr txBox="true"/>
            <p:nvPr/>
          </p:nvSpPr>
          <p:spPr>
            <a:xfrm rot="0">
              <a:off x="241170" y="92611"/>
              <a:ext cx="6426383" cy="824125"/>
            </a:xfrm>
            <a:prstGeom prst="rect">
              <a:avLst/>
            </a:prstGeom>
          </p:spPr>
          <p:txBody>
            <a:bodyPr anchor="t" rtlCol="false" tIns="0" lIns="0" bIns="0" rIns="0">
              <a:spAutoFit/>
            </a:bodyPr>
            <a:lstStyle/>
            <a:p>
              <a:pPr algn="ctr">
                <a:lnSpc>
                  <a:spcPts val="5236"/>
                </a:lnSpc>
              </a:pPr>
              <a:r>
                <a:rPr lang="en-US" b="true" sz="3740" spc="-78">
                  <a:solidFill>
                    <a:srgbClr val="7B6861"/>
                  </a:solidFill>
                  <a:latin typeface="Quicksand Bold"/>
                  <a:ea typeface="Quicksand Bold"/>
                  <a:cs typeface="Quicksand Bold"/>
                  <a:sym typeface="Quicksand Bold"/>
                </a:rPr>
                <a:t>Milestones &amp; Owners</a:t>
              </a:r>
            </a:p>
          </p:txBody>
        </p:sp>
      </p:grpSp>
      <p:sp>
        <p:nvSpPr>
          <p:cNvPr name="TextBox 36" id="36"/>
          <p:cNvSpPr txBox="true"/>
          <p:nvPr/>
        </p:nvSpPr>
        <p:spPr>
          <a:xfrm rot="0">
            <a:off x="10186772" y="1222948"/>
            <a:ext cx="7179544" cy="2465483"/>
          </a:xfrm>
          <a:prstGeom prst="rect">
            <a:avLst/>
          </a:prstGeom>
        </p:spPr>
        <p:txBody>
          <a:bodyPr anchor="t" rtlCol="false" tIns="0" lIns="0" bIns="0" rIns="0">
            <a:spAutoFit/>
          </a:bodyPr>
          <a:lstStyle/>
          <a:p>
            <a:pPr algn="l" marL="0" indent="0" lvl="0">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8 Sep · Proposal approved — All </a:t>
            </a:r>
          </a:p>
          <a:p>
            <a:pPr algn="l" marL="0" indent="0" lvl="0">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15 Sep · </a:t>
            </a:r>
            <a:r>
              <a:rPr lang="en-US" b="true" sz="2397" spc="21" strike="noStrike" u="none">
                <a:solidFill>
                  <a:srgbClr val="7B6861"/>
                </a:solidFill>
                <a:latin typeface="Quicksand Medium"/>
                <a:ea typeface="Quicksand Medium"/>
                <a:cs typeface="Quicksand Medium"/>
                <a:sym typeface="Quicksand Medium"/>
              </a:rPr>
              <a:t>Database </a:t>
            </a:r>
            <a:r>
              <a:rPr lang="en-US" b="true" sz="2397" spc="21" strike="noStrike" u="none">
                <a:solidFill>
                  <a:srgbClr val="7B6861"/>
                </a:solidFill>
                <a:latin typeface="Quicksand Medium"/>
                <a:ea typeface="Quicksand Medium"/>
                <a:cs typeface="Quicksand Medium"/>
                <a:sym typeface="Quicksand Medium"/>
              </a:rPr>
              <a:t>des</a:t>
            </a:r>
            <a:r>
              <a:rPr lang="en-US" b="true" sz="2397" spc="21" strike="noStrike" u="none">
                <a:solidFill>
                  <a:srgbClr val="7B6861"/>
                </a:solidFill>
                <a:latin typeface="Quicksand Medium"/>
                <a:ea typeface="Quicksand Medium"/>
                <a:cs typeface="Quicksand Medium"/>
                <a:sym typeface="Quicksand Medium"/>
              </a:rPr>
              <a:t>ign — Parintorn</a:t>
            </a:r>
            <a:r>
              <a:rPr lang="en-US" b="true" sz="2397" spc="21" strike="noStrike" u="none">
                <a:solidFill>
                  <a:srgbClr val="7B6861"/>
                </a:solidFill>
                <a:latin typeface="Quicksand Medium"/>
                <a:ea typeface="Quicksand Medium"/>
                <a:cs typeface="Quicksand Medium"/>
                <a:sym typeface="Quicksand Medium"/>
              </a:rPr>
              <a:t>, Thanwisit </a:t>
            </a:r>
          </a:p>
          <a:p>
            <a:pPr algn="l" marL="0" indent="0" lvl="0">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17 Sep · </a:t>
            </a:r>
            <a:r>
              <a:rPr lang="en-US" b="true" sz="2397" spc="21" strike="noStrike" u="none">
                <a:solidFill>
                  <a:srgbClr val="7B6861"/>
                </a:solidFill>
                <a:latin typeface="Quicksand Medium"/>
                <a:ea typeface="Quicksand Medium"/>
                <a:cs typeface="Quicksand Medium"/>
                <a:sym typeface="Quicksand Medium"/>
              </a:rPr>
              <a:t>Backend API</a:t>
            </a:r>
            <a:r>
              <a:rPr lang="en-US" b="true" sz="2397" spc="21" strike="noStrike" u="none">
                <a:solidFill>
                  <a:srgbClr val="7B6861"/>
                </a:solidFill>
                <a:latin typeface="Quicksand Medium"/>
                <a:ea typeface="Quicksand Medium"/>
                <a:cs typeface="Quicksand Medium"/>
                <a:sym typeface="Quicksand Medium"/>
              </a:rPr>
              <a:t> — Thanwisit </a:t>
            </a:r>
          </a:p>
          <a:p>
            <a:pPr algn="l" marL="0" indent="0" lvl="0">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18 Sep · </a:t>
            </a:r>
            <a:r>
              <a:rPr lang="en-US" b="true" sz="2397" spc="21" strike="noStrike" u="none">
                <a:solidFill>
                  <a:srgbClr val="7B6861"/>
                </a:solidFill>
                <a:latin typeface="Quicksand Medium"/>
                <a:ea typeface="Quicksand Medium"/>
                <a:cs typeface="Quicksand Medium"/>
                <a:sym typeface="Quicksand Medium"/>
              </a:rPr>
              <a:t>Fr</a:t>
            </a:r>
            <a:r>
              <a:rPr lang="en-US" b="true" sz="2397" spc="21" strike="noStrike" u="none">
                <a:solidFill>
                  <a:srgbClr val="7B6861"/>
                </a:solidFill>
                <a:latin typeface="Quicksand Medium"/>
                <a:ea typeface="Quicksand Medium"/>
                <a:cs typeface="Quicksand Medium"/>
                <a:sym typeface="Quicksand Medium"/>
              </a:rPr>
              <a:t>ontend — Natphisit </a:t>
            </a:r>
          </a:p>
          <a:p>
            <a:pPr algn="l" marL="0" indent="0" lvl="0">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19 Sep · Int</a:t>
            </a:r>
            <a:r>
              <a:rPr lang="en-US" b="true" sz="2397" spc="21" strike="noStrike" u="none">
                <a:solidFill>
                  <a:srgbClr val="7B6861"/>
                </a:solidFill>
                <a:latin typeface="Quicksand Medium"/>
                <a:ea typeface="Quicksand Medium"/>
                <a:cs typeface="Quicksand Medium"/>
                <a:sym typeface="Quicksand Medium"/>
              </a:rPr>
              <a:t>e</a:t>
            </a:r>
            <a:r>
              <a:rPr lang="en-US" b="true" sz="2397" spc="21" strike="noStrike" u="none">
                <a:solidFill>
                  <a:srgbClr val="7B6861"/>
                </a:solidFill>
                <a:latin typeface="Quicksand Medium"/>
                <a:ea typeface="Quicksand Medium"/>
                <a:cs typeface="Quicksand Medium"/>
                <a:sym typeface="Quicksand Medium"/>
              </a:rPr>
              <a:t>grati</a:t>
            </a:r>
            <a:r>
              <a:rPr lang="en-US" b="true" sz="2397" spc="21" strike="noStrike" u="none">
                <a:solidFill>
                  <a:srgbClr val="7B6861"/>
                </a:solidFill>
                <a:latin typeface="Quicksand Medium"/>
                <a:ea typeface="Quicksand Medium"/>
                <a:cs typeface="Quicksand Medium"/>
                <a:sym typeface="Quicksand Medium"/>
              </a:rPr>
              <a:t>o</a:t>
            </a:r>
            <a:r>
              <a:rPr lang="en-US" b="true" sz="2397" spc="21" strike="noStrike" u="none">
                <a:solidFill>
                  <a:srgbClr val="7B6861"/>
                </a:solidFill>
                <a:latin typeface="Quicksand Medium"/>
                <a:ea typeface="Quicksand Medium"/>
                <a:cs typeface="Quicksand Medium"/>
                <a:sym typeface="Quicksand Medium"/>
              </a:rPr>
              <a:t>n testing</a:t>
            </a:r>
            <a:r>
              <a:rPr lang="en-US" b="true" sz="2397" spc="21" strike="noStrike" u="none">
                <a:solidFill>
                  <a:srgbClr val="7B6861"/>
                </a:solidFill>
                <a:latin typeface="Quicksand Medium"/>
                <a:ea typeface="Quicksand Medium"/>
                <a:cs typeface="Quicksand Medium"/>
                <a:sym typeface="Quicksand Medium"/>
              </a:rPr>
              <a:t> — All </a:t>
            </a:r>
          </a:p>
          <a:p>
            <a:pPr algn="l" marL="0" indent="0" lvl="0">
              <a:lnSpc>
                <a:spcPts val="3260"/>
              </a:lnSpc>
              <a:spcBef>
                <a:spcPct val="0"/>
              </a:spcBef>
            </a:pPr>
            <a:r>
              <a:rPr lang="en-US" b="true" sz="2397" spc="21" strike="noStrike" u="none">
                <a:solidFill>
                  <a:srgbClr val="7B6861"/>
                </a:solidFill>
                <a:latin typeface="Quicksand Medium"/>
                <a:ea typeface="Quicksand Medium"/>
                <a:cs typeface="Quicksand Medium"/>
                <a:sym typeface="Quicksand Medium"/>
              </a:rPr>
              <a:t>20 Sep· Final project — All</a:t>
            </a:r>
          </a:p>
        </p:txBody>
      </p:sp>
      <p:sp>
        <p:nvSpPr>
          <p:cNvPr name="TextBox 37" id="37"/>
          <p:cNvSpPr txBox="true"/>
          <p:nvPr/>
        </p:nvSpPr>
        <p:spPr>
          <a:xfrm rot="0">
            <a:off x="10036740" y="4276369"/>
            <a:ext cx="7467853" cy="1297862"/>
          </a:xfrm>
          <a:prstGeom prst="rect">
            <a:avLst/>
          </a:prstGeom>
        </p:spPr>
        <p:txBody>
          <a:bodyPr anchor="t" rtlCol="false" tIns="0" lIns="0" bIns="0" rIns="0">
            <a:spAutoFit/>
          </a:bodyPr>
          <a:lstStyle/>
          <a:p>
            <a:pPr algn="ctr">
              <a:lnSpc>
                <a:spcPts val="5236"/>
              </a:lnSpc>
            </a:pPr>
            <a:r>
              <a:rPr lang="en-US" b="true" sz="3740" spc="-78">
                <a:solidFill>
                  <a:srgbClr val="7B6861"/>
                </a:solidFill>
                <a:latin typeface="Quicksand Bold"/>
                <a:ea typeface="Quicksand Bold"/>
                <a:cs typeface="Quicksand Bold"/>
                <a:sym typeface="Quicksand Bold"/>
              </a:rPr>
              <a:t>We couldn’t follow the proposed milestone because</a:t>
            </a:r>
          </a:p>
        </p:txBody>
      </p:sp>
      <p:sp>
        <p:nvSpPr>
          <p:cNvPr name="TextBox 38" id="38"/>
          <p:cNvSpPr txBox="true"/>
          <p:nvPr/>
        </p:nvSpPr>
        <p:spPr>
          <a:xfrm rot="0">
            <a:off x="10036740" y="5793223"/>
            <a:ext cx="7467853" cy="2046777"/>
          </a:xfrm>
          <a:prstGeom prst="rect">
            <a:avLst/>
          </a:prstGeom>
        </p:spPr>
        <p:txBody>
          <a:bodyPr anchor="t" rtlCol="false" tIns="0" lIns="0" bIns="0" rIns="0">
            <a:spAutoFit/>
          </a:bodyPr>
          <a:lstStyle/>
          <a:p>
            <a:pPr algn="l" marL="517677" indent="-258839" lvl="1">
              <a:lnSpc>
                <a:spcPts val="3260"/>
              </a:lnSpc>
              <a:spcBef>
                <a:spcPct val="0"/>
              </a:spcBef>
              <a:buFont typeface="Arial"/>
              <a:buChar char="•"/>
            </a:pPr>
            <a:r>
              <a:rPr lang="en-US" sz="2397" spc="21">
                <a:solidFill>
                  <a:srgbClr val="7B6861"/>
                </a:solidFill>
                <a:latin typeface="Quicksand"/>
                <a:ea typeface="Quicksand"/>
                <a:cs typeface="Quicksand"/>
                <a:sym typeface="Quicksand"/>
              </a:rPr>
              <a:t>Ev</a:t>
            </a:r>
            <a:r>
              <a:rPr lang="en-US" sz="2397" spc="21">
                <a:solidFill>
                  <a:srgbClr val="7B6861"/>
                </a:solidFill>
                <a:latin typeface="Quicksand"/>
                <a:ea typeface="Quicksand"/>
                <a:cs typeface="Quicksand"/>
                <a:sym typeface="Quicksand"/>
              </a:rPr>
              <a:t>er</a:t>
            </a:r>
            <a:r>
              <a:rPr lang="en-US" sz="2397" spc="21" strike="noStrike" u="none">
                <a:solidFill>
                  <a:srgbClr val="7B6861"/>
                </a:solidFill>
                <a:latin typeface="Quicksand"/>
                <a:ea typeface="Quicksand"/>
                <a:cs typeface="Quicksand"/>
                <a:sym typeface="Quicksand"/>
              </a:rPr>
              <a:t>y</a:t>
            </a:r>
            <a:r>
              <a:rPr lang="en-US" sz="2397" spc="21">
                <a:solidFill>
                  <a:srgbClr val="7B6861"/>
                </a:solidFill>
                <a:latin typeface="Quicksand"/>
                <a:ea typeface="Quicksand"/>
                <a:cs typeface="Quicksand"/>
                <a:sym typeface="Quicksand"/>
              </a:rPr>
              <a:t>o</a:t>
            </a:r>
            <a:r>
              <a:rPr lang="en-US" sz="2397" spc="21" strike="noStrike" u="none">
                <a:solidFill>
                  <a:srgbClr val="7B6861"/>
                </a:solidFill>
                <a:latin typeface="Quicksand"/>
                <a:ea typeface="Quicksand"/>
                <a:cs typeface="Quicksand"/>
                <a:sym typeface="Quicksand"/>
              </a:rPr>
              <a:t>n</a:t>
            </a:r>
            <a:r>
              <a:rPr lang="en-US" sz="2397" spc="21">
                <a:solidFill>
                  <a:srgbClr val="7B6861"/>
                </a:solidFill>
                <a:latin typeface="Quicksand"/>
                <a:ea typeface="Quicksand"/>
                <a:cs typeface="Quicksand"/>
                <a:sym typeface="Quicksand"/>
              </a:rPr>
              <a:t>e </a:t>
            </a:r>
            <a:r>
              <a:rPr lang="en-US" sz="2397" spc="21" strike="noStrike" u="none">
                <a:solidFill>
                  <a:srgbClr val="7B6861"/>
                </a:solidFill>
                <a:latin typeface="Quicksand"/>
                <a:ea typeface="Quicksand"/>
                <a:cs typeface="Quicksand"/>
                <a:sym typeface="Quicksand"/>
              </a:rPr>
              <a:t>took</a:t>
            </a:r>
            <a:r>
              <a:rPr lang="en-US" sz="2397" spc="21">
                <a:solidFill>
                  <a:srgbClr val="7B6861"/>
                </a:solidFill>
                <a:latin typeface="Quicksand"/>
                <a:ea typeface="Quicksand"/>
                <a:cs typeface="Quicksand"/>
                <a:sym typeface="Quicksand"/>
              </a:rPr>
              <a:t> </a:t>
            </a:r>
            <a:r>
              <a:rPr lang="en-US" sz="2397" spc="21" strike="noStrike" u="none">
                <a:solidFill>
                  <a:srgbClr val="7B6861"/>
                </a:solidFill>
                <a:latin typeface="Quicksand"/>
                <a:ea typeface="Quicksand"/>
                <a:cs typeface="Quicksand"/>
                <a:sym typeface="Quicksand"/>
              </a:rPr>
              <a:t>a</a:t>
            </a:r>
            <a:r>
              <a:rPr lang="en-US" sz="2397" spc="21">
                <a:solidFill>
                  <a:srgbClr val="7B6861"/>
                </a:solidFill>
                <a:latin typeface="Quicksand"/>
                <a:ea typeface="Quicksand"/>
                <a:cs typeface="Quicksand"/>
                <a:sym typeface="Quicksand"/>
              </a:rPr>
              <a:t> 1</a:t>
            </a:r>
            <a:r>
              <a:rPr lang="en-US" sz="2397" spc="21" strike="noStrike" u="none">
                <a:solidFill>
                  <a:srgbClr val="7B6861"/>
                </a:solidFill>
                <a:latin typeface="Quicksand"/>
                <a:ea typeface="Quicksand"/>
                <a:cs typeface="Quicksand"/>
                <a:sym typeface="Quicksand"/>
              </a:rPr>
              <a:t>-w</a:t>
            </a:r>
            <a:r>
              <a:rPr lang="en-US" sz="2397" spc="21">
                <a:solidFill>
                  <a:srgbClr val="7B6861"/>
                </a:solidFill>
                <a:latin typeface="Quicksand"/>
                <a:ea typeface="Quicksand"/>
                <a:cs typeface="Quicksand"/>
                <a:sym typeface="Quicksand"/>
              </a:rPr>
              <a:t>e</a:t>
            </a:r>
            <a:r>
              <a:rPr lang="en-US" sz="2397" spc="21" strike="noStrike" u="none">
                <a:solidFill>
                  <a:srgbClr val="7B6861"/>
                </a:solidFill>
                <a:latin typeface="Quicksand"/>
                <a:ea typeface="Quicksand"/>
                <a:cs typeface="Quicksand"/>
                <a:sym typeface="Quicksand"/>
              </a:rPr>
              <a:t>ek</a:t>
            </a:r>
            <a:r>
              <a:rPr lang="en-US" sz="2397" spc="21">
                <a:solidFill>
                  <a:srgbClr val="7B6861"/>
                </a:solidFill>
                <a:latin typeface="Quicksand"/>
                <a:ea typeface="Quicksand"/>
                <a:cs typeface="Quicksand"/>
                <a:sym typeface="Quicksand"/>
              </a:rPr>
              <a:t> </a:t>
            </a:r>
            <a:r>
              <a:rPr lang="en-US" sz="2397" spc="21">
                <a:solidFill>
                  <a:srgbClr val="7B6861"/>
                </a:solidFill>
                <a:latin typeface="Quicksand"/>
                <a:ea typeface="Quicksand"/>
                <a:cs typeface="Quicksand"/>
                <a:sym typeface="Quicksand"/>
              </a:rPr>
              <a:t>b</a:t>
            </a:r>
            <a:r>
              <a:rPr lang="en-US" sz="2397" spc="21" strike="noStrike" u="none">
                <a:solidFill>
                  <a:srgbClr val="7B6861"/>
                </a:solidFill>
                <a:latin typeface="Quicksand"/>
                <a:ea typeface="Quicksand"/>
                <a:cs typeface="Quicksand"/>
                <a:sym typeface="Quicksand"/>
              </a:rPr>
              <a:t>re</a:t>
            </a:r>
            <a:r>
              <a:rPr lang="en-US" sz="2397" spc="21">
                <a:solidFill>
                  <a:srgbClr val="7B6861"/>
                </a:solidFill>
                <a:latin typeface="Quicksand"/>
                <a:ea typeface="Quicksand"/>
                <a:cs typeface="Quicksand"/>
                <a:sym typeface="Quicksand"/>
              </a:rPr>
              <a:t>a</a:t>
            </a:r>
            <a:r>
              <a:rPr lang="en-US" sz="2397" spc="21" strike="noStrike" u="none">
                <a:solidFill>
                  <a:srgbClr val="7B6861"/>
                </a:solidFill>
                <a:latin typeface="Quicksand"/>
                <a:ea typeface="Quicksand"/>
                <a:cs typeface="Quicksand"/>
                <a:sym typeface="Quicksand"/>
              </a:rPr>
              <a:t>k</a:t>
            </a:r>
          </a:p>
          <a:p>
            <a:pPr algn="l" marL="517677" indent="-258839" lvl="1">
              <a:lnSpc>
                <a:spcPts val="3260"/>
              </a:lnSpc>
              <a:spcBef>
                <a:spcPct val="0"/>
              </a:spcBef>
              <a:buFont typeface="Arial"/>
              <a:buChar char="•"/>
            </a:pPr>
            <a:r>
              <a:rPr lang="en-US" sz="2397" spc="21" strike="noStrike" u="none">
                <a:solidFill>
                  <a:srgbClr val="7B6861"/>
                </a:solidFill>
                <a:latin typeface="Quicksand"/>
                <a:ea typeface="Quicksand"/>
                <a:cs typeface="Quicksand"/>
                <a:sym typeface="Quicksand"/>
              </a:rPr>
              <a:t>Diff</a:t>
            </a:r>
            <a:r>
              <a:rPr lang="en-US" sz="2397" spc="21">
                <a:solidFill>
                  <a:srgbClr val="7B6861"/>
                </a:solidFill>
                <a:latin typeface="Quicksand"/>
                <a:ea typeface="Quicksand"/>
                <a:cs typeface="Quicksand"/>
                <a:sym typeface="Quicksand"/>
              </a:rPr>
              <a:t>e</a:t>
            </a:r>
            <a:r>
              <a:rPr lang="en-US" sz="2397" spc="21" strike="noStrike" u="none">
                <a:solidFill>
                  <a:srgbClr val="7B6861"/>
                </a:solidFill>
                <a:latin typeface="Quicksand"/>
                <a:ea typeface="Quicksand"/>
                <a:cs typeface="Quicksand"/>
                <a:sym typeface="Quicksand"/>
              </a:rPr>
              <a:t>rent</a:t>
            </a:r>
            <a:r>
              <a:rPr lang="en-US" sz="2397" spc="21">
                <a:solidFill>
                  <a:srgbClr val="7B6861"/>
                </a:solidFill>
                <a:latin typeface="Quicksand"/>
                <a:ea typeface="Quicksand"/>
                <a:cs typeface="Quicksand"/>
                <a:sym typeface="Quicksand"/>
              </a:rPr>
              <a:t> </a:t>
            </a:r>
            <a:r>
              <a:rPr lang="en-US" sz="2397" spc="21" strike="noStrike" u="none">
                <a:solidFill>
                  <a:srgbClr val="7B6861"/>
                </a:solidFill>
                <a:latin typeface="Quicksand"/>
                <a:ea typeface="Quicksand"/>
                <a:cs typeface="Quicksand"/>
                <a:sym typeface="Quicksand"/>
              </a:rPr>
              <a:t>un</a:t>
            </a:r>
            <a:r>
              <a:rPr lang="en-US" sz="2397" spc="21">
                <a:solidFill>
                  <a:srgbClr val="7B6861"/>
                </a:solidFill>
                <a:latin typeface="Quicksand"/>
                <a:ea typeface="Quicksand"/>
                <a:cs typeface="Quicksand"/>
                <a:sym typeface="Quicksand"/>
              </a:rPr>
              <a:t>de</a:t>
            </a:r>
            <a:r>
              <a:rPr lang="en-US" sz="2397" spc="21" strike="noStrike" u="none">
                <a:solidFill>
                  <a:srgbClr val="7B6861"/>
                </a:solidFill>
                <a:latin typeface="Quicksand"/>
                <a:ea typeface="Quicksand"/>
                <a:cs typeface="Quicksand"/>
                <a:sym typeface="Quicksand"/>
              </a:rPr>
              <a:t>r</a:t>
            </a:r>
            <a:r>
              <a:rPr lang="en-US" sz="2397" spc="21">
                <a:solidFill>
                  <a:srgbClr val="7B6861"/>
                </a:solidFill>
                <a:latin typeface="Quicksand"/>
                <a:ea typeface="Quicksand"/>
                <a:cs typeface="Quicksand"/>
                <a:sym typeface="Quicksand"/>
              </a:rPr>
              <a:t>s</a:t>
            </a:r>
            <a:r>
              <a:rPr lang="en-US" sz="2397" spc="21" strike="noStrike" u="none">
                <a:solidFill>
                  <a:srgbClr val="7B6861"/>
                </a:solidFill>
                <a:latin typeface="Quicksand"/>
                <a:ea typeface="Quicksand"/>
                <a:cs typeface="Quicksand"/>
                <a:sym typeface="Quicksand"/>
              </a:rPr>
              <a:t>tand</a:t>
            </a:r>
            <a:r>
              <a:rPr lang="en-US" sz="2397" spc="21">
                <a:solidFill>
                  <a:srgbClr val="7B6861"/>
                </a:solidFill>
                <a:latin typeface="Quicksand"/>
                <a:ea typeface="Quicksand"/>
                <a:cs typeface="Quicksand"/>
                <a:sym typeface="Quicksand"/>
              </a:rPr>
              <a:t>in</a:t>
            </a:r>
            <a:r>
              <a:rPr lang="en-US" sz="2397" spc="21" strike="noStrike" u="none">
                <a:solidFill>
                  <a:srgbClr val="7B6861"/>
                </a:solidFill>
                <a:latin typeface="Quicksand"/>
                <a:ea typeface="Quicksand"/>
                <a:cs typeface="Quicksand"/>
                <a:sym typeface="Quicksand"/>
              </a:rPr>
              <a:t>g</a:t>
            </a:r>
            <a:r>
              <a:rPr lang="en-US" sz="2397" spc="21">
                <a:solidFill>
                  <a:srgbClr val="7B6861"/>
                </a:solidFill>
                <a:latin typeface="Quicksand"/>
                <a:ea typeface="Quicksand"/>
                <a:cs typeface="Quicksand"/>
                <a:sym typeface="Quicksand"/>
              </a:rPr>
              <a:t> </a:t>
            </a:r>
            <a:r>
              <a:rPr lang="en-US" sz="2397" spc="21" strike="noStrike" u="none">
                <a:solidFill>
                  <a:srgbClr val="7B6861"/>
                </a:solidFill>
                <a:latin typeface="Quicksand"/>
                <a:ea typeface="Quicksand"/>
                <a:cs typeface="Quicksand"/>
                <a:sym typeface="Quicksand"/>
              </a:rPr>
              <a:t>of</a:t>
            </a:r>
            <a:r>
              <a:rPr lang="en-US" sz="2397" spc="21">
                <a:solidFill>
                  <a:srgbClr val="7B6861"/>
                </a:solidFill>
                <a:latin typeface="Quicksand"/>
                <a:ea typeface="Quicksand"/>
                <a:cs typeface="Quicksand"/>
                <a:sym typeface="Quicksand"/>
              </a:rPr>
              <a:t> t</a:t>
            </a:r>
            <a:r>
              <a:rPr lang="en-US" sz="2397" spc="21" strike="noStrike" u="none">
                <a:solidFill>
                  <a:srgbClr val="7B6861"/>
                </a:solidFill>
                <a:latin typeface="Quicksand"/>
                <a:ea typeface="Quicksand"/>
                <a:cs typeface="Quicksand"/>
                <a:sym typeface="Quicksand"/>
              </a:rPr>
              <a:t>he</a:t>
            </a:r>
            <a:r>
              <a:rPr lang="en-US" sz="2397" spc="21">
                <a:solidFill>
                  <a:srgbClr val="7B6861"/>
                </a:solidFill>
                <a:latin typeface="Quicksand"/>
                <a:ea typeface="Quicksand"/>
                <a:cs typeface="Quicksand"/>
                <a:sym typeface="Quicksand"/>
              </a:rPr>
              <a:t> </a:t>
            </a:r>
            <a:r>
              <a:rPr lang="en-US" sz="2397" spc="21" strike="noStrike" u="none">
                <a:solidFill>
                  <a:srgbClr val="7B6861"/>
                </a:solidFill>
                <a:latin typeface="Quicksand"/>
                <a:ea typeface="Quicksand"/>
                <a:cs typeface="Quicksand"/>
                <a:sym typeface="Quicksand"/>
              </a:rPr>
              <a:t>bu</a:t>
            </a:r>
            <a:r>
              <a:rPr lang="en-US" sz="2397" spc="21">
                <a:solidFill>
                  <a:srgbClr val="7B6861"/>
                </a:solidFill>
                <a:latin typeface="Quicksand"/>
                <a:ea typeface="Quicksand"/>
                <a:cs typeface="Quicksand"/>
                <a:sym typeface="Quicksand"/>
              </a:rPr>
              <a:t>si</a:t>
            </a:r>
            <a:r>
              <a:rPr lang="en-US" sz="2397" spc="21" strike="noStrike" u="none">
                <a:solidFill>
                  <a:srgbClr val="7B6861"/>
                </a:solidFill>
                <a:latin typeface="Quicksand"/>
                <a:ea typeface="Quicksand"/>
                <a:cs typeface="Quicksand"/>
                <a:sym typeface="Quicksand"/>
              </a:rPr>
              <a:t>n</a:t>
            </a:r>
            <a:r>
              <a:rPr lang="en-US" sz="2397" spc="21">
                <a:solidFill>
                  <a:srgbClr val="7B6861"/>
                </a:solidFill>
                <a:latin typeface="Quicksand"/>
                <a:ea typeface="Quicksand"/>
                <a:cs typeface="Quicksand"/>
                <a:sym typeface="Quicksand"/>
              </a:rPr>
              <a:t>e</a:t>
            </a:r>
            <a:r>
              <a:rPr lang="en-US" sz="2397" spc="21" strike="noStrike" u="none">
                <a:solidFill>
                  <a:srgbClr val="7B6861"/>
                </a:solidFill>
                <a:latin typeface="Quicksand"/>
                <a:ea typeface="Quicksand"/>
                <a:cs typeface="Quicksand"/>
                <a:sym typeface="Quicksand"/>
              </a:rPr>
              <a:t>ss</a:t>
            </a:r>
            <a:r>
              <a:rPr lang="en-US" sz="2397" spc="21">
                <a:solidFill>
                  <a:srgbClr val="7B6861"/>
                </a:solidFill>
                <a:latin typeface="Quicksand"/>
                <a:ea typeface="Quicksand"/>
                <a:cs typeface="Quicksand"/>
                <a:sym typeface="Quicksand"/>
              </a:rPr>
              <a:t> </a:t>
            </a:r>
            <a:r>
              <a:rPr lang="en-US" sz="2397" spc="21">
                <a:solidFill>
                  <a:srgbClr val="7B6861"/>
                </a:solidFill>
                <a:latin typeface="Quicksand"/>
                <a:ea typeface="Quicksand"/>
                <a:cs typeface="Quicksand"/>
                <a:sym typeface="Quicksand"/>
              </a:rPr>
              <a:t>and </a:t>
            </a:r>
            <a:r>
              <a:rPr lang="en-US" sz="2397" spc="21">
                <a:solidFill>
                  <a:srgbClr val="7B6861"/>
                </a:solidFill>
                <a:latin typeface="Quicksand"/>
                <a:ea typeface="Quicksand"/>
                <a:cs typeface="Quicksand"/>
                <a:sym typeface="Quicksand"/>
              </a:rPr>
              <a:t>n</a:t>
            </a:r>
            <a:r>
              <a:rPr lang="en-US" sz="2397" spc="21" strike="noStrike" u="none">
                <a:solidFill>
                  <a:srgbClr val="7B6861"/>
                </a:solidFill>
                <a:latin typeface="Quicksand"/>
                <a:ea typeface="Quicksand"/>
                <a:cs typeface="Quicksand"/>
                <a:sym typeface="Quicksand"/>
              </a:rPr>
              <a:t>o</a:t>
            </a:r>
            <a:r>
              <a:rPr lang="en-US" sz="2397" spc="21">
                <a:solidFill>
                  <a:srgbClr val="7B6861"/>
                </a:solidFill>
                <a:latin typeface="Quicksand"/>
                <a:ea typeface="Quicksand"/>
                <a:cs typeface="Quicksand"/>
                <a:sym typeface="Quicksand"/>
              </a:rPr>
              <a:t>t </a:t>
            </a:r>
            <a:r>
              <a:rPr lang="en-US" sz="2397" spc="21" strike="noStrike" u="none">
                <a:solidFill>
                  <a:srgbClr val="7B6861"/>
                </a:solidFill>
                <a:latin typeface="Quicksand"/>
                <a:ea typeface="Quicksand"/>
                <a:cs typeface="Quicksand"/>
                <a:sym typeface="Quicksand"/>
              </a:rPr>
              <a:t>c</a:t>
            </a:r>
            <a:r>
              <a:rPr lang="en-US" sz="2397" spc="21">
                <a:solidFill>
                  <a:srgbClr val="7B6861"/>
                </a:solidFill>
                <a:latin typeface="Quicksand"/>
                <a:ea typeface="Quicksand"/>
                <a:cs typeface="Quicksand"/>
                <a:sym typeface="Quicksand"/>
              </a:rPr>
              <a:t>o</a:t>
            </a:r>
            <a:r>
              <a:rPr lang="en-US" sz="2397" spc="21" strike="noStrike" u="none">
                <a:solidFill>
                  <a:srgbClr val="7B6861"/>
                </a:solidFill>
                <a:latin typeface="Quicksand"/>
                <a:ea typeface="Quicksand"/>
                <a:cs typeface="Quicksand"/>
                <a:sym typeface="Quicksand"/>
              </a:rPr>
              <a:t>mmu</a:t>
            </a:r>
            <a:r>
              <a:rPr lang="en-US" sz="2397" spc="21">
                <a:solidFill>
                  <a:srgbClr val="7B6861"/>
                </a:solidFill>
                <a:latin typeface="Quicksand"/>
                <a:ea typeface="Quicksand"/>
                <a:cs typeface="Quicksand"/>
                <a:sym typeface="Quicksand"/>
              </a:rPr>
              <a:t>nic</a:t>
            </a:r>
            <a:r>
              <a:rPr lang="en-US" sz="2397" spc="21" strike="noStrike" u="none">
                <a:solidFill>
                  <a:srgbClr val="7B6861"/>
                </a:solidFill>
                <a:latin typeface="Quicksand"/>
                <a:ea typeface="Quicksand"/>
                <a:cs typeface="Quicksand"/>
                <a:sym typeface="Quicksand"/>
              </a:rPr>
              <a:t>a</a:t>
            </a:r>
            <a:r>
              <a:rPr lang="en-US" sz="2397" spc="21">
                <a:solidFill>
                  <a:srgbClr val="7B6861"/>
                </a:solidFill>
                <a:latin typeface="Quicksand"/>
                <a:ea typeface="Quicksand"/>
                <a:cs typeface="Quicksand"/>
                <a:sym typeface="Quicksand"/>
              </a:rPr>
              <a:t>t</a:t>
            </a:r>
            <a:r>
              <a:rPr lang="en-US" sz="2397" spc="21" strike="noStrike" u="none">
                <a:solidFill>
                  <a:srgbClr val="7B6861"/>
                </a:solidFill>
                <a:latin typeface="Quicksand"/>
                <a:ea typeface="Quicksand"/>
                <a:cs typeface="Quicksand"/>
                <a:sym typeface="Quicksand"/>
              </a:rPr>
              <a:t>e</a:t>
            </a:r>
            <a:r>
              <a:rPr lang="en-US" sz="2397" spc="21">
                <a:solidFill>
                  <a:srgbClr val="7B6861"/>
                </a:solidFill>
                <a:latin typeface="Quicksand"/>
                <a:ea typeface="Quicksand"/>
                <a:cs typeface="Quicksand"/>
                <a:sym typeface="Quicksand"/>
              </a:rPr>
              <a:t> </a:t>
            </a:r>
            <a:r>
              <a:rPr lang="en-US" sz="2397" spc="21" strike="noStrike" u="none">
                <a:solidFill>
                  <a:srgbClr val="7B6861"/>
                </a:solidFill>
                <a:latin typeface="Quicksand"/>
                <a:ea typeface="Quicksand"/>
                <a:cs typeface="Quicksand"/>
                <a:sym typeface="Quicksand"/>
              </a:rPr>
              <a:t>w</a:t>
            </a:r>
            <a:r>
              <a:rPr lang="en-US" sz="2397" spc="21">
                <a:solidFill>
                  <a:srgbClr val="7B6861"/>
                </a:solidFill>
                <a:latin typeface="Quicksand"/>
                <a:ea typeface="Quicksand"/>
                <a:cs typeface="Quicksand"/>
                <a:sym typeface="Quicksand"/>
              </a:rPr>
              <a:t>e</a:t>
            </a:r>
            <a:r>
              <a:rPr lang="en-US" sz="2397" spc="21" strike="noStrike" u="none">
                <a:solidFill>
                  <a:srgbClr val="7B6861"/>
                </a:solidFill>
                <a:latin typeface="Quicksand"/>
                <a:ea typeface="Quicksand"/>
                <a:cs typeface="Quicksand"/>
                <a:sym typeface="Quicksand"/>
              </a:rPr>
              <a:t>ll</a:t>
            </a:r>
            <a:r>
              <a:rPr lang="en-US" sz="2397" spc="21">
                <a:solidFill>
                  <a:srgbClr val="7B6861"/>
                </a:solidFill>
                <a:latin typeface="Quicksand"/>
                <a:ea typeface="Quicksand"/>
                <a:cs typeface="Quicksand"/>
                <a:sym typeface="Quicksand"/>
              </a:rPr>
              <a:t> en</a:t>
            </a:r>
            <a:r>
              <a:rPr lang="en-US" sz="2397" spc="21" strike="noStrike" u="none">
                <a:solidFill>
                  <a:srgbClr val="7B6861"/>
                </a:solidFill>
                <a:latin typeface="Quicksand"/>
                <a:ea typeface="Quicksand"/>
                <a:cs typeface="Quicksand"/>
                <a:sym typeface="Quicksand"/>
              </a:rPr>
              <a:t>ou</a:t>
            </a:r>
            <a:r>
              <a:rPr lang="en-US" sz="2397" spc="21">
                <a:solidFill>
                  <a:srgbClr val="7B6861"/>
                </a:solidFill>
                <a:latin typeface="Quicksand"/>
                <a:ea typeface="Quicksand"/>
                <a:cs typeface="Quicksand"/>
                <a:sym typeface="Quicksand"/>
              </a:rPr>
              <a:t>g</a:t>
            </a:r>
            <a:r>
              <a:rPr lang="en-US" sz="2397" spc="21" strike="noStrike" u="none">
                <a:solidFill>
                  <a:srgbClr val="7B6861"/>
                </a:solidFill>
                <a:latin typeface="Quicksand"/>
                <a:ea typeface="Quicksand"/>
                <a:cs typeface="Quicksand"/>
                <a:sym typeface="Quicksand"/>
              </a:rPr>
              <a:t>h.</a:t>
            </a:r>
          </a:p>
          <a:p>
            <a:pPr algn="l" marL="517677" indent="-258839" lvl="1">
              <a:lnSpc>
                <a:spcPts val="3260"/>
              </a:lnSpc>
              <a:spcBef>
                <a:spcPct val="0"/>
              </a:spcBef>
              <a:buFont typeface="Arial"/>
              <a:buChar char="•"/>
            </a:pPr>
            <a:r>
              <a:rPr lang="en-US" sz="2397" spc="21">
                <a:solidFill>
                  <a:srgbClr val="7B6861"/>
                </a:solidFill>
                <a:latin typeface="Quicksand"/>
                <a:ea typeface="Quicksand"/>
                <a:cs typeface="Quicksand"/>
                <a:sym typeface="Quicksand"/>
              </a:rPr>
              <a:t>F</a:t>
            </a:r>
            <a:r>
              <a:rPr lang="en-US" sz="2397" spc="21" strike="noStrike" u="none">
                <a:solidFill>
                  <a:srgbClr val="7B6861"/>
                </a:solidFill>
                <a:latin typeface="Quicksand"/>
                <a:ea typeface="Quicksand"/>
                <a:cs typeface="Quicksand"/>
                <a:sym typeface="Quicksand"/>
              </a:rPr>
              <a:t>e</a:t>
            </a:r>
            <a:r>
              <a:rPr lang="en-US" sz="2397" spc="21">
                <a:solidFill>
                  <a:srgbClr val="7B6861"/>
                </a:solidFill>
                <a:latin typeface="Quicksand"/>
                <a:ea typeface="Quicksand"/>
                <a:cs typeface="Quicksand"/>
                <a:sym typeface="Quicksand"/>
              </a:rPr>
              <a:t>a</a:t>
            </a:r>
            <a:r>
              <a:rPr lang="en-US" sz="2397" spc="21" strike="noStrike" u="none">
                <a:solidFill>
                  <a:srgbClr val="7B6861"/>
                </a:solidFill>
                <a:latin typeface="Quicksand"/>
                <a:ea typeface="Quicksand"/>
                <a:cs typeface="Quicksand"/>
                <a:sym typeface="Quicksand"/>
              </a:rPr>
              <a:t>ture</a:t>
            </a:r>
            <a:r>
              <a:rPr lang="en-US" sz="2397" spc="21">
                <a:solidFill>
                  <a:srgbClr val="7B6861"/>
                </a:solidFill>
                <a:latin typeface="Quicksand"/>
                <a:ea typeface="Quicksand"/>
                <a:cs typeface="Quicksand"/>
                <a:sym typeface="Quicksand"/>
              </a:rPr>
              <a:t> </a:t>
            </a:r>
            <a:r>
              <a:rPr lang="en-US" sz="2397" spc="21" strike="noStrike" u="none">
                <a:solidFill>
                  <a:srgbClr val="7B6861"/>
                </a:solidFill>
                <a:latin typeface="Quicksand"/>
                <a:ea typeface="Quicksand"/>
                <a:cs typeface="Quicksand"/>
                <a:sym typeface="Quicksand"/>
              </a:rPr>
              <a:t>c</a:t>
            </a:r>
            <a:r>
              <a:rPr lang="en-US" sz="2397" spc="21">
                <a:solidFill>
                  <a:srgbClr val="7B6861"/>
                </a:solidFill>
                <a:latin typeface="Quicksand"/>
                <a:ea typeface="Quicksand"/>
                <a:cs typeface="Quicksand"/>
                <a:sym typeface="Quicksand"/>
              </a:rPr>
              <a:t>re</a:t>
            </a:r>
            <a:r>
              <a:rPr lang="en-US" sz="2397" spc="21" strike="noStrike" u="none">
                <a:solidFill>
                  <a:srgbClr val="7B6861"/>
                </a:solidFill>
                <a:latin typeface="Quicksand"/>
                <a:ea typeface="Quicksand"/>
                <a:cs typeface="Quicksand"/>
                <a:sym typeface="Quicksand"/>
              </a:rPr>
              <a:t>ep</a:t>
            </a:r>
          </a:p>
          <a:p>
            <a:pPr algn="l" marL="0" indent="0" lvl="0">
              <a:lnSpc>
                <a:spcPts val="3260"/>
              </a:lnSpc>
              <a:spcBef>
                <a:spcPct val="0"/>
              </a:spcBef>
            </a:pPr>
          </a:p>
        </p:txBody>
      </p:sp>
      <p:sp>
        <p:nvSpPr>
          <p:cNvPr name="TextBox 39" id="39"/>
          <p:cNvSpPr txBox="true"/>
          <p:nvPr/>
        </p:nvSpPr>
        <p:spPr>
          <a:xfrm rot="0">
            <a:off x="10036740" y="448372"/>
            <a:ext cx="7467853" cy="634763"/>
          </a:xfrm>
          <a:prstGeom prst="rect">
            <a:avLst/>
          </a:prstGeom>
        </p:spPr>
        <p:txBody>
          <a:bodyPr anchor="t" rtlCol="false" tIns="0" lIns="0" bIns="0" rIns="0">
            <a:spAutoFit/>
          </a:bodyPr>
          <a:lstStyle/>
          <a:p>
            <a:pPr algn="ctr">
              <a:lnSpc>
                <a:spcPts val="5236"/>
              </a:lnSpc>
            </a:pPr>
            <a:r>
              <a:rPr lang="en-US" b="true" sz="3740" spc="-78">
                <a:solidFill>
                  <a:srgbClr val="7B6861"/>
                </a:solidFill>
                <a:latin typeface="Quicksand Bold"/>
                <a:ea typeface="Quicksand Bold"/>
                <a:cs typeface="Quicksand Bold"/>
                <a:sym typeface="Quicksand Bold"/>
              </a:rPr>
              <a:t>Proposed Milestone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1357003" y="3764699"/>
            <a:ext cx="15573993" cy="1847088"/>
          </a:xfrm>
          <a:prstGeom prst="rect">
            <a:avLst/>
          </a:prstGeom>
        </p:spPr>
        <p:txBody>
          <a:bodyPr anchor="t" rtlCol="false" tIns="0" lIns="0" bIns="0" rIns="0">
            <a:spAutoFit/>
          </a:bodyPr>
          <a:lstStyle/>
          <a:p>
            <a:pPr algn="ctr">
              <a:lnSpc>
                <a:spcPts val="13535"/>
              </a:lnSpc>
            </a:pPr>
            <a:r>
              <a:rPr lang="en-US" sz="14400" spc="-719">
                <a:solidFill>
                  <a:srgbClr val="FFFFFF"/>
                </a:solidFill>
                <a:latin typeface="210 클레이토이"/>
                <a:ea typeface="210 클레이토이"/>
                <a:cs typeface="210 클레이토이"/>
                <a:sym typeface="210 클레이토이"/>
              </a:rPr>
              <a:t>SHOWCASE TIME</a:t>
            </a:r>
          </a:p>
        </p:txBody>
      </p:sp>
      <p:sp>
        <p:nvSpPr>
          <p:cNvPr name="Freeform 12" id="12"/>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0" id="20"/>
          <p:cNvSpPr txBox="true"/>
          <p:nvPr/>
        </p:nvSpPr>
        <p:spPr>
          <a:xfrm rot="0">
            <a:off x="3190539" y="5623141"/>
            <a:ext cx="11906922" cy="1242060"/>
          </a:xfrm>
          <a:prstGeom prst="rect">
            <a:avLst/>
          </a:prstGeom>
        </p:spPr>
        <p:txBody>
          <a:bodyPr anchor="t" rtlCol="false" tIns="0" lIns="0" bIns="0" rIns="0">
            <a:spAutoFit/>
          </a:bodyPr>
          <a:lstStyle/>
          <a:p>
            <a:pPr algn="ctr">
              <a:lnSpc>
                <a:spcPts val="5040"/>
              </a:lnSpc>
              <a:spcBef>
                <a:spcPct val="0"/>
              </a:spcBef>
            </a:pPr>
            <a:r>
              <a:rPr lang="en-US" sz="3600" spc="-179">
                <a:solidFill>
                  <a:srgbClr val="7B6861"/>
                </a:solidFill>
                <a:latin typeface="Quicksand"/>
                <a:ea typeface="Quicksand"/>
                <a:cs typeface="Quicksand"/>
                <a:sym typeface="Quicksand"/>
              </a:rPr>
              <a:t>Visit Here</a:t>
            </a:r>
            <a:r>
              <a:rPr lang="en-US" sz="3600" spc="-179">
                <a:solidFill>
                  <a:srgbClr val="7B6861"/>
                </a:solidFill>
                <a:latin typeface="Quicksand"/>
                <a:ea typeface="Quicksand"/>
                <a:cs typeface="Quicksand"/>
                <a:sym typeface="Quicksand"/>
              </a:rPr>
              <a:t>: </a:t>
            </a:r>
            <a:r>
              <a:rPr lang="en-US" sz="3600" spc="-179" u="sng">
                <a:solidFill>
                  <a:srgbClr val="7B6861"/>
                </a:solidFill>
                <a:latin typeface="Quicksand"/>
                <a:ea typeface="Quicksand"/>
                <a:cs typeface="Quicksand"/>
                <a:sym typeface="Quicksand"/>
                <a:hlinkClick r:id="rId16" tooltip="https://whongnaimor.vercel.app"/>
              </a:rPr>
              <a:t>https://whongnaimor.vercel.app/</a:t>
            </a:r>
          </a:p>
          <a:p>
            <a:pPr algn="ctr">
              <a:lnSpc>
                <a:spcPts val="5040"/>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1" id="11"/>
          <p:cNvSpPr/>
          <p:nvPr/>
        </p:nvSpPr>
        <p:spPr>
          <a:xfrm flipH="false" flipV="false" rot="0">
            <a:off x="15696961" y="-3744925"/>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3781020">
            <a:off x="-2781811" y="7840069"/>
            <a:ext cx="5976433" cy="6010352"/>
          </a:xfrm>
          <a:custGeom>
            <a:avLst/>
            <a:gdLst/>
            <a:ahLst/>
            <a:cxnLst/>
            <a:rect r="r" b="b" t="t" l="l"/>
            <a:pathLst>
              <a:path h="6010352" w="5976433">
                <a:moveTo>
                  <a:pt x="0" y="0"/>
                </a:moveTo>
                <a:lnTo>
                  <a:pt x="5976433" y="0"/>
                </a:lnTo>
                <a:lnTo>
                  <a:pt x="5976433" y="6010351"/>
                </a:lnTo>
                <a:lnTo>
                  <a:pt x="0" y="60103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631297">
            <a:off x="15558071" y="7752908"/>
            <a:ext cx="4416838" cy="3862726"/>
          </a:xfrm>
          <a:custGeom>
            <a:avLst/>
            <a:gdLst/>
            <a:ahLst/>
            <a:cxnLst/>
            <a:rect r="r" b="b" t="t" l="l"/>
            <a:pathLst>
              <a:path h="3862726" w="4416838">
                <a:moveTo>
                  <a:pt x="0" y="0"/>
                </a:moveTo>
                <a:lnTo>
                  <a:pt x="4416838" y="0"/>
                </a:lnTo>
                <a:lnTo>
                  <a:pt x="4416838" y="3862726"/>
                </a:lnTo>
                <a:lnTo>
                  <a:pt x="0" y="3862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1302171">
            <a:off x="5033140" y="-1475183"/>
            <a:ext cx="3696358" cy="2950366"/>
          </a:xfrm>
          <a:custGeom>
            <a:avLst/>
            <a:gdLst/>
            <a:ahLst/>
            <a:cxnLst/>
            <a:rect r="r" b="b" t="t" l="l"/>
            <a:pathLst>
              <a:path h="2950366" w="3696358">
                <a:moveTo>
                  <a:pt x="0" y="0"/>
                </a:moveTo>
                <a:lnTo>
                  <a:pt x="3696357" y="0"/>
                </a:lnTo>
                <a:lnTo>
                  <a:pt x="3696357" y="2950366"/>
                </a:lnTo>
                <a:lnTo>
                  <a:pt x="0" y="29503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4050776" y="-40350"/>
            <a:ext cx="14237224" cy="10327350"/>
          </a:xfrm>
          <a:custGeom>
            <a:avLst/>
            <a:gdLst/>
            <a:ahLst/>
            <a:cxnLst/>
            <a:rect r="r" b="b" t="t" l="l"/>
            <a:pathLst>
              <a:path h="10327350" w="14237224">
                <a:moveTo>
                  <a:pt x="0" y="0"/>
                </a:moveTo>
                <a:lnTo>
                  <a:pt x="14237224" y="0"/>
                </a:lnTo>
                <a:lnTo>
                  <a:pt x="14237224" y="10327350"/>
                </a:lnTo>
                <a:lnTo>
                  <a:pt x="0" y="10327350"/>
                </a:lnTo>
                <a:lnTo>
                  <a:pt x="0" y="0"/>
                </a:lnTo>
                <a:close/>
              </a:path>
            </a:pathLst>
          </a:custGeom>
          <a:blipFill>
            <a:blip r:embed="rId12"/>
            <a:stretch>
              <a:fillRect l="-24020" t="0" r="-23281" b="0"/>
            </a:stretch>
          </a:blipFill>
        </p:spPr>
      </p:sp>
      <p:sp>
        <p:nvSpPr>
          <p:cNvPr name="TextBox 18" id="18"/>
          <p:cNvSpPr txBox="true"/>
          <p:nvPr/>
        </p:nvSpPr>
        <p:spPr>
          <a:xfrm rot="0">
            <a:off x="0" y="1799866"/>
            <a:ext cx="4050776" cy="7296658"/>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UI</a:t>
            </a:r>
          </a:p>
          <a:p>
            <a:pPr algn="ctr">
              <a:lnSpc>
                <a:spcPts val="6015"/>
              </a:lnSpc>
            </a:pPr>
            <a:r>
              <a:rPr lang="en-US" sz="6399" spc="-319">
                <a:solidFill>
                  <a:srgbClr val="FFFFFF"/>
                </a:solidFill>
                <a:latin typeface="210 클레이토이"/>
                <a:ea typeface="210 클레이토이"/>
                <a:cs typeface="210 클레이토이"/>
                <a:sym typeface="210 클레이토이"/>
              </a:rPr>
              <a:t>EXAMPLE</a:t>
            </a:r>
          </a:p>
          <a:p>
            <a:pPr algn="ctr">
              <a:lnSpc>
                <a:spcPts val="6015"/>
              </a:lnSpc>
            </a:pPr>
          </a:p>
          <a:p>
            <a:pPr algn="ctr">
              <a:lnSpc>
                <a:spcPts val="11280"/>
              </a:lnSpc>
            </a:pPr>
            <a:r>
              <a:rPr lang="en-US" sz="12000" spc="-600">
                <a:solidFill>
                  <a:srgbClr val="FFFFFF"/>
                </a:solidFill>
                <a:latin typeface="210 클레이토이"/>
                <a:ea typeface="210 클레이토이"/>
                <a:cs typeface="210 클레이토이"/>
                <a:sym typeface="210 클레이토이"/>
              </a:rPr>
              <a:t>&amp;</a:t>
            </a:r>
          </a:p>
          <a:p>
            <a:pPr algn="ctr">
              <a:lnSpc>
                <a:spcPts val="6015"/>
              </a:lnSpc>
            </a:pPr>
          </a:p>
          <a:p>
            <a:pPr algn="ctr">
              <a:lnSpc>
                <a:spcPts val="8271"/>
              </a:lnSpc>
            </a:pPr>
            <a:r>
              <a:rPr lang="en-US" sz="8799" spc="-439">
                <a:solidFill>
                  <a:srgbClr val="FFFFFF"/>
                </a:solidFill>
                <a:latin typeface="210 클레이토이"/>
                <a:ea typeface="210 클레이토이"/>
                <a:cs typeface="210 클레이토이"/>
                <a:sym typeface="210 클레이토이"/>
              </a:rPr>
              <a:t>DEMO TIME</a:t>
            </a:r>
          </a:p>
        </p:txBody>
      </p:sp>
      <p:sp>
        <p:nvSpPr>
          <p:cNvPr name="TextBox 19" id="19"/>
          <p:cNvSpPr txBox="true"/>
          <p:nvPr/>
        </p:nvSpPr>
        <p:spPr>
          <a:xfrm rot="0">
            <a:off x="14237224" y="8747760"/>
            <a:ext cx="4050776" cy="1539240"/>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FEED</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sp>
        <p:nvSpPr>
          <p:cNvPr name="TextBox 2" id="2"/>
          <p:cNvSpPr txBox="true"/>
          <p:nvPr/>
        </p:nvSpPr>
        <p:spPr>
          <a:xfrm rot="0">
            <a:off x="0" y="1799866"/>
            <a:ext cx="4050776" cy="7296658"/>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UI</a:t>
            </a:r>
          </a:p>
          <a:p>
            <a:pPr algn="ctr">
              <a:lnSpc>
                <a:spcPts val="6015"/>
              </a:lnSpc>
            </a:pPr>
            <a:r>
              <a:rPr lang="en-US" sz="6399" spc="-319">
                <a:solidFill>
                  <a:srgbClr val="FFFFFF"/>
                </a:solidFill>
                <a:latin typeface="210 클레이토이"/>
                <a:ea typeface="210 클레이토이"/>
                <a:cs typeface="210 클레이토이"/>
                <a:sym typeface="210 클레이토이"/>
              </a:rPr>
              <a:t>EXAMPLE</a:t>
            </a:r>
          </a:p>
          <a:p>
            <a:pPr algn="ctr">
              <a:lnSpc>
                <a:spcPts val="6015"/>
              </a:lnSpc>
            </a:pPr>
          </a:p>
          <a:p>
            <a:pPr algn="ctr">
              <a:lnSpc>
                <a:spcPts val="11280"/>
              </a:lnSpc>
            </a:pPr>
            <a:r>
              <a:rPr lang="en-US" sz="12000" spc="-600">
                <a:solidFill>
                  <a:srgbClr val="FFFFFF"/>
                </a:solidFill>
                <a:latin typeface="210 클레이토이"/>
                <a:ea typeface="210 클레이토이"/>
                <a:cs typeface="210 클레이토이"/>
                <a:sym typeface="210 클레이토이"/>
              </a:rPr>
              <a:t>&amp;</a:t>
            </a:r>
          </a:p>
          <a:p>
            <a:pPr algn="ctr">
              <a:lnSpc>
                <a:spcPts val="6015"/>
              </a:lnSpc>
            </a:pPr>
          </a:p>
          <a:p>
            <a:pPr algn="ctr">
              <a:lnSpc>
                <a:spcPts val="8271"/>
              </a:lnSpc>
            </a:pPr>
            <a:r>
              <a:rPr lang="en-US" sz="8799" spc="-439">
                <a:solidFill>
                  <a:srgbClr val="FFFFFF"/>
                </a:solidFill>
                <a:latin typeface="210 클레이토이"/>
                <a:ea typeface="210 클레이토이"/>
                <a:cs typeface="210 클레이토이"/>
                <a:sym typeface="210 클레이토이"/>
              </a:rPr>
              <a:t>DEMO TIME</a:t>
            </a:r>
          </a:p>
        </p:txBody>
      </p:sp>
      <p:grpSp>
        <p:nvGrpSpPr>
          <p:cNvPr name="Group 3" id="3"/>
          <p:cNvGrpSpPr/>
          <p:nvPr/>
        </p:nvGrpSpPr>
        <p:grpSpPr>
          <a:xfrm rot="0">
            <a:off x="-1135979" y="0"/>
            <a:ext cx="20559958" cy="10281313"/>
            <a:chOff x="0" y="0"/>
            <a:chExt cx="27413277" cy="13708418"/>
          </a:xfrm>
        </p:grpSpPr>
        <p:sp>
          <p:nvSpPr>
            <p:cNvPr name="Freeform 4" id="4"/>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2" id="12"/>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3928359" y="-44777"/>
            <a:ext cx="14359641" cy="10700195"/>
          </a:xfrm>
          <a:custGeom>
            <a:avLst/>
            <a:gdLst/>
            <a:ahLst/>
            <a:cxnLst/>
            <a:rect r="r" b="b" t="t" l="l"/>
            <a:pathLst>
              <a:path h="10700195" w="14359641">
                <a:moveTo>
                  <a:pt x="0" y="0"/>
                </a:moveTo>
                <a:lnTo>
                  <a:pt x="14359641" y="0"/>
                </a:lnTo>
                <a:lnTo>
                  <a:pt x="14359641" y="10700195"/>
                </a:lnTo>
                <a:lnTo>
                  <a:pt x="0" y="10700195"/>
                </a:lnTo>
                <a:lnTo>
                  <a:pt x="0" y="0"/>
                </a:lnTo>
                <a:close/>
              </a:path>
            </a:pathLst>
          </a:custGeom>
          <a:blipFill>
            <a:blip r:embed="rId6"/>
            <a:stretch>
              <a:fillRect l="-24628" t="0" r="-26672" b="0"/>
            </a:stretch>
          </a:blipFill>
        </p:spPr>
      </p:sp>
      <p:sp>
        <p:nvSpPr>
          <p:cNvPr name="TextBox 14" id="14"/>
          <p:cNvSpPr txBox="true"/>
          <p:nvPr/>
        </p:nvSpPr>
        <p:spPr>
          <a:xfrm rot="0">
            <a:off x="12921443" y="7709055"/>
            <a:ext cx="5815119" cy="2572259"/>
          </a:xfrm>
          <a:prstGeom prst="rect">
            <a:avLst/>
          </a:prstGeom>
        </p:spPr>
        <p:txBody>
          <a:bodyPr anchor="t" rtlCol="false" tIns="0" lIns="0" bIns="0" rIns="0">
            <a:spAutoFit/>
          </a:bodyPr>
          <a:lstStyle/>
          <a:p>
            <a:pPr algn="ctr">
              <a:lnSpc>
                <a:spcPts val="9776"/>
              </a:lnSpc>
            </a:pPr>
            <a:r>
              <a:rPr lang="en-US" sz="10400" spc="-520">
                <a:solidFill>
                  <a:srgbClr val="FFFFFF"/>
                </a:solidFill>
                <a:latin typeface="210 클레이토이"/>
                <a:ea typeface="210 클레이토이"/>
                <a:cs typeface="210 클레이토이"/>
                <a:sym typeface="210 클레이토이"/>
              </a:rPr>
              <a:t>CREATE POST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sp>
        <p:nvSpPr>
          <p:cNvPr name="TextBox 2" id="2"/>
          <p:cNvSpPr txBox="true"/>
          <p:nvPr/>
        </p:nvSpPr>
        <p:spPr>
          <a:xfrm rot="0">
            <a:off x="0" y="1799866"/>
            <a:ext cx="4050776" cy="7296658"/>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UI</a:t>
            </a:r>
          </a:p>
          <a:p>
            <a:pPr algn="ctr">
              <a:lnSpc>
                <a:spcPts val="6015"/>
              </a:lnSpc>
            </a:pPr>
            <a:r>
              <a:rPr lang="en-US" sz="6399" spc="-319">
                <a:solidFill>
                  <a:srgbClr val="FFFFFF"/>
                </a:solidFill>
                <a:latin typeface="210 클레이토이"/>
                <a:ea typeface="210 클레이토이"/>
                <a:cs typeface="210 클레이토이"/>
                <a:sym typeface="210 클레이토이"/>
              </a:rPr>
              <a:t>EXAMPLE</a:t>
            </a:r>
          </a:p>
          <a:p>
            <a:pPr algn="ctr">
              <a:lnSpc>
                <a:spcPts val="6015"/>
              </a:lnSpc>
            </a:pPr>
          </a:p>
          <a:p>
            <a:pPr algn="ctr">
              <a:lnSpc>
                <a:spcPts val="11280"/>
              </a:lnSpc>
            </a:pPr>
            <a:r>
              <a:rPr lang="en-US" sz="12000" spc="-600">
                <a:solidFill>
                  <a:srgbClr val="FFFFFF"/>
                </a:solidFill>
                <a:latin typeface="210 클레이토이"/>
                <a:ea typeface="210 클레이토이"/>
                <a:cs typeface="210 클레이토이"/>
                <a:sym typeface="210 클레이토이"/>
              </a:rPr>
              <a:t>&amp;</a:t>
            </a:r>
          </a:p>
          <a:p>
            <a:pPr algn="ctr">
              <a:lnSpc>
                <a:spcPts val="6015"/>
              </a:lnSpc>
            </a:pPr>
          </a:p>
          <a:p>
            <a:pPr algn="ctr">
              <a:lnSpc>
                <a:spcPts val="8271"/>
              </a:lnSpc>
            </a:pPr>
            <a:r>
              <a:rPr lang="en-US" sz="8799" spc="-439">
                <a:solidFill>
                  <a:srgbClr val="FFFFFF"/>
                </a:solidFill>
                <a:latin typeface="210 클레이토이"/>
                <a:ea typeface="210 클레이토이"/>
                <a:cs typeface="210 클레이토이"/>
                <a:sym typeface="210 클레이토이"/>
              </a:rPr>
              <a:t>DEMO TIME</a:t>
            </a:r>
          </a:p>
        </p:txBody>
      </p:sp>
      <p:grpSp>
        <p:nvGrpSpPr>
          <p:cNvPr name="Group 3" id="3"/>
          <p:cNvGrpSpPr/>
          <p:nvPr/>
        </p:nvGrpSpPr>
        <p:grpSpPr>
          <a:xfrm rot="0">
            <a:off x="-1135979" y="0"/>
            <a:ext cx="20559958" cy="10281313"/>
            <a:chOff x="0" y="0"/>
            <a:chExt cx="27413277" cy="13708418"/>
          </a:xfrm>
        </p:grpSpPr>
        <p:sp>
          <p:nvSpPr>
            <p:cNvPr name="Freeform 4" id="4"/>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2" id="12"/>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3858394" y="-40350"/>
            <a:ext cx="14429606" cy="10327350"/>
          </a:xfrm>
          <a:custGeom>
            <a:avLst/>
            <a:gdLst/>
            <a:ahLst/>
            <a:cxnLst/>
            <a:rect r="r" b="b" t="t" l="l"/>
            <a:pathLst>
              <a:path h="10327350" w="14429606">
                <a:moveTo>
                  <a:pt x="0" y="0"/>
                </a:moveTo>
                <a:lnTo>
                  <a:pt x="14429606" y="0"/>
                </a:lnTo>
                <a:lnTo>
                  <a:pt x="14429606" y="10327350"/>
                </a:lnTo>
                <a:lnTo>
                  <a:pt x="0" y="10327350"/>
                </a:lnTo>
                <a:lnTo>
                  <a:pt x="0" y="0"/>
                </a:lnTo>
                <a:close/>
              </a:path>
            </a:pathLst>
          </a:custGeom>
          <a:blipFill>
            <a:blip r:embed="rId6"/>
            <a:stretch>
              <a:fillRect l="-21586" t="0" r="-23183" b="0"/>
            </a:stretch>
          </a:blipFill>
        </p:spPr>
      </p:sp>
      <p:sp>
        <p:nvSpPr>
          <p:cNvPr name="TextBox 14" id="14"/>
          <p:cNvSpPr txBox="true"/>
          <p:nvPr/>
        </p:nvSpPr>
        <p:spPr>
          <a:xfrm rot="0">
            <a:off x="14983368" y="8947305"/>
            <a:ext cx="3050447" cy="1334009"/>
          </a:xfrm>
          <a:prstGeom prst="rect">
            <a:avLst/>
          </a:prstGeom>
        </p:spPr>
        <p:txBody>
          <a:bodyPr anchor="t" rtlCol="false" tIns="0" lIns="0" bIns="0" rIns="0">
            <a:spAutoFit/>
          </a:bodyPr>
          <a:lstStyle/>
          <a:p>
            <a:pPr algn="ctr">
              <a:lnSpc>
                <a:spcPts val="9776"/>
              </a:lnSpc>
            </a:pPr>
            <a:r>
              <a:rPr lang="en-US" sz="10400" spc="-520">
                <a:solidFill>
                  <a:srgbClr val="FFFFFF"/>
                </a:solidFill>
                <a:latin typeface="210 클레이토이"/>
                <a:ea typeface="210 클레이토이"/>
                <a:cs typeface="210 클레이토이"/>
                <a:sym typeface="210 클레이토이"/>
              </a:rPr>
              <a:t> POST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sp>
        <p:nvSpPr>
          <p:cNvPr name="TextBox 2" id="2"/>
          <p:cNvSpPr txBox="true"/>
          <p:nvPr/>
        </p:nvSpPr>
        <p:spPr>
          <a:xfrm rot="0">
            <a:off x="0" y="1799866"/>
            <a:ext cx="4050776" cy="7296658"/>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UI</a:t>
            </a:r>
          </a:p>
          <a:p>
            <a:pPr algn="ctr">
              <a:lnSpc>
                <a:spcPts val="6015"/>
              </a:lnSpc>
            </a:pPr>
            <a:r>
              <a:rPr lang="en-US" sz="6399" spc="-319">
                <a:solidFill>
                  <a:srgbClr val="FFFFFF"/>
                </a:solidFill>
                <a:latin typeface="210 클레이토이"/>
                <a:ea typeface="210 클레이토이"/>
                <a:cs typeface="210 클레이토이"/>
                <a:sym typeface="210 클레이토이"/>
              </a:rPr>
              <a:t>EXAMPLE</a:t>
            </a:r>
          </a:p>
          <a:p>
            <a:pPr algn="ctr">
              <a:lnSpc>
                <a:spcPts val="6015"/>
              </a:lnSpc>
            </a:pPr>
          </a:p>
          <a:p>
            <a:pPr algn="ctr">
              <a:lnSpc>
                <a:spcPts val="11280"/>
              </a:lnSpc>
            </a:pPr>
            <a:r>
              <a:rPr lang="en-US" sz="12000" spc="-600">
                <a:solidFill>
                  <a:srgbClr val="FFFFFF"/>
                </a:solidFill>
                <a:latin typeface="210 클레이토이"/>
                <a:ea typeface="210 클레이토이"/>
                <a:cs typeface="210 클레이토이"/>
                <a:sym typeface="210 클레이토이"/>
              </a:rPr>
              <a:t>&amp;</a:t>
            </a:r>
          </a:p>
          <a:p>
            <a:pPr algn="ctr">
              <a:lnSpc>
                <a:spcPts val="6015"/>
              </a:lnSpc>
            </a:pPr>
          </a:p>
          <a:p>
            <a:pPr algn="ctr">
              <a:lnSpc>
                <a:spcPts val="8271"/>
              </a:lnSpc>
            </a:pPr>
            <a:r>
              <a:rPr lang="en-US" sz="8799" spc="-439">
                <a:solidFill>
                  <a:srgbClr val="FFFFFF"/>
                </a:solidFill>
                <a:latin typeface="210 클레이토이"/>
                <a:ea typeface="210 클레이토이"/>
                <a:cs typeface="210 클레이토이"/>
                <a:sym typeface="210 클레이토이"/>
              </a:rPr>
              <a:t>DEMO TIME</a:t>
            </a:r>
          </a:p>
        </p:txBody>
      </p:sp>
      <p:grpSp>
        <p:nvGrpSpPr>
          <p:cNvPr name="Group 3" id="3"/>
          <p:cNvGrpSpPr/>
          <p:nvPr/>
        </p:nvGrpSpPr>
        <p:grpSpPr>
          <a:xfrm rot="0">
            <a:off x="-1135979" y="0"/>
            <a:ext cx="20559958" cy="10281313"/>
            <a:chOff x="0" y="0"/>
            <a:chExt cx="27413277" cy="13708418"/>
          </a:xfrm>
        </p:grpSpPr>
        <p:sp>
          <p:nvSpPr>
            <p:cNvPr name="Freeform 4" id="4"/>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2" id="12"/>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3953239" y="-137846"/>
            <a:ext cx="14965727" cy="10886333"/>
          </a:xfrm>
          <a:custGeom>
            <a:avLst/>
            <a:gdLst/>
            <a:ahLst/>
            <a:cxnLst/>
            <a:rect r="r" b="b" t="t" l="l"/>
            <a:pathLst>
              <a:path h="10886333" w="14965727">
                <a:moveTo>
                  <a:pt x="0" y="0"/>
                </a:moveTo>
                <a:lnTo>
                  <a:pt x="14965727" y="0"/>
                </a:lnTo>
                <a:lnTo>
                  <a:pt x="14965727" y="10886333"/>
                </a:lnTo>
                <a:lnTo>
                  <a:pt x="0" y="10886333"/>
                </a:lnTo>
                <a:lnTo>
                  <a:pt x="0" y="0"/>
                </a:lnTo>
                <a:close/>
              </a:path>
            </a:pathLst>
          </a:custGeom>
          <a:blipFill>
            <a:blip r:embed="rId6"/>
            <a:stretch>
              <a:fillRect l="-25925" t="0" r="-21773" b="0"/>
            </a:stretch>
          </a:blipFill>
        </p:spPr>
      </p:sp>
      <p:sp>
        <p:nvSpPr>
          <p:cNvPr name="TextBox 14" id="14"/>
          <p:cNvSpPr txBox="true"/>
          <p:nvPr/>
        </p:nvSpPr>
        <p:spPr>
          <a:xfrm rot="0">
            <a:off x="4050776" y="9304860"/>
            <a:ext cx="7113550" cy="976454"/>
          </a:xfrm>
          <a:prstGeom prst="rect">
            <a:avLst/>
          </a:prstGeom>
        </p:spPr>
        <p:txBody>
          <a:bodyPr anchor="t" rtlCol="false" tIns="0" lIns="0" bIns="0" rIns="0">
            <a:spAutoFit/>
          </a:bodyPr>
          <a:lstStyle/>
          <a:p>
            <a:pPr algn="ctr">
              <a:lnSpc>
                <a:spcPts val="7036"/>
              </a:lnSpc>
            </a:pPr>
            <a:r>
              <a:rPr lang="en-US" sz="7485" spc="-374">
                <a:solidFill>
                  <a:srgbClr val="FFFFFF"/>
                </a:solidFill>
                <a:latin typeface="210 클레이토이"/>
                <a:ea typeface="210 클레이토이"/>
                <a:cs typeface="210 클레이토이"/>
                <a:sym typeface="210 클레이토이"/>
              </a:rPr>
              <a:t>MOD DASHBOARD</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9EB6B6"/>
        </a:solidFill>
      </p:bgPr>
    </p:bg>
    <p:spTree>
      <p:nvGrpSpPr>
        <p:cNvPr id="1" name=""/>
        <p:cNvGrpSpPr/>
        <p:nvPr/>
      </p:nvGrpSpPr>
      <p:grpSpPr>
        <a:xfrm>
          <a:off x="0" y="0"/>
          <a:ext cx="0" cy="0"/>
          <a:chOff x="0" y="0"/>
          <a:chExt cx="0" cy="0"/>
        </a:xfrm>
      </p:grpSpPr>
      <p:sp>
        <p:nvSpPr>
          <p:cNvPr name="TextBox 2" id="2"/>
          <p:cNvSpPr txBox="true"/>
          <p:nvPr/>
        </p:nvSpPr>
        <p:spPr>
          <a:xfrm rot="0">
            <a:off x="0" y="1799866"/>
            <a:ext cx="4050776" cy="7296658"/>
          </a:xfrm>
          <a:prstGeom prst="rect">
            <a:avLst/>
          </a:prstGeom>
        </p:spPr>
        <p:txBody>
          <a:bodyPr anchor="t" rtlCol="false" tIns="0" lIns="0" bIns="0" rIns="0">
            <a:spAutoFit/>
          </a:bodyPr>
          <a:lstStyle/>
          <a:p>
            <a:pPr algn="ctr">
              <a:lnSpc>
                <a:spcPts val="11280"/>
              </a:lnSpc>
            </a:pPr>
            <a:r>
              <a:rPr lang="en-US" sz="12000" spc="-600">
                <a:solidFill>
                  <a:srgbClr val="FFFFFF"/>
                </a:solidFill>
                <a:latin typeface="210 클레이토이"/>
                <a:ea typeface="210 클레이토이"/>
                <a:cs typeface="210 클레이토이"/>
                <a:sym typeface="210 클레이토이"/>
              </a:rPr>
              <a:t>UI</a:t>
            </a:r>
          </a:p>
          <a:p>
            <a:pPr algn="ctr">
              <a:lnSpc>
                <a:spcPts val="6015"/>
              </a:lnSpc>
            </a:pPr>
            <a:r>
              <a:rPr lang="en-US" sz="6399" spc="-319">
                <a:solidFill>
                  <a:srgbClr val="FFFFFF"/>
                </a:solidFill>
                <a:latin typeface="210 클레이토이"/>
                <a:ea typeface="210 클레이토이"/>
                <a:cs typeface="210 클레이토이"/>
                <a:sym typeface="210 클레이토이"/>
              </a:rPr>
              <a:t>EXAMPLE</a:t>
            </a:r>
          </a:p>
          <a:p>
            <a:pPr algn="ctr">
              <a:lnSpc>
                <a:spcPts val="6015"/>
              </a:lnSpc>
            </a:pPr>
          </a:p>
          <a:p>
            <a:pPr algn="ctr">
              <a:lnSpc>
                <a:spcPts val="11280"/>
              </a:lnSpc>
            </a:pPr>
            <a:r>
              <a:rPr lang="en-US" sz="12000" spc="-600">
                <a:solidFill>
                  <a:srgbClr val="FFFFFF"/>
                </a:solidFill>
                <a:latin typeface="210 클레이토이"/>
                <a:ea typeface="210 클레이토이"/>
                <a:cs typeface="210 클레이토이"/>
                <a:sym typeface="210 클레이토이"/>
              </a:rPr>
              <a:t>&amp;</a:t>
            </a:r>
          </a:p>
          <a:p>
            <a:pPr algn="ctr">
              <a:lnSpc>
                <a:spcPts val="6015"/>
              </a:lnSpc>
            </a:pPr>
          </a:p>
          <a:p>
            <a:pPr algn="ctr">
              <a:lnSpc>
                <a:spcPts val="8271"/>
              </a:lnSpc>
            </a:pPr>
            <a:r>
              <a:rPr lang="en-US" sz="8799" spc="-439">
                <a:solidFill>
                  <a:srgbClr val="FFFFFF"/>
                </a:solidFill>
                <a:latin typeface="210 클레이토이"/>
                <a:ea typeface="210 클레이토이"/>
                <a:cs typeface="210 클레이토이"/>
                <a:sym typeface="210 클레이토이"/>
              </a:rPr>
              <a:t>DEMO TIME</a:t>
            </a:r>
          </a:p>
        </p:txBody>
      </p:sp>
      <p:grpSp>
        <p:nvGrpSpPr>
          <p:cNvPr name="Group 3" id="3"/>
          <p:cNvGrpSpPr/>
          <p:nvPr/>
        </p:nvGrpSpPr>
        <p:grpSpPr>
          <a:xfrm rot="0">
            <a:off x="-1135979" y="0"/>
            <a:ext cx="20559958" cy="10281313"/>
            <a:chOff x="0" y="0"/>
            <a:chExt cx="27413277" cy="13708418"/>
          </a:xfrm>
        </p:grpSpPr>
        <p:sp>
          <p:nvSpPr>
            <p:cNvPr name="Freeform 4" id="4"/>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Freeform 12" id="12"/>
          <p:cNvSpPr/>
          <p:nvPr/>
        </p:nvSpPr>
        <p:spPr>
          <a:xfrm flipH="false" flipV="false" rot="3107383">
            <a:off x="-1604021" y="-2270324"/>
            <a:ext cx="4241006" cy="4459949"/>
          </a:xfrm>
          <a:custGeom>
            <a:avLst/>
            <a:gdLst/>
            <a:ahLst/>
            <a:cxnLst/>
            <a:rect r="r" b="b" t="t" l="l"/>
            <a:pathLst>
              <a:path h="4459949" w="4241006">
                <a:moveTo>
                  <a:pt x="0" y="0"/>
                </a:moveTo>
                <a:lnTo>
                  <a:pt x="4241005" y="0"/>
                </a:lnTo>
                <a:lnTo>
                  <a:pt x="4241005" y="4459948"/>
                </a:lnTo>
                <a:lnTo>
                  <a:pt x="0" y="44599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4050776" y="-138891"/>
            <a:ext cx="15762580" cy="10559095"/>
          </a:xfrm>
          <a:custGeom>
            <a:avLst/>
            <a:gdLst/>
            <a:ahLst/>
            <a:cxnLst/>
            <a:rect r="r" b="b" t="t" l="l"/>
            <a:pathLst>
              <a:path h="10559095" w="15762580">
                <a:moveTo>
                  <a:pt x="0" y="0"/>
                </a:moveTo>
                <a:lnTo>
                  <a:pt x="15762580" y="0"/>
                </a:lnTo>
                <a:lnTo>
                  <a:pt x="15762580" y="10559095"/>
                </a:lnTo>
                <a:lnTo>
                  <a:pt x="0" y="10559095"/>
                </a:lnTo>
                <a:lnTo>
                  <a:pt x="0" y="0"/>
                </a:lnTo>
                <a:close/>
              </a:path>
            </a:pathLst>
          </a:custGeom>
          <a:blipFill>
            <a:blip r:embed="rId6"/>
            <a:stretch>
              <a:fillRect l="-15042" t="0" r="-20801" b="0"/>
            </a:stretch>
          </a:blipFill>
        </p:spPr>
      </p:sp>
      <p:sp>
        <p:nvSpPr>
          <p:cNvPr name="TextBox 14" id="14"/>
          <p:cNvSpPr txBox="true"/>
          <p:nvPr/>
        </p:nvSpPr>
        <p:spPr>
          <a:xfrm rot="0">
            <a:off x="15563859" y="9310546"/>
            <a:ext cx="2448509" cy="976454"/>
          </a:xfrm>
          <a:prstGeom prst="rect">
            <a:avLst/>
          </a:prstGeom>
        </p:spPr>
        <p:txBody>
          <a:bodyPr anchor="t" rtlCol="false" tIns="0" lIns="0" bIns="0" rIns="0">
            <a:spAutoFit/>
          </a:bodyPr>
          <a:lstStyle/>
          <a:p>
            <a:pPr algn="ctr">
              <a:lnSpc>
                <a:spcPts val="7036"/>
              </a:lnSpc>
            </a:pPr>
            <a:r>
              <a:rPr lang="en-US" sz="7485" spc="-374">
                <a:solidFill>
                  <a:srgbClr val="FFFFFF"/>
                </a:solidFill>
                <a:latin typeface="210 클레이토이"/>
                <a:ea typeface="210 클레이토이"/>
                <a:cs typeface="210 클레이토이"/>
                <a:sym typeface="210 클레이토이"/>
              </a:rPr>
              <a:t>LOGIN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BF4F3"/>
        </a:solidFill>
      </p:bgPr>
    </p:bg>
    <p:spTree>
      <p:nvGrpSpPr>
        <p:cNvPr id="1" name=""/>
        <p:cNvGrpSpPr/>
        <p:nvPr/>
      </p:nvGrpSpPr>
      <p:grpSpPr>
        <a:xfrm>
          <a:off x="0" y="0"/>
          <a:ext cx="0" cy="0"/>
          <a:chOff x="0" y="0"/>
          <a:chExt cx="0" cy="0"/>
        </a:xfrm>
      </p:grpSpPr>
      <p:grpSp>
        <p:nvGrpSpPr>
          <p:cNvPr name="Group 2" id="2"/>
          <p:cNvGrpSpPr/>
          <p:nvPr/>
        </p:nvGrpSpPr>
        <p:grpSpPr>
          <a:xfrm rot="0">
            <a:off x="-1135979" y="0"/>
            <a:ext cx="20559958" cy="10281313"/>
            <a:chOff x="0" y="0"/>
            <a:chExt cx="27413277" cy="13708418"/>
          </a:xfrm>
        </p:grpSpPr>
        <p:sp>
          <p:nvSpPr>
            <p:cNvPr name="Freeform 3" id="3"/>
            <p:cNvSpPr/>
            <p:nvPr/>
          </p:nvSpPr>
          <p:spPr>
            <a:xfrm flipH="false" flipV="false" rot="0">
              <a:off x="0"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702541"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6852736"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0555277" y="0"/>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0"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8" id="8"/>
            <p:cNvSpPr/>
            <p:nvPr/>
          </p:nvSpPr>
          <p:spPr>
            <a:xfrm flipH="false" flipV="false" rot="0">
              <a:off x="13702541"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6852736"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20555277" y="6850418"/>
              <a:ext cx="6858000" cy="6858000"/>
            </a:xfrm>
            <a:custGeom>
              <a:avLst/>
              <a:gdLst/>
              <a:ahLst/>
              <a:cxnLst/>
              <a:rect r="r" b="b" t="t" l="l"/>
              <a:pathLst>
                <a:path h="6858000" w="6858000">
                  <a:moveTo>
                    <a:pt x="0" y="0"/>
                  </a:moveTo>
                  <a:lnTo>
                    <a:pt x="6858000" y="0"/>
                  </a:lnTo>
                  <a:lnTo>
                    <a:pt x="6858000" y="6858000"/>
                  </a:lnTo>
                  <a:lnTo>
                    <a:pt x="0" y="6858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sp>
        <p:nvSpPr>
          <p:cNvPr name="TextBox 11" id="11"/>
          <p:cNvSpPr txBox="true"/>
          <p:nvPr/>
        </p:nvSpPr>
        <p:spPr>
          <a:xfrm rot="0">
            <a:off x="1357003" y="3764699"/>
            <a:ext cx="15573993" cy="1847088"/>
          </a:xfrm>
          <a:prstGeom prst="rect">
            <a:avLst/>
          </a:prstGeom>
        </p:spPr>
        <p:txBody>
          <a:bodyPr anchor="t" rtlCol="false" tIns="0" lIns="0" bIns="0" rIns="0">
            <a:spAutoFit/>
          </a:bodyPr>
          <a:lstStyle/>
          <a:p>
            <a:pPr algn="ctr">
              <a:lnSpc>
                <a:spcPts val="13535"/>
              </a:lnSpc>
            </a:pPr>
            <a:r>
              <a:rPr lang="en-US" sz="14400" spc="-719">
                <a:solidFill>
                  <a:srgbClr val="FFFFFF"/>
                </a:solidFill>
                <a:latin typeface="210 클레이토이"/>
                <a:ea typeface="210 클레이토이"/>
                <a:cs typeface="210 클레이토이"/>
                <a:sym typeface="210 클레이토이"/>
              </a:rPr>
              <a:t>THANK YOU!</a:t>
            </a:r>
          </a:p>
        </p:txBody>
      </p:sp>
      <p:sp>
        <p:nvSpPr>
          <p:cNvPr name="Freeform 12" id="12"/>
          <p:cNvSpPr/>
          <p:nvPr/>
        </p:nvSpPr>
        <p:spPr>
          <a:xfrm flipH="false" flipV="false" rot="0">
            <a:off x="15054705" y="-3005176"/>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3781020">
            <a:off x="-2088296" y="6989497"/>
            <a:ext cx="5976433" cy="6010352"/>
          </a:xfrm>
          <a:custGeom>
            <a:avLst/>
            <a:gdLst/>
            <a:ahLst/>
            <a:cxnLst/>
            <a:rect r="r" b="b" t="t" l="l"/>
            <a:pathLst>
              <a:path h="6010352" w="5976433">
                <a:moveTo>
                  <a:pt x="0" y="0"/>
                </a:moveTo>
                <a:lnTo>
                  <a:pt x="5976433" y="0"/>
                </a:lnTo>
                <a:lnTo>
                  <a:pt x="5976433" y="6010352"/>
                </a:lnTo>
                <a:lnTo>
                  <a:pt x="0" y="6010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3988127">
            <a:off x="-510612" y="6528886"/>
            <a:ext cx="4204700" cy="4438743"/>
          </a:xfrm>
          <a:custGeom>
            <a:avLst/>
            <a:gdLst/>
            <a:ahLst/>
            <a:cxnLst/>
            <a:rect r="r" b="b" t="t" l="l"/>
            <a:pathLst>
              <a:path h="4438743" w="4204700">
                <a:moveTo>
                  <a:pt x="0" y="4438744"/>
                </a:moveTo>
                <a:lnTo>
                  <a:pt x="4204700" y="4438744"/>
                </a:lnTo>
                <a:lnTo>
                  <a:pt x="4204700" y="0"/>
                </a:lnTo>
                <a:lnTo>
                  <a:pt x="0" y="0"/>
                </a:lnTo>
                <a:lnTo>
                  <a:pt x="0" y="44387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631297">
            <a:off x="15003259" y="6920690"/>
            <a:ext cx="4416838" cy="3862726"/>
          </a:xfrm>
          <a:custGeom>
            <a:avLst/>
            <a:gdLst/>
            <a:ahLst/>
            <a:cxnLst/>
            <a:rect r="r" b="b" t="t" l="l"/>
            <a:pathLst>
              <a:path h="3862726" w="4416838">
                <a:moveTo>
                  <a:pt x="0" y="0"/>
                </a:moveTo>
                <a:lnTo>
                  <a:pt x="4416838" y="0"/>
                </a:lnTo>
                <a:lnTo>
                  <a:pt x="4416838" y="3862725"/>
                </a:lnTo>
                <a:lnTo>
                  <a:pt x="0" y="3862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84346">
            <a:off x="14375501" y="-185488"/>
            <a:ext cx="4149033" cy="3779392"/>
          </a:xfrm>
          <a:custGeom>
            <a:avLst/>
            <a:gdLst/>
            <a:ahLst/>
            <a:cxnLst/>
            <a:rect r="r" b="b" t="t" l="l"/>
            <a:pathLst>
              <a:path h="3779392" w="4149033">
                <a:moveTo>
                  <a:pt x="0" y="0"/>
                </a:moveTo>
                <a:lnTo>
                  <a:pt x="4149033" y="0"/>
                </a:lnTo>
                <a:lnTo>
                  <a:pt x="4149033" y="3779391"/>
                </a:lnTo>
                <a:lnTo>
                  <a:pt x="0" y="37793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1302171">
            <a:off x="6208123" y="-1475183"/>
            <a:ext cx="3696358" cy="2950366"/>
          </a:xfrm>
          <a:custGeom>
            <a:avLst/>
            <a:gdLst/>
            <a:ahLst/>
            <a:cxnLst/>
            <a:rect r="r" b="b" t="t" l="l"/>
            <a:pathLst>
              <a:path h="2950366" w="3696358">
                <a:moveTo>
                  <a:pt x="0" y="0"/>
                </a:moveTo>
                <a:lnTo>
                  <a:pt x="3696358" y="0"/>
                </a:lnTo>
                <a:lnTo>
                  <a:pt x="3696358" y="2950366"/>
                </a:lnTo>
                <a:lnTo>
                  <a:pt x="0" y="2950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true" flipV="true" rot="-1552060">
            <a:off x="8514736" y="8745540"/>
            <a:ext cx="3696358" cy="2950366"/>
          </a:xfrm>
          <a:custGeom>
            <a:avLst/>
            <a:gdLst/>
            <a:ahLst/>
            <a:cxnLst/>
            <a:rect r="r" b="b" t="t" l="l"/>
            <a:pathLst>
              <a:path h="2950366" w="3696358">
                <a:moveTo>
                  <a:pt x="3696358" y="2950365"/>
                </a:moveTo>
                <a:lnTo>
                  <a:pt x="0" y="2950365"/>
                </a:lnTo>
                <a:lnTo>
                  <a:pt x="0" y="0"/>
                </a:lnTo>
                <a:lnTo>
                  <a:pt x="3696358" y="0"/>
                </a:lnTo>
                <a:lnTo>
                  <a:pt x="3696358" y="295036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3107383">
            <a:off x="-528765" y="-961946"/>
            <a:ext cx="4241006" cy="4459949"/>
          </a:xfrm>
          <a:custGeom>
            <a:avLst/>
            <a:gdLst/>
            <a:ahLst/>
            <a:cxnLst/>
            <a:rect r="r" b="b" t="t" l="l"/>
            <a:pathLst>
              <a:path h="4459949" w="4241006">
                <a:moveTo>
                  <a:pt x="0" y="0"/>
                </a:moveTo>
                <a:lnTo>
                  <a:pt x="4241006" y="0"/>
                </a:lnTo>
                <a:lnTo>
                  <a:pt x="4241006" y="4459949"/>
                </a:lnTo>
                <a:lnTo>
                  <a:pt x="0" y="445994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0" id="20"/>
          <p:cNvSpPr txBox="true"/>
          <p:nvPr/>
        </p:nvSpPr>
        <p:spPr>
          <a:xfrm rot="0">
            <a:off x="3190539" y="5623141"/>
            <a:ext cx="11906922" cy="603885"/>
          </a:xfrm>
          <a:prstGeom prst="rect">
            <a:avLst/>
          </a:prstGeom>
        </p:spPr>
        <p:txBody>
          <a:bodyPr anchor="t" rtlCol="false" tIns="0" lIns="0" bIns="0" rIns="0">
            <a:spAutoFit/>
          </a:bodyPr>
          <a:lstStyle/>
          <a:p>
            <a:pPr algn="ctr">
              <a:lnSpc>
                <a:spcPts val="5040"/>
              </a:lnSpc>
              <a:spcBef>
                <a:spcPct val="0"/>
              </a:spcBef>
            </a:pPr>
            <a:r>
              <a:rPr lang="en-US" sz="3600" spc="-179">
                <a:solidFill>
                  <a:srgbClr val="7B6861"/>
                </a:solidFill>
                <a:latin typeface="Quicksand"/>
                <a:ea typeface="Quicksand"/>
                <a:cs typeface="Quicksand"/>
                <a:sym typeface="Quicksand"/>
              </a:rPr>
              <a:t>We wish our project pique your interest!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DAHUkorLiU0</dc:identifier>
  <dcterms:modified xsi:type="dcterms:W3CDTF">2011-08-01T06:04:30Z</dcterms:modified>
  <cp:revision>1</cp:revision>
  <dc:title>Green and Brown Colorful Illustrative Group Project Presentation</dc:title>
</cp:coreProperties>
</file>